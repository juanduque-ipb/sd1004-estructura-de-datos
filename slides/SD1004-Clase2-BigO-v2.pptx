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4A5568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4A5568"/>
                </a:solidFill>
                <a:latin typeface="Calibri"/>
              </a:rPr>
              <a:t>Trabajo necesario según el tamaño del problema (n)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O(1) — constante</c:v>
                </c:pt>
              </c:strCache>
            </c:strRef>
          </c:tx>
          <c:spPr>
            <a:solidFill>
              <a:srgbClr val="1A6B3C"/>
            </a:solidFill>
            <a:ln w="38100" cap="flat">
              <a:solidFill>
                <a:srgbClr val="1A6B3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A6B3C"/>
              </a:solidFill>
              <a:ln w="9525" cap="flat">
                <a:solidFill>
                  <a:srgbClr val="1A6B3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O(log n) — logarítmico</c:v>
                </c:pt>
              </c:strCache>
            </c:strRef>
          </c:tx>
          <c:spPr>
            <a:solidFill>
              <a:srgbClr val="3949AB"/>
            </a:solidFill>
            <a:ln w="38100" cap="flat">
              <a:solidFill>
                <a:srgbClr val="3949A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949AB"/>
              </a:solidFill>
              <a:ln w="9525" cap="flat">
                <a:solidFill>
                  <a:srgbClr val="3949A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</c:v>
                </c:pt>
                <c:pt idx="1">
                  <c:v>1</c:v>
                </c:pt>
                <c:pt idx="2">
                  <c:v>1.6</c:v>
                </c:pt>
                <c:pt idx="3">
                  <c:v>2</c:v>
                </c:pt>
                <c:pt idx="4">
                  <c:v>2.3</c:v>
                </c:pt>
                <c:pt idx="5">
                  <c:v>2.6</c:v>
                </c:pt>
                <c:pt idx="6">
                  <c:v>2.8</c:v>
                </c:pt>
                <c:pt idx="7">
                  <c:v>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O(n) — lineal</c:v>
                </c:pt>
              </c:strCache>
            </c:strRef>
          </c:tx>
          <c:spPr>
            <a:solidFill>
              <a:srgbClr val="B07800"/>
            </a:solidFill>
            <a:ln w="38100" cap="flat">
              <a:solidFill>
                <a:srgbClr val="B078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07800"/>
              </a:solidFill>
              <a:ln w="9525" cap="flat">
                <a:solidFill>
                  <a:srgbClr val="B078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O(n²) — cuadrático</c:v>
                </c:pt>
              </c:strCache>
            </c:strRef>
          </c:tx>
          <c:spPr>
            <a:solidFill>
              <a:srgbClr val="C62828"/>
            </a:solidFill>
            <a:ln w="38100" cap="flat">
              <a:solidFill>
                <a:srgbClr val="C6282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62828"/>
              </a:solidFill>
              <a:ln w="9525" cap="flat">
                <a:solidFill>
                  <a:srgbClr val="C6282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Sheet1!$E$2:$E$9</c:f>
              <c:numCache>
                <c:formatCode>General</c:formatCode>
                <c:ptCount val="8"/>
                <c:pt idx="0">
                  <c:v>1</c:v>
                </c:pt>
                <c:pt idx="1">
                  <c:v>4</c:v>
                </c:pt>
                <c:pt idx="2">
                  <c:v>9</c:v>
                </c:pt>
                <c:pt idx="3">
                  <c:v>16</c:v>
                </c:pt>
                <c:pt idx="4">
                  <c:v>25</c:v>
                </c:pt>
                <c:pt idx="5">
                  <c:v>36</c:v>
                </c:pt>
                <c:pt idx="6">
                  <c:v>49</c:v>
                </c:pt>
                <c:pt idx="7">
                  <c:v>64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B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Bienvenida. Recordar que la clase 1 fue encuesta + misión draw.io/GitHub. Hoy el tema fuerte: Big O, sin código, solo analogías.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breve, sin evaluar a nadie. Preguntar por el chat quién ya avanzó con el repo de GitHub — mano alzada rápida.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Bajar la ansiedad: hoy no se programa. Es puro razonamiento con analogías físicas.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Dejar que respondan en el chat. La mayoría dirá 'por la mitad' — validar esa intuición antes de nombrarla.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Insistir: Big O compara cómo escala, no cronometra. Es una idea de tendencia, no de velocidad absoluta.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Dejar que respondan 'no' en el chat — refuerza que O(1) no depende del tamaño del problema.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conecta directo con la pregunta de la guía telefónica del inicio de la clase — ahora le ponen nombre formal a esa intuición.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Conectar con la guía telefónica desordenada de la slide 4 — mismo principio.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'aha' de la clase: mostrar que duplicar el tamaño puede multiplicar el trabajo por 4, no por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Señalar cómo la línea roja se despega del resto rápidamente. Esa es la razón por la que elegir bien la estructura/algoritmo importa a escala.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Elegir un voluntario que NO sepa la estrategia de partir a la mitad primero (para que lo intente por tanteo), luego uno que sí siga la estrategia — comparar cuántas preguntas usó cada uno.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Respuestas: A = O(1) · B = O(n) · C = O(log n) · D = O(n²). No mostrar en el slide — revelar verbalmente después de que respondan en el chat.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Compartir pantalla y correr esto en vivo. Pedir que cuenten pasos por el chat.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Leer 3-4 respuestas del chat en voz alta y corregir con cariño si alguien confunde O(n) con O(n²).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recordando la fecha límite y el puente hacia Arreglos.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 Recordar canal de Google Chat para dudas.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4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SD1004 · ESTRUCTURA DE DATOS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19456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Complejidad </a:t>
            </a:r>
            <a:pPr indent="0" marL="0">
              <a:buNone/>
            </a:pPr>
            <a:r>
              <a:rPr lang="en-US" sz="5400" b="1" dirty="0">
                <a:solidFill>
                  <a:srgbClr val="E8A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algorítmica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5661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O — qué tan rápido crece el trabajo, sin escribir una sola línea de código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829800" y="5074920"/>
            <a:ext cx="411480" cy="41148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829800" y="5074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287000" y="4754880"/>
            <a:ext cx="658368" cy="658368"/>
          </a:xfrm>
          <a:prstGeom prst="ellipse">
            <a:avLst/>
          </a:prstGeom>
          <a:solidFill>
            <a:srgbClr val="E8A02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287000" y="47548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0927080" y="4343400"/>
            <a:ext cx="1051560" cy="105156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927080" y="43434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n²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172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2 · Virtual · Semana 3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seguir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vimos en la clase pasada?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520440" cy="3383280"/>
          </a:xfrm>
          <a:prstGeom prst="roundRect">
            <a:avLst>
              <a:gd name="adj" fmla="val 3243"/>
            </a:avLst>
          </a:prstGeom>
          <a:solidFill>
            <a:srgbClr val="E8F5EE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286000"/>
            <a:ext cx="822960" cy="822960"/>
          </a:xfrm>
          <a:prstGeom prst="ellipse">
            <a:avLst/>
          </a:prstGeom>
          <a:solidFill>
            <a:srgbClr val="1A6B3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2918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45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Encuesta de nivel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79476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contaste qué tanto conoces de programación — eso ajusta cómo damos las clases de aquí en adelante.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1920240"/>
            <a:ext cx="3520440" cy="3383280"/>
          </a:xfrm>
          <a:prstGeom prst="roundRect">
            <a:avLst>
              <a:gd name="adj" fmla="val 3243"/>
            </a:avLst>
          </a:prstGeom>
          <a:solidFill>
            <a:srgbClr val="E8F5EE"/>
          </a:solidFill>
          <a:ln/>
        </p:spPr>
      </p:sp>
      <p:sp>
        <p:nvSpPr>
          <p:cNvPr id="10" name="Shape 8"/>
          <p:cNvSpPr/>
          <p:nvPr/>
        </p:nvSpPr>
        <p:spPr>
          <a:xfrm>
            <a:off x="4709160" y="2286000"/>
            <a:ext cx="822960" cy="822960"/>
          </a:xfrm>
          <a:prstGeom prst="ellipse">
            <a:avLst/>
          </a:prstGeom>
          <a:solidFill>
            <a:srgbClr val="1A6B3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09160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32918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45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Filosofía del curso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79476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curso se aprueba pensando y dibujando, no memorizando sintaxis de un lenguaje.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1920240"/>
            <a:ext cx="3520440" cy="3383280"/>
          </a:xfrm>
          <a:prstGeom prst="roundRect">
            <a:avLst>
              <a:gd name="adj" fmla="val 3243"/>
            </a:avLst>
          </a:prstGeom>
          <a:solidFill>
            <a:srgbClr val="E8F5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458200" y="2286000"/>
            <a:ext cx="822960" cy="822960"/>
          </a:xfrm>
          <a:prstGeom prst="ellipse">
            <a:avLst/>
          </a:prstGeom>
          <a:solidFill>
            <a:srgbClr val="1A6B3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58200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32918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45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Misión draw.io + GitHub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379476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vimos cómo crear el repositorio y subir el primer diagrama. Vale 5% del primer corte.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4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7772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Entender por qué un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programa se vuelve lento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004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F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...sin escribir una línea de código. Solo con analogías de la vida diaria.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4114800"/>
            <a:ext cx="6035040" cy="594360"/>
          </a:xfrm>
          <a:prstGeom prst="roundRect">
            <a:avLst>
              <a:gd name="adj" fmla="val 15385"/>
            </a:avLst>
          </a:prstGeom>
          <a:solidFill>
            <a:srgbClr val="153E28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4114800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 hay fórmulas de memoria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4892040"/>
            <a:ext cx="6035040" cy="594360"/>
          </a:xfrm>
          <a:prstGeom prst="roundRect">
            <a:avLst>
              <a:gd name="adj" fmla="val 15385"/>
            </a:avLst>
          </a:prstGeom>
          <a:solidFill>
            <a:srgbClr val="153E28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4892040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 hay código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5669280"/>
            <a:ext cx="6035040" cy="594360"/>
          </a:xfrm>
          <a:prstGeom prst="roundRect">
            <a:avLst>
              <a:gd name="adj" fmla="val 15385"/>
            </a:avLst>
          </a:prstGeom>
          <a:solidFill>
            <a:srgbClr val="153E28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5669280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Sí hay participación tuya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418320" y="2377440"/>
            <a:ext cx="2103120" cy="2103120"/>
          </a:xfrm>
          <a:prstGeom prst="ellipse">
            <a:avLst/>
          </a:prstGeom>
          <a:solidFill>
            <a:srgbClr val="E8A02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418320" y="237744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0E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9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PENSAR ANTES DE EXPLICAR NADA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463040" cy="1463040"/>
          </a:xfrm>
          <a:prstGeom prst="ellipse">
            <a:avLst/>
          </a:prstGeom>
          <a:solidFill>
            <a:srgbClr val="E8F5EE"/>
          </a:solidFill>
          <a:ln/>
        </p:spPr>
      </p:sp>
      <p:sp>
        <p:nvSpPr>
          <p:cNvPr id="4" name="Shape 2"/>
          <p:cNvSpPr/>
          <p:nvPr/>
        </p:nvSpPr>
        <p:spPr>
          <a:xfrm>
            <a:off x="1152144" y="1700784"/>
            <a:ext cx="804672" cy="804672"/>
          </a:xfrm>
          <a:prstGeom prst="flowChartDocument">
            <a:avLst/>
          </a:prstGeom>
          <a:solidFill>
            <a:srgbClr val="1A6B3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651760" y="1417320"/>
            <a:ext cx="8869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1A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Tienes una guía telefónica de </a:t>
            </a:r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A6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 páginas</a:t>
            </a:r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1A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ordenada alfabéticamente y buscas un nombre.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651760" y="3063240"/>
            <a:ext cx="8412480" cy="1005840"/>
          </a:xfrm>
          <a:prstGeom prst="roundRect">
            <a:avLst>
              <a:gd name="adj" fmla="val 10909"/>
            </a:avLst>
          </a:prstGeom>
          <a:solidFill>
            <a:srgbClr val="FFF8EC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926080" y="306324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¿La revisas página por página desde el inicio, o abres directo por la mitad?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2651760" y="4343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en el chat antes de seguir a la siguiente diapositiva 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5394960"/>
            <a:ext cx="11064240" cy="960120"/>
          </a:xfrm>
          <a:prstGeom prst="roundRect">
            <a:avLst>
              <a:gd name="adj" fmla="val 11429"/>
            </a:avLst>
          </a:prstGeom>
          <a:solidFill>
            <a:srgbClr val="E8F5E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539496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E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 intuición — abrir por la mitad — </a:t>
            </a:r>
            <a:pPr indent="0" marL="0">
              <a:buNone/>
            </a:pPr>
            <a:r>
              <a:rPr lang="en-US" sz="1450" b="1" dirty="0">
                <a:solidFill>
                  <a:srgbClr val="0E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es búsqueda binaria.</a:t>
            </a:r>
            <a:pPr indent="0" marL="0">
              <a:buNone/>
            </a:pPr>
            <a:r>
              <a:rPr lang="en-US" sz="1450" dirty="0">
                <a:solidFill>
                  <a:srgbClr val="0E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Hoy le ponemos nombre a algo que tu cerebro ya sabe hacer.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CONCEPTO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la notación Big O?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212080" cy="3840480"/>
          </a:xfrm>
          <a:prstGeom prst="roundRect">
            <a:avLst>
              <a:gd name="adj" fmla="val 2857"/>
            </a:avLst>
          </a:prstGeom>
          <a:solidFill>
            <a:srgbClr val="FDECEA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240280"/>
            <a:ext cx="685800" cy="68580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2402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22860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7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mide el tiempo exacto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108960"/>
            <a:ext cx="4480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 dice "esto tarda 3 segundos". No depende de qué tan rápido sea el computador ni del lenguaje usado.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263640" y="1920240"/>
            <a:ext cx="5212080" cy="3840480"/>
          </a:xfrm>
          <a:prstGeom prst="roundRect">
            <a:avLst>
              <a:gd name="adj" fmla="val 2857"/>
            </a:avLst>
          </a:prstGeom>
          <a:solidFill>
            <a:srgbClr val="E8F5EE"/>
          </a:solidFill>
          <a:ln/>
        </p:spPr>
      </p:sp>
      <p:sp>
        <p:nvSpPr>
          <p:cNvPr id="10" name="Shape 8"/>
          <p:cNvSpPr/>
          <p:nvPr/>
        </p:nvSpPr>
        <p:spPr>
          <a:xfrm>
            <a:off x="6583680" y="2240280"/>
            <a:ext cx="685800" cy="685800"/>
          </a:xfrm>
          <a:prstGeom prst="ellipse">
            <a:avLst/>
          </a:prstGeom>
          <a:solidFill>
            <a:srgbClr val="1A6B3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83680" y="22402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52360" y="22860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45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 mide cómo crece el trabajo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3108960"/>
            <a:ext cx="4480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0E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dice qué le pasa al esfuerzo cuando el problema se hace más grande: ¿se mantiene igual, crece poco a poco, o se dispara?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1A6B3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48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920240" cy="19202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371600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2926080" y="146304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Constante — no importa el tamaño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2926080" y="2331720"/>
            <a:ext cx="8412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un libro directo en la página 214 porque ya sabes el número, en vez de buscarla hoja por hoja.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3794760"/>
            <a:ext cx="1088136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9050">
            <a:solidFill>
              <a:srgbClr val="1A6B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3794760"/>
            <a:ext cx="10241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igual si el libro tiene 200 páginas o 2,000. Si ya sabes exactamente dónde está lo que buscas, el trabajo es el mismo: un solo paso. Eso es O(1).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8064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Pregunta: ¿esto se pone más lento si el libro fuera más grande?  →  No.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E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3949A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48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O(log n)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920240" cy="19202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371600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94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O(log n)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2926080" y="146304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Logarítmico — casi no crece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2926080" y="2331720"/>
            <a:ext cx="8412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un nombre en la guía telefónica de 1,000 páginas abriendo siempre por la mitad de lo que queda (nuestra pregunta del inicio).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3794760"/>
            <a:ext cx="1088136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9050">
            <a:solidFill>
              <a:srgbClr val="3949A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3794760"/>
            <a:ext cx="10241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1,000 páginas, la búsqueda letra por letra necesita hasta 1,000 pasos. Abriendo siempre por la mitad, nunca necesitas más de 10 pasos (2¹⁰ = 1,024). Si el problema se duplica a 2,000 páginas, solo necesitas UN paso más. Eso es O(log n).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8064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394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Pregunta: si la guía se duplica, ¿duplicas los intentos?  →  No, solo sumas uno.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B078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48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920240" cy="19202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371600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2926080" y="146304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Lineal — crece al mismo ritmo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2926080" y="2331720"/>
            <a:ext cx="8412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una carta específica en un mazo desordenado, revisando una por una desde el principio.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3794760"/>
            <a:ext cx="1088136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9050">
            <a:solidFill>
              <a:srgbClr val="B078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3794760"/>
            <a:ext cx="10241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10 cartas, en el peor caso revisas 10. Con 100 cartas, revisas 100. El esfuerzo crece exactamente al mismo ritmo que el tamaño del problema. Eso es O(n).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8064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B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Pregunta: si el mazo se duplica, ¿el tiempo también se duplica?  →  Sí.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EC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48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O(n²)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920240" cy="19202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371600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O(n²)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2926080" y="146304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Cuadrático — se dispara rápido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2926080" y="2331720"/>
            <a:ext cx="8412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 salón, comparar a cada persona con todas las demás para encontrar dos que cumplan años el mismo día.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3794760"/>
            <a:ext cx="1088136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9050">
            <a:solidFill>
              <a:srgbClr val="C6282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3794760"/>
            <a:ext cx="10241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10 personas son ~45 comparaciones. Con 100 personas son ~4,950. El trabajo no crece proporcional al grupo — crece según el grupo multiplicado por sí mismo. Eso es O(n²).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8064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Pregunta: si el salón se duplica, ¿el trabajo también se duplica?  →  No, se cuadruplica.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VIÉNDOLO EN NÚMEROS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tan rápido crece cada uno?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463040"/>
          <a:ext cx="1088136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8E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3949A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48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JUEGO EN VIVO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344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Adivina el número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a ver O(log n) en acción, en vivo, con un voluntario.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514600"/>
            <a:ext cx="548640" cy="548640"/>
          </a:xfrm>
          <a:prstGeom prst="ellipse">
            <a:avLst/>
          </a:prstGeom>
          <a:solidFill>
            <a:srgbClr val="3949A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49631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Piensa un número del 1 al 100 (no lo digas).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40080" y="3227832"/>
            <a:ext cx="548640" cy="548640"/>
          </a:xfrm>
          <a:prstGeom prst="ellipse">
            <a:avLst/>
          </a:prstGeom>
          <a:solidFill>
            <a:srgbClr val="3949A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32278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209544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voluntario debe adivinarlo. Solo puede preguntar "¿es mayor o menor que X?"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640080" y="3941064"/>
            <a:ext cx="548640" cy="548640"/>
          </a:xfrm>
          <a:prstGeom prst="ellipse">
            <a:avLst/>
          </a:prstGeom>
          <a:solidFill>
            <a:srgbClr val="3949A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9410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922776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en voz alta cuántas preguntas necesitó en total.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640080" y="4654296"/>
            <a:ext cx="548640" cy="548640"/>
          </a:xfrm>
          <a:prstGeom prst="ellipse">
            <a:avLst/>
          </a:prstGeom>
          <a:solidFill>
            <a:srgbClr val="3949A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46542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4636008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Repite con otro voluntario y compara el conteo.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640080" y="5486400"/>
            <a:ext cx="108813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3949A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4400" y="548640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la estrategia de "partir a la mitad", nunca hacen falta más de </a:t>
            </a:r>
            <a:pPr indent="0" marL="0">
              <a:buNone/>
            </a:pPr>
            <a:r>
              <a:rPr lang="en-US" sz="1450" b="1" dirty="0">
                <a:solidFill>
                  <a:srgbClr val="394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preguntas</a:t>
            </a:r>
            <a:pPr indent="0" marL="0">
              <a:buNone/>
            </a:pPr>
            <a:r>
              <a:rPr lang="en-US" sz="1450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adivinar entre 1 y 100 (2⁷ = 128). Eso es O(log n) en vivo.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RÁPIDA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Big O le pondrías a cada caso?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212080" cy="1783080"/>
          </a:xfrm>
          <a:prstGeom prst="roundRect">
            <a:avLst>
              <a:gd name="adj" fmla="val 6154"/>
            </a:avLst>
          </a:prstGeom>
          <a:solidFill>
            <a:srgbClr val="E8F5EE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94560"/>
            <a:ext cx="594360" cy="594360"/>
          </a:xfrm>
          <a:prstGeom prst="ellipse">
            <a:avLst/>
          </a:prstGeom>
          <a:solidFill>
            <a:srgbClr val="1A6B3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194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148840"/>
            <a:ext cx="3977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Sacar a la primera persona de una fila.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63640" y="1920240"/>
            <a:ext cx="5212080" cy="1783080"/>
          </a:xfrm>
          <a:prstGeom prst="roundRect">
            <a:avLst>
              <a:gd name="adj" fmla="val 6154"/>
            </a:avLst>
          </a:prstGeom>
          <a:solidFill>
            <a:srgbClr val="E8F5EE"/>
          </a:solidFill>
          <a:ln/>
        </p:spPr>
      </p:sp>
      <p:sp>
        <p:nvSpPr>
          <p:cNvPr id="9" name="Shape 7"/>
          <p:cNvSpPr/>
          <p:nvPr/>
        </p:nvSpPr>
        <p:spPr>
          <a:xfrm>
            <a:off x="6537960" y="2194560"/>
            <a:ext cx="594360" cy="594360"/>
          </a:xfrm>
          <a:prstGeom prst="ellipse">
            <a:avLst/>
          </a:prstGeom>
          <a:solidFill>
            <a:srgbClr val="1A6B3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37960" y="2194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7315200" y="2148840"/>
            <a:ext cx="3977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cada correo de tu bandeja para contar cuántos son de un remitente.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3931920"/>
            <a:ext cx="5212080" cy="1783080"/>
          </a:xfrm>
          <a:prstGeom prst="roundRect">
            <a:avLst>
              <a:gd name="adj" fmla="val 6154"/>
            </a:avLst>
          </a:prstGeom>
          <a:solidFill>
            <a:srgbClr val="E8F5EE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4206240"/>
            <a:ext cx="594360" cy="594360"/>
          </a:xfrm>
          <a:prstGeom prst="ellipse">
            <a:avLst/>
          </a:prstGeom>
          <a:solidFill>
            <a:srgbClr val="1A6B3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4206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691640" y="4160520"/>
            <a:ext cx="3977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un contacto por nombre en tu teléfono, ordenado alfabéticamente, partiendo siempre a la mitad.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263640" y="3931920"/>
            <a:ext cx="5212080" cy="1783080"/>
          </a:xfrm>
          <a:prstGeom prst="roundRect">
            <a:avLst>
              <a:gd name="adj" fmla="val 6154"/>
            </a:avLst>
          </a:prstGeom>
          <a:solidFill>
            <a:srgbClr val="E8F5EE"/>
          </a:solidFill>
          <a:ln/>
        </p:spPr>
      </p:sp>
      <p:sp>
        <p:nvSpPr>
          <p:cNvPr id="17" name="Shape 15"/>
          <p:cNvSpPr/>
          <p:nvPr/>
        </p:nvSpPr>
        <p:spPr>
          <a:xfrm>
            <a:off x="6537960" y="4206240"/>
            <a:ext cx="594360" cy="594360"/>
          </a:xfrm>
          <a:prstGeom prst="ellipse">
            <a:avLst/>
          </a:prstGeom>
          <a:solidFill>
            <a:srgbClr val="1A6B3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37960" y="4206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0" y="4160520"/>
            <a:ext cx="3977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cada canción de tu playlist con todas las demás para hallar duplicados.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5989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en el chat: O(1) · O(log n) · O(n) · O(n²) para cada letra →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4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EN VIVO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Viéndolo correr: VisuAlgo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94360" cy="594360"/>
          </a:xfrm>
          <a:prstGeom prst="ellipse">
            <a:avLst/>
          </a:prstGeom>
          <a:solidFill>
            <a:srgbClr val="E8A02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920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87452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Entrar a visualgo.net/en/sorting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2880360"/>
            <a:ext cx="594360" cy="594360"/>
          </a:xfrm>
          <a:prstGeom prst="ellipse">
            <a:avLst/>
          </a:prstGeom>
          <a:solidFill>
            <a:srgbClr val="E8A02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880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8346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Ingresar los mismos 8 números en Bubble Sort y en Selection Sort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0080" y="3840480"/>
            <a:ext cx="594360" cy="594360"/>
          </a:xfrm>
          <a:prstGeom prst="ellipse">
            <a:avLst/>
          </a:prstGeom>
          <a:solidFill>
            <a:srgbClr val="E8A02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3840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379476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Correr modo "Step" y contar cuántos pasos tardó cada uno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40080" y="4800600"/>
            <a:ext cx="594360" cy="594360"/>
          </a:xfrm>
          <a:prstGeom prst="ellipse">
            <a:avLst/>
          </a:prstGeom>
          <a:solidFill>
            <a:srgbClr val="E8A02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800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475488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Comparar: ¿cuál se pareció más a O(n) y cuál a O(n²)?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40080" y="5852160"/>
            <a:ext cx="10881360" cy="640080"/>
          </a:xfrm>
          <a:prstGeom prst="roundRect">
            <a:avLst>
              <a:gd name="adj" fmla="val 14286"/>
            </a:avLst>
          </a:prstGeom>
          <a:solidFill>
            <a:srgbClr val="153E2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58521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visualgo.net/en/sorting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PARTICIPACIÓN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¿Dónde más ves esto en tu día a día?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12080" cy="3566160"/>
          </a:xfrm>
          <a:prstGeom prst="roundRect">
            <a:avLst>
              <a:gd name="adj" fmla="val 3077"/>
            </a:avLst>
          </a:prstGeom>
          <a:solidFill>
            <a:srgbClr val="E8F5EE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148840"/>
            <a:ext cx="731520" cy="731520"/>
          </a:xfrm>
          <a:prstGeom prst="ellipse">
            <a:avLst/>
          </a:prstGeom>
          <a:solidFill>
            <a:srgbClr val="1A6B3C"/>
          </a:solidFill>
          <a:ln/>
        </p:spPr>
      </p:sp>
      <p:sp>
        <p:nvSpPr>
          <p:cNvPr id="6" name="Shape 4"/>
          <p:cNvSpPr/>
          <p:nvPr/>
        </p:nvSpPr>
        <p:spPr>
          <a:xfrm>
            <a:off x="1124712" y="2313432"/>
            <a:ext cx="402336" cy="402336"/>
          </a:xfrm>
          <a:prstGeom prst="lightningBol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0120" y="3017520"/>
            <a:ext cx="4480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0E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un ejemplo de algo</a:t>
            </a:r>
            <a:endParaRPr lang="en-US" sz="15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0E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es rápido sin importar</a:t>
            </a:r>
            <a:endParaRPr lang="en-US" sz="15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0E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tan grande sea el problema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263640" y="1828800"/>
            <a:ext cx="5212080" cy="3566160"/>
          </a:xfrm>
          <a:prstGeom prst="roundRect">
            <a:avLst>
              <a:gd name="adj" fmla="val 3077"/>
            </a:avLst>
          </a:prstGeom>
          <a:solidFill>
            <a:srgbClr val="FDECEA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0" y="2148840"/>
            <a:ext cx="731520" cy="73152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8368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3017520"/>
            <a:ext cx="4480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un ejemplo de algo</a:t>
            </a:r>
            <a:endParaRPr lang="en-US" sz="15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se pone MUY lento</a:t>
            </a:r>
            <a:endParaRPr lang="en-US" sz="15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el problema crece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6235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Escríbelo en el chat — lo leemos juntos en voz alta →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4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TERMINAR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sigue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881360" cy="1234440"/>
          </a:xfrm>
          <a:prstGeom prst="roundRect">
            <a:avLst>
              <a:gd name="adj" fmla="val 8889"/>
            </a:avLst>
          </a:prstGeom>
          <a:solidFill>
            <a:srgbClr val="153E28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240280"/>
            <a:ext cx="685800" cy="685800"/>
          </a:xfrm>
          <a:prstGeom prst="ellipse">
            <a:avLst/>
          </a:prstGeom>
          <a:solidFill>
            <a:srgbClr val="E8A02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2402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874520" y="2103120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Misión draw.io + GitHub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874520" y="2514600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F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 5% del primer corte — link del repo en Google Chat antes del Lun 31 Ago.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383280"/>
            <a:ext cx="10881360" cy="1234440"/>
          </a:xfrm>
          <a:prstGeom prst="roundRect">
            <a:avLst>
              <a:gd name="adj" fmla="val 8889"/>
            </a:avLst>
          </a:prstGeom>
          <a:solidFill>
            <a:srgbClr val="153E28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3657600"/>
            <a:ext cx="685800" cy="685800"/>
          </a:xfrm>
          <a:prstGeom prst="ellipse">
            <a:avLst/>
          </a:prstGeom>
          <a:solidFill>
            <a:srgbClr val="E8A02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36576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1874520" y="3520440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Próxima semana: Arreglos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874520" y="3931920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F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primera estructura de datos "real" del curso — y Big O de hoy te va a servir para entender por qué buscar en un arreglo ordenado es más rápido.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800600"/>
            <a:ext cx="10881360" cy="1234440"/>
          </a:xfrm>
          <a:prstGeom prst="roundRect">
            <a:avLst>
              <a:gd name="adj" fmla="val 8889"/>
            </a:avLst>
          </a:prstGeom>
          <a:solidFill>
            <a:srgbClr val="153E28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5074920"/>
            <a:ext cx="685800" cy="685800"/>
          </a:xfrm>
          <a:prstGeom prst="ellipse">
            <a:avLst/>
          </a:prstGeom>
          <a:solidFill>
            <a:srgbClr val="E8A02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5074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1874520" y="4937760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Dudas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874520" y="5349240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F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duda de hoy, escríbela en el canal de Google Chat del curso.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4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031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 por
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88036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pensar hoy en </a:t>
            </a:r>
            <a:pPr indent="0" marL="0">
              <a:buNone/>
            </a:pPr>
            <a:r>
              <a:rPr lang="en-US" sz="4000" b="1" dirty="0">
                <a:solidFill>
                  <a:srgbClr val="E8A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grande.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035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I.U. Pascual Bravo · SD1004 Estructura de Datos · Juan Duque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509760" y="2377440"/>
            <a:ext cx="2011680" cy="2011680"/>
          </a:xfrm>
          <a:prstGeom prst="ellipse">
            <a:avLst/>
          </a:prstGeom>
          <a:solidFill>
            <a:srgbClr val="E8A020"/>
          </a:solidFill>
          <a:ln/>
        </p:spPr>
      </p:sp>
      <p:sp>
        <p:nvSpPr>
          <p:cNvPr id="6" name="Shape 4"/>
          <p:cNvSpPr/>
          <p:nvPr/>
        </p:nvSpPr>
        <p:spPr>
          <a:xfrm>
            <a:off x="9912096" y="2779776"/>
            <a:ext cx="1207008" cy="1207008"/>
          </a:xfrm>
          <a:prstGeom prst="star5">
            <a:avLst/>
          </a:prstGeom>
          <a:solidFill>
            <a:srgbClr val="0E4525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2026-08-26T22:15:54Z</dcterms:created>
  <dcterms:modified xsi:type="dcterms:W3CDTF">2026-08-26T22:15:54Z</dcterms:modified>
</cp:coreProperties>
</file>