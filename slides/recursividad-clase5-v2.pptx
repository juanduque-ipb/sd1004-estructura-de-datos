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Recordar que venimos de Big O y Arreglos — hoy conectamos ambos temas con recursividad.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muy breve — solo para tender el puente hacia recursividad, que hoy va a usar Big O de nuevo (Torres de Hanói).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Bajar la ansiedad: no se programa hoy tampoco. Es razonamiento con analogías físicas, igual que en Big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que respondan en el chat. Van a decir algo como 'hasta que ya no haya más carpetas adentro' — esa intuición ES el caso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lo que respondieron: 'se detiene cuando ya no hay más carpetas' = caso base. Ese es el concepto que formalizamos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sin caso base no hay recursión, hay un bucle infinito. Con caso recursivo que no reduce el problema, tampoco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que especulen. Alguien probablemente dirá 'nunca termina' o 'se traba el computador' — ambas son correctas en espíritu.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se planta la semilla de 'la pila' — en dos slides más lo vamos a ver literalmente en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que n! = n × (n-1)! es la definición recursiva más clásica que existe. Todo el mundo la ha visto en el colegio sin saber que era recursión.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pila de abajo hacia arriba: factorial(4) llamó a factorial(3), que llamó a factorial(2), que llamó a factorial(1) — que sí sabe responder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importa: primero se llega hasta el fondo (caso base), y solo ahí empiezan a "desenrollarse" las multiplicaciones, de adentro hacia afuera.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siembra el concepto de Pilas (Unidad 2, semana 8) — mencionar explícitamente que van a volver a ver esta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claro el objetivo y las dos reglas antes de mostrar la solución recursiva.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truco mental clave: para mover n discos confías en que ya sabes cómo mover n-1 discos — no necesitas pensar en todos los pasos de una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que arriesguen un número. No corregir todavía — la respuesta viene en la siguiente diapositiva conectada con Big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de conectar recursividad con Big O explícitamente — Hanói es O(2^n), la peor complejidad que han visto hasta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profundizar en optimización (memoización) — solo sembrar la idea de que recursividad no siempre es gratis en desempeño.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que vean que esto no es un truco de clase — es un patrón que aparece todo el tiempo, dentro y fuera del código. Si da tiempo, pedir un ejemplo más del chat para cada columna.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hay una respuesta "correcta" universal — es una decisión de diseño, igual que elegir la estructura de datos adecuada.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mostrar respuestas en el slide — revisar en voz alta lo que respondan en el chat. Todas tienen un caso base claro de 'n=0 o n=1' o 'ya no queda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recordando la fecha del quiz y la conexión directa hacia Pilas en Unidad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Recordar canal de Google Chat para dudas y fecha del quiz de cierre de Unidad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365760"/>
          </a:xfrm>
          <a:prstGeom prst="rect">
            <a:avLst/>
          </a:prstGeom>
          <a:noFill/>
          <a:ln/>
        </p:spPr>
        <p:txBody>
          <a:bodyPr wrap="square" lIns="0" tIns="0" rIns="0" bIns="0" rtlCol="0" anchor="ctr"/>
          <a:lstStyle/>
          <a:p>
            <a:pPr indent="0" marL="0">
              <a:buNone/>
            </a:pPr>
            <a:r>
              <a:rPr lang="en-US" sz="1300" b="1" spc="200" kern="0" dirty="0">
                <a:solidFill>
                  <a:srgbClr val="E8A020"/>
                </a:solidFill>
                <a:latin typeface="Calibri" pitchFamily="34" charset="0"/>
                <a:ea typeface="Calibri" pitchFamily="34" charset="-122"/>
                <a:cs typeface="Calibri" pitchFamily="34" charset="-120"/>
              </a:rPr>
              <a:t>SD1004 · ESTRUCTURA DE DATOS</a:t>
            </a:r>
            <a:endParaRPr lang="en-US" sz="1300" dirty="0"/>
          </a:p>
        </p:txBody>
      </p:sp>
      <p:sp>
        <p:nvSpPr>
          <p:cNvPr id="3" name="Text 1"/>
          <p:cNvSpPr txBox="1"/>
          <p:nvPr/>
        </p:nvSpPr>
        <p:spPr>
          <a:xfrm>
            <a:off x="640080" y="2194560"/>
            <a:ext cx="10515600" cy="14630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Recursi</a:t>
            </a:r>
            <a:pPr indent="0" marL="0">
              <a:buNone/>
            </a:pPr>
            <a:r>
              <a:rPr lang="en-US" sz="5400" b="1" dirty="0">
                <a:solidFill>
                  <a:srgbClr val="E8A020"/>
                </a:solidFill>
                <a:latin typeface="Cambria" pitchFamily="34" charset="0"/>
                <a:ea typeface="Cambria" pitchFamily="34" charset="-122"/>
                <a:cs typeface="Cambria" pitchFamily="34" charset="-120"/>
              </a:rPr>
              <a:t>vidad</a:t>
            </a:r>
            <a:endParaRPr lang="en-US" sz="5400" dirty="0"/>
          </a:p>
        </p:txBody>
      </p:sp>
      <p:sp>
        <p:nvSpPr>
          <p:cNvPr id="4" name="Text 2"/>
          <p:cNvSpPr txBox="1"/>
          <p:nvPr/>
        </p:nvSpPr>
        <p:spPr>
          <a:xfrm>
            <a:off x="640080" y="3566160"/>
            <a:ext cx="8686800" cy="548640"/>
          </a:xfrm>
          <a:prstGeom prst="rect">
            <a:avLst/>
          </a:prstGeom>
          <a:noFill/>
          <a:ln/>
        </p:spPr>
        <p:txBody>
          <a:bodyPr wrap="square" lIns="0" tIns="0" rIns="0" bIns="0" rtlCol="0" anchor="ctr"/>
          <a:lstStyle/>
          <a:p>
            <a:pPr indent="0" marL="0">
              <a:buNone/>
            </a:pPr>
            <a:r>
              <a:rPr lang="en-US" sz="1800" dirty="0">
                <a:solidFill>
                  <a:srgbClr val="CFE8D8"/>
                </a:solidFill>
                <a:latin typeface="Calibri" pitchFamily="34" charset="0"/>
                <a:ea typeface="Calibri" pitchFamily="34" charset="-122"/>
                <a:cs typeface="Calibri" pitchFamily="34" charset="-120"/>
              </a:rPr>
              <a:t>Una función que se llama a sí misma — y por qué eso no es magia</a:t>
            </a:r>
            <a:endParaRPr lang="en-US" sz="1800" dirty="0"/>
          </a:p>
        </p:txBody>
      </p:sp>
      <p:sp>
        <p:nvSpPr>
          <p:cNvPr id="5" name="Shape 3"/>
          <p:cNvSpPr/>
          <p:nvPr/>
        </p:nvSpPr>
        <p:spPr>
          <a:xfrm>
            <a:off x="9189720" y="4114800"/>
            <a:ext cx="1691640" cy="1691640"/>
          </a:xfrm>
          <a:prstGeom prst="ellipse">
            <a:avLst/>
          </a:prstGeom>
          <a:solidFill>
            <a:srgbClr val="2E8B57"/>
          </a:solidFill>
          <a:ln/>
        </p:spPr>
      </p:sp>
      <p:sp>
        <p:nvSpPr>
          <p:cNvPr id="6" name="Text 4"/>
          <p:cNvSpPr txBox="1"/>
          <p:nvPr/>
        </p:nvSpPr>
        <p:spPr>
          <a:xfrm>
            <a:off x="9189720" y="4114800"/>
            <a:ext cx="1691640" cy="1691640"/>
          </a:xfrm>
          <a:prstGeom prst="rect">
            <a:avLst/>
          </a:prstGeom>
          <a:noFill/>
          <a:ln/>
        </p:spPr>
        <p:txBody>
          <a:bodyPr wrap="square" lIns="0" tIns="0" rIns="0" bIns="0" rtlCol="0" anchor="ctr"/>
          <a:lstStyle/>
          <a:p>
            <a:pPr algn="ctr" indent="0" marL="0">
              <a:buNone/>
            </a:pPr>
            <a:endParaRPr lang="en-US" sz="1400" dirty="0"/>
          </a:p>
        </p:txBody>
      </p:sp>
      <p:sp>
        <p:nvSpPr>
          <p:cNvPr id="7" name="Shape 5"/>
          <p:cNvSpPr/>
          <p:nvPr/>
        </p:nvSpPr>
        <p:spPr>
          <a:xfrm>
            <a:off x="9555480" y="4480560"/>
            <a:ext cx="1051560" cy="1051560"/>
          </a:xfrm>
          <a:prstGeom prst="ellipse">
            <a:avLst/>
          </a:prstGeom>
          <a:solidFill>
            <a:srgbClr val="E8A020"/>
          </a:solidFill>
          <a:ln/>
        </p:spPr>
      </p:sp>
      <p:sp>
        <p:nvSpPr>
          <p:cNvPr id="8" name="Text 6"/>
          <p:cNvSpPr txBox="1"/>
          <p:nvPr/>
        </p:nvSpPr>
        <p:spPr>
          <a:xfrm>
            <a:off x="9555480" y="4480560"/>
            <a:ext cx="1051560" cy="1051560"/>
          </a:xfrm>
          <a:prstGeom prst="rect">
            <a:avLst/>
          </a:prstGeom>
          <a:noFill/>
          <a:ln/>
        </p:spPr>
        <p:txBody>
          <a:bodyPr wrap="square" lIns="0" tIns="0" rIns="0" bIns="0" rtlCol="0" anchor="ctr"/>
          <a:lstStyle/>
          <a:p>
            <a:pPr algn="ctr" indent="0" marL="0">
              <a:buNone/>
            </a:pPr>
            <a:endParaRPr lang="en-US" sz="1400" dirty="0"/>
          </a:p>
        </p:txBody>
      </p:sp>
      <p:sp>
        <p:nvSpPr>
          <p:cNvPr id="9" name="Shape 7"/>
          <p:cNvSpPr/>
          <p:nvPr/>
        </p:nvSpPr>
        <p:spPr>
          <a:xfrm>
            <a:off x="9829800" y="4754880"/>
            <a:ext cx="548640" cy="548640"/>
          </a:xfrm>
          <a:prstGeom prst="ellipse">
            <a:avLst/>
          </a:prstGeom>
          <a:solidFill>
            <a:srgbClr val="C62828"/>
          </a:solidFill>
          <a:ln/>
        </p:spPr>
      </p:sp>
      <p:sp>
        <p:nvSpPr>
          <p:cNvPr id="10" name="Text 8"/>
          <p:cNvSpPr txBox="1"/>
          <p:nvPr/>
        </p:nvSpPr>
        <p:spPr>
          <a:xfrm>
            <a:off x="9829800" y="47548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640080" y="6172200"/>
            <a:ext cx="5486400" cy="365760"/>
          </a:xfrm>
          <a:prstGeom prst="rect">
            <a:avLst/>
          </a:prstGeom>
          <a:noFill/>
          <a:ln/>
        </p:spPr>
        <p:txBody>
          <a:bodyPr wrap="square" lIns="0" tIns="0" rIns="0" bIns="0" rtlCol="0" anchor="ctr"/>
          <a:lstStyle/>
          <a:p>
            <a:pPr indent="0" marL="0">
              <a:buNone/>
            </a:pPr>
            <a:r>
              <a:rPr lang="en-US" sz="1200" dirty="0">
                <a:solidFill>
                  <a:srgbClr val="8FBFA0"/>
                </a:solidFill>
                <a:latin typeface="Calibri" pitchFamily="34" charset="0"/>
                <a:ea typeface="Calibri" pitchFamily="34" charset="-122"/>
                <a:cs typeface="Calibri" pitchFamily="34" charset="-120"/>
              </a:rPr>
              <a:t>Clase 5 · Virtual · Semana 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00" kern="0" dirty="0">
                <a:solidFill>
                  <a:srgbClr val="1A6B3C"/>
                </a:solidFill>
                <a:latin typeface="Calibri" pitchFamily="34" charset="0"/>
                <a:ea typeface="Calibri" pitchFamily="34" charset="-122"/>
                <a:cs typeface="Calibri" pitchFamily="34" charset="-120"/>
              </a:rPr>
              <a:t>ANTES DE SEGUIR</a:t>
            </a:r>
            <a:endParaRPr lang="en-US" sz="1300" dirty="0"/>
          </a:p>
        </p:txBody>
      </p:sp>
      <p:sp>
        <p:nvSpPr>
          <p:cNvPr id="3" name="Text 1"/>
          <p:cNvSpPr txBox="1"/>
          <p:nvPr/>
        </p:nvSpPr>
        <p:spPr>
          <a:xfrm>
            <a:off x="640080" y="777240"/>
            <a:ext cx="9144000" cy="731520"/>
          </a:xfrm>
          <a:prstGeom prst="rect">
            <a:avLst/>
          </a:prstGeom>
          <a:noFill/>
          <a:ln/>
        </p:spPr>
        <p:txBody>
          <a:bodyPr wrap="square" lIns="0" tIns="0" rIns="0" bIns="0" rtlCol="0" anchor="ctr"/>
          <a:lstStyle/>
          <a:p>
            <a:pPr indent="0" marL="0">
              <a:buNone/>
            </a:pPr>
            <a:r>
              <a:rPr lang="en-US" sz="3200" b="1" dirty="0">
                <a:solidFill>
                  <a:srgbClr val="1A2723"/>
                </a:solidFill>
                <a:latin typeface="Cambria" pitchFamily="34" charset="0"/>
                <a:ea typeface="Cambria" pitchFamily="34" charset="-122"/>
                <a:cs typeface="Cambria" pitchFamily="34" charset="-120"/>
              </a:rPr>
              <a:t>¿Qué hemos visto hasta ahora?</a:t>
            </a:r>
            <a:endParaRPr lang="en-US" sz="3200" dirty="0"/>
          </a:p>
        </p:txBody>
      </p:sp>
      <p:sp>
        <p:nvSpPr>
          <p:cNvPr id="4" name="Shape 2"/>
          <p:cNvSpPr/>
          <p:nvPr/>
        </p:nvSpPr>
        <p:spPr>
          <a:xfrm>
            <a:off x="640080" y="1920240"/>
            <a:ext cx="3520440" cy="3383280"/>
          </a:xfrm>
          <a:prstGeom prst="roundRect">
            <a:avLst>
              <a:gd name="adj" fmla="val 3243"/>
            </a:avLst>
          </a:prstGeom>
          <a:solidFill>
            <a:srgbClr val="E8F5EE"/>
          </a:solidFill>
          <a:ln/>
        </p:spPr>
      </p:sp>
      <p:sp>
        <p:nvSpPr>
          <p:cNvPr id="5" name="Shape 3"/>
          <p:cNvSpPr/>
          <p:nvPr/>
        </p:nvSpPr>
        <p:spPr>
          <a:xfrm>
            <a:off x="960120" y="2286000"/>
            <a:ext cx="822960" cy="822960"/>
          </a:xfrm>
          <a:prstGeom prst="ellipse">
            <a:avLst/>
          </a:prstGeom>
          <a:solidFill>
            <a:srgbClr val="1A6B3C"/>
          </a:solidFill>
          <a:ln/>
        </p:spPr>
      </p:sp>
      <p:sp>
        <p:nvSpPr>
          <p:cNvPr id="6" name="Text 4"/>
          <p:cNvSpPr txBox="1"/>
          <p:nvPr/>
        </p:nvSpPr>
        <p:spPr>
          <a:xfrm>
            <a:off x="960120" y="22860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7" name="Text 5"/>
          <p:cNvSpPr txBox="1"/>
          <p:nvPr/>
        </p:nvSpPr>
        <p:spPr>
          <a:xfrm>
            <a:off x="914400" y="3291840"/>
            <a:ext cx="2971800" cy="457200"/>
          </a:xfrm>
          <a:prstGeom prst="rect">
            <a:avLst/>
          </a:prstGeom>
          <a:noFill/>
          <a:ln/>
        </p:spPr>
        <p:txBody>
          <a:bodyPr wrap="square" lIns="0" tIns="0" rIns="0" bIns="0" rtlCol="0" anchor="ctr"/>
          <a:lstStyle/>
          <a:p>
            <a:pPr indent="0" marL="0">
              <a:buNone/>
            </a:pPr>
            <a:r>
              <a:rPr lang="en-US" sz="1700" b="1" dirty="0">
                <a:solidFill>
                  <a:srgbClr val="0E4525"/>
                </a:solidFill>
                <a:latin typeface="Cambria" pitchFamily="34" charset="0"/>
                <a:ea typeface="Cambria" pitchFamily="34" charset="-122"/>
                <a:cs typeface="Cambria" pitchFamily="34" charset="-120"/>
              </a:rPr>
              <a:t>Big O</a:t>
            </a:r>
            <a:endParaRPr lang="en-US" sz="1700" dirty="0"/>
          </a:p>
        </p:txBody>
      </p:sp>
      <p:sp>
        <p:nvSpPr>
          <p:cNvPr id="8" name="Text 6"/>
          <p:cNvSpPr txBox="1"/>
          <p:nvPr/>
        </p:nvSpPr>
        <p:spPr>
          <a:xfrm>
            <a:off x="914400" y="3794760"/>
            <a:ext cx="2971800" cy="1371600"/>
          </a:xfrm>
          <a:prstGeom prst="rect">
            <a:avLst/>
          </a:prstGeom>
          <a:noFill/>
          <a:ln/>
        </p:spPr>
        <p:txBody>
          <a:bodyPr wrap="square" lIns="0" tIns="0" rIns="0" bIns="0" rtlCol="0" anchor="ctr"/>
          <a:lstStyle/>
          <a:p>
            <a:pPr indent="0" marL="0">
              <a:lnSpc>
                <a:spcPct val="125000"/>
              </a:lnSpc>
              <a:buNone/>
            </a:pPr>
            <a:r>
              <a:rPr lang="en-US" sz="1250" dirty="0">
                <a:solidFill>
                  <a:srgbClr val="4A5568"/>
                </a:solidFill>
                <a:latin typeface="Calibri" pitchFamily="34" charset="0"/>
                <a:ea typeface="Calibri" pitchFamily="34" charset="-122"/>
                <a:cs typeface="Calibri" pitchFamily="34" charset="-120"/>
              </a:rPr>
              <a:t>Aprendimos a medir qué tan rápido crece el trabajo de un algoritmo: O(1), O(log n), O(n), O(n²).</a:t>
            </a:r>
            <a:endParaRPr lang="en-US" sz="1250" dirty="0"/>
          </a:p>
        </p:txBody>
      </p:sp>
      <p:sp>
        <p:nvSpPr>
          <p:cNvPr id="9" name="Shape 7"/>
          <p:cNvSpPr/>
          <p:nvPr/>
        </p:nvSpPr>
        <p:spPr>
          <a:xfrm>
            <a:off x="4389120" y="1920240"/>
            <a:ext cx="3520440" cy="3383280"/>
          </a:xfrm>
          <a:prstGeom prst="roundRect">
            <a:avLst>
              <a:gd name="adj" fmla="val 3243"/>
            </a:avLst>
          </a:prstGeom>
          <a:solidFill>
            <a:srgbClr val="E8F5EE"/>
          </a:solidFill>
          <a:ln/>
        </p:spPr>
      </p:sp>
      <p:sp>
        <p:nvSpPr>
          <p:cNvPr id="10" name="Shape 8"/>
          <p:cNvSpPr/>
          <p:nvPr/>
        </p:nvSpPr>
        <p:spPr>
          <a:xfrm>
            <a:off x="4709160" y="2286000"/>
            <a:ext cx="822960" cy="822960"/>
          </a:xfrm>
          <a:prstGeom prst="ellipse">
            <a:avLst/>
          </a:prstGeom>
          <a:solidFill>
            <a:srgbClr val="1A6B3C"/>
          </a:solidFill>
          <a:ln/>
        </p:spPr>
      </p:sp>
      <p:sp>
        <p:nvSpPr>
          <p:cNvPr id="11" name="Text 9"/>
          <p:cNvSpPr txBox="1"/>
          <p:nvPr/>
        </p:nvSpPr>
        <p:spPr>
          <a:xfrm>
            <a:off x="4709160" y="22860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12" name="Text 10"/>
          <p:cNvSpPr txBox="1"/>
          <p:nvPr/>
        </p:nvSpPr>
        <p:spPr>
          <a:xfrm>
            <a:off x="4663440" y="3291840"/>
            <a:ext cx="2971800" cy="457200"/>
          </a:xfrm>
          <a:prstGeom prst="rect">
            <a:avLst/>
          </a:prstGeom>
          <a:noFill/>
          <a:ln/>
        </p:spPr>
        <p:txBody>
          <a:bodyPr wrap="square" lIns="0" tIns="0" rIns="0" bIns="0" rtlCol="0" anchor="ctr"/>
          <a:lstStyle/>
          <a:p>
            <a:pPr indent="0" marL="0">
              <a:buNone/>
            </a:pPr>
            <a:r>
              <a:rPr lang="en-US" sz="1700" b="1" dirty="0">
                <a:solidFill>
                  <a:srgbClr val="0E4525"/>
                </a:solidFill>
                <a:latin typeface="Cambria" pitchFamily="34" charset="0"/>
                <a:ea typeface="Cambria" pitchFamily="34" charset="-122"/>
                <a:cs typeface="Cambria" pitchFamily="34" charset="-120"/>
              </a:rPr>
              <a:t>Arreglos 1D</a:t>
            </a:r>
            <a:endParaRPr lang="en-US" sz="1700" dirty="0"/>
          </a:p>
        </p:txBody>
      </p:sp>
      <p:sp>
        <p:nvSpPr>
          <p:cNvPr id="13" name="Text 11"/>
          <p:cNvSpPr txBox="1"/>
          <p:nvPr/>
        </p:nvSpPr>
        <p:spPr>
          <a:xfrm>
            <a:off x="4663440" y="3794760"/>
            <a:ext cx="2971800" cy="1371600"/>
          </a:xfrm>
          <a:prstGeom prst="rect">
            <a:avLst/>
          </a:prstGeom>
          <a:noFill/>
          <a:ln/>
        </p:spPr>
        <p:txBody>
          <a:bodyPr wrap="square" lIns="0" tIns="0" rIns="0" bIns="0" rtlCol="0" anchor="ctr"/>
          <a:lstStyle/>
          <a:p>
            <a:pPr indent="0" marL="0">
              <a:lnSpc>
                <a:spcPct val="125000"/>
              </a:lnSpc>
              <a:buNone/>
            </a:pPr>
            <a:r>
              <a:rPr lang="en-US" sz="1250" dirty="0">
                <a:solidFill>
                  <a:srgbClr val="4A5568"/>
                </a:solidFill>
                <a:latin typeface="Calibri" pitchFamily="34" charset="0"/>
                <a:ea typeface="Calibri" pitchFamily="34" charset="-122"/>
                <a:cs typeface="Calibri" pitchFamily="34" charset="-120"/>
              </a:rPr>
              <a:t>Casillas numeradas en memoria contigua. Acceso O(1), búsqueda lineal O(n), búsqueda binaria O(log n).</a:t>
            </a:r>
            <a:endParaRPr lang="en-US" sz="1250" dirty="0"/>
          </a:p>
        </p:txBody>
      </p:sp>
      <p:sp>
        <p:nvSpPr>
          <p:cNvPr id="14" name="Shape 12"/>
          <p:cNvSpPr/>
          <p:nvPr/>
        </p:nvSpPr>
        <p:spPr>
          <a:xfrm>
            <a:off x="8138160" y="1920240"/>
            <a:ext cx="3520440" cy="3383280"/>
          </a:xfrm>
          <a:prstGeom prst="roundRect">
            <a:avLst>
              <a:gd name="adj" fmla="val 3243"/>
            </a:avLst>
          </a:prstGeom>
          <a:solidFill>
            <a:srgbClr val="E8F5EE"/>
          </a:solidFill>
          <a:ln/>
        </p:spPr>
      </p:sp>
      <p:sp>
        <p:nvSpPr>
          <p:cNvPr id="15" name="Shape 13"/>
          <p:cNvSpPr/>
          <p:nvPr/>
        </p:nvSpPr>
        <p:spPr>
          <a:xfrm>
            <a:off x="8458200" y="2286000"/>
            <a:ext cx="822960" cy="822960"/>
          </a:xfrm>
          <a:prstGeom prst="ellipse">
            <a:avLst/>
          </a:prstGeom>
          <a:solidFill>
            <a:srgbClr val="1A6B3C"/>
          </a:solidFill>
          <a:ln/>
        </p:spPr>
      </p:sp>
      <p:sp>
        <p:nvSpPr>
          <p:cNvPr id="16" name="Text 14"/>
          <p:cNvSpPr txBox="1"/>
          <p:nvPr/>
        </p:nvSpPr>
        <p:spPr>
          <a:xfrm>
            <a:off x="8458200" y="22860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17" name="Text 15"/>
          <p:cNvSpPr txBox="1"/>
          <p:nvPr/>
        </p:nvSpPr>
        <p:spPr>
          <a:xfrm>
            <a:off x="8412480" y="3291840"/>
            <a:ext cx="2971800" cy="457200"/>
          </a:xfrm>
          <a:prstGeom prst="rect">
            <a:avLst/>
          </a:prstGeom>
          <a:noFill/>
          <a:ln/>
        </p:spPr>
        <p:txBody>
          <a:bodyPr wrap="square" lIns="0" tIns="0" rIns="0" bIns="0" rtlCol="0" anchor="ctr"/>
          <a:lstStyle/>
          <a:p>
            <a:pPr indent="0" marL="0">
              <a:buNone/>
            </a:pPr>
            <a:r>
              <a:rPr lang="en-US" sz="1700" b="1" dirty="0">
                <a:solidFill>
                  <a:srgbClr val="0E4525"/>
                </a:solidFill>
                <a:latin typeface="Cambria" pitchFamily="34" charset="0"/>
                <a:ea typeface="Cambria" pitchFamily="34" charset="-122"/>
                <a:cs typeface="Cambria" pitchFamily="34" charset="-120"/>
              </a:rPr>
              <a:t>Arreglos 2D</a:t>
            </a:r>
            <a:endParaRPr lang="en-US" sz="1700" dirty="0"/>
          </a:p>
        </p:txBody>
      </p:sp>
      <p:sp>
        <p:nvSpPr>
          <p:cNvPr id="18" name="Text 16"/>
          <p:cNvSpPr txBox="1"/>
          <p:nvPr/>
        </p:nvSpPr>
        <p:spPr>
          <a:xfrm>
            <a:off x="8412480" y="3794760"/>
            <a:ext cx="2971800" cy="1371600"/>
          </a:xfrm>
          <a:prstGeom prst="rect">
            <a:avLst/>
          </a:prstGeom>
          <a:noFill/>
          <a:ln/>
        </p:spPr>
        <p:txBody>
          <a:bodyPr wrap="square" lIns="0" tIns="0" rIns="0" bIns="0" rtlCol="0" anchor="ctr"/>
          <a:lstStyle/>
          <a:p>
            <a:pPr indent="0" marL="0">
              <a:lnSpc>
                <a:spcPct val="125000"/>
              </a:lnSpc>
              <a:buNone/>
            </a:pPr>
            <a:r>
              <a:rPr lang="en-US" sz="1250" dirty="0">
                <a:solidFill>
                  <a:srgbClr val="4A5568"/>
                </a:solidFill>
                <a:latin typeface="Calibri" pitchFamily="34" charset="0"/>
                <a:ea typeface="Calibri" pitchFamily="34" charset="-122"/>
                <a:cs typeface="Calibri" pitchFamily="34" charset="-120"/>
              </a:rPr>
              <a:t>Un arreglo de arreglos, guardado "aplanado" fila por fila en la memoria RAM.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822960"/>
            <a:ext cx="5486400" cy="365760"/>
          </a:xfrm>
          <a:prstGeom prst="rect">
            <a:avLst/>
          </a:prstGeom>
          <a:noFill/>
          <a:ln/>
        </p:spPr>
        <p:txBody>
          <a:bodyPr wrap="square" lIns="0" tIns="0" rIns="0" bIns="0" rtlCol="0" anchor="ctr"/>
          <a:lstStyle/>
          <a:p>
            <a:pPr indent="0" marL="0">
              <a:buNone/>
            </a:pPr>
            <a:r>
              <a:rPr lang="en-US" sz="1300" b="1" spc="200" kern="0" dirty="0">
                <a:solidFill>
                  <a:srgbClr val="E8A020"/>
                </a:solidFill>
                <a:latin typeface="Calibri" pitchFamily="34" charset="0"/>
                <a:ea typeface="Calibri" pitchFamily="34" charset="-122"/>
                <a:cs typeface="Calibri" pitchFamily="34" charset="-120"/>
              </a:rPr>
              <a:t>HOY</a:t>
            </a:r>
            <a:endParaRPr lang="en-US" sz="1300" dirty="0"/>
          </a:p>
        </p:txBody>
      </p:sp>
      <p:sp>
        <p:nvSpPr>
          <p:cNvPr id="3" name="Text 1"/>
          <p:cNvSpPr txBox="1"/>
          <p:nvPr/>
        </p:nvSpPr>
        <p:spPr>
          <a:xfrm>
            <a:off x="640080" y="1234440"/>
            <a:ext cx="8229600" cy="192024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Entender cómo una función</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puede resolverse a sí misma</a:t>
            </a:r>
            <a:endParaRPr lang="en-US" sz="3600" dirty="0"/>
          </a:p>
        </p:txBody>
      </p:sp>
      <p:sp>
        <p:nvSpPr>
          <p:cNvPr id="4" name="Text 2"/>
          <p:cNvSpPr txBox="1"/>
          <p:nvPr/>
        </p:nvSpPr>
        <p:spPr>
          <a:xfrm>
            <a:off x="640080" y="3291840"/>
            <a:ext cx="7772400" cy="548640"/>
          </a:xfrm>
          <a:prstGeom prst="rect">
            <a:avLst/>
          </a:prstGeom>
          <a:noFill/>
          <a:ln/>
        </p:spPr>
        <p:txBody>
          <a:bodyPr wrap="square" lIns="0" tIns="0" rIns="0" bIns="0" rtlCol="0" anchor="ctr"/>
          <a:lstStyle/>
          <a:p>
            <a:pPr indent="0" marL="0">
              <a:buNone/>
            </a:pPr>
            <a:r>
              <a:rPr lang="en-US" sz="1700" i="1" dirty="0">
                <a:solidFill>
                  <a:srgbClr val="CFE8D8"/>
                </a:solidFill>
                <a:latin typeface="Calibri" pitchFamily="34" charset="0"/>
                <a:ea typeface="Calibri" pitchFamily="34" charset="-122"/>
                <a:cs typeface="Calibri" pitchFamily="34" charset="-120"/>
              </a:rPr>
              <a:t>Con analogías, sin necesidad de memorizar sintaxis de ningún lenguaje.</a:t>
            </a:r>
            <a:endParaRPr lang="en-US" sz="1700" dirty="0"/>
          </a:p>
        </p:txBody>
      </p:sp>
      <p:sp>
        <p:nvSpPr>
          <p:cNvPr id="5" name="Shape 3"/>
          <p:cNvSpPr/>
          <p:nvPr/>
        </p:nvSpPr>
        <p:spPr>
          <a:xfrm>
            <a:off x="640080" y="4206240"/>
            <a:ext cx="6035040" cy="594360"/>
          </a:xfrm>
          <a:prstGeom prst="roundRect">
            <a:avLst>
              <a:gd name="adj" fmla="val 15385"/>
            </a:avLst>
          </a:prstGeom>
          <a:solidFill>
            <a:srgbClr val="153E28"/>
          </a:solidFill>
          <a:ln w="12700">
            <a:solidFill>
              <a:srgbClr val="2E8B57"/>
            </a:solidFill>
            <a:prstDash val="solid"/>
          </a:ln>
        </p:spPr>
      </p:sp>
      <p:sp>
        <p:nvSpPr>
          <p:cNvPr id="6" name="Text 4"/>
          <p:cNvSpPr txBox="1"/>
          <p:nvPr/>
        </p:nvSpPr>
        <p:spPr>
          <a:xfrm>
            <a:off x="914400" y="4206240"/>
            <a:ext cx="5577840" cy="594360"/>
          </a:xfrm>
          <a:prstGeom prst="rect">
            <a:avLst/>
          </a:prstGeom>
          <a:noFill/>
          <a:ln/>
        </p:spPr>
        <p:txBody>
          <a:bodyPr wrap="square" lIns="0" tIns="0" rIns="0" bIns="0" rtlCol="0" anchor="ctr"/>
          <a:lstStyle/>
          <a:p>
            <a:pPr indent="0" marL="0">
              <a:buNone/>
            </a:pPr>
            <a:r>
              <a:rPr lang="en-US" sz="1400" b="1" dirty="0">
                <a:solidFill>
                  <a:srgbClr val="E8A020"/>
                </a:solidFill>
                <a:latin typeface="Calibri" pitchFamily="34" charset="0"/>
                <a:ea typeface="Calibri" pitchFamily="34" charset="-122"/>
                <a:cs typeface="Calibri" pitchFamily="34" charset="-120"/>
              </a:rPr>
              <a:t>✓  Factorial, paso a paso</a:t>
            </a:r>
            <a:endParaRPr lang="en-US" sz="1400" dirty="0"/>
          </a:p>
        </p:txBody>
      </p:sp>
      <p:sp>
        <p:nvSpPr>
          <p:cNvPr id="7" name="Shape 5"/>
          <p:cNvSpPr/>
          <p:nvPr/>
        </p:nvSpPr>
        <p:spPr>
          <a:xfrm>
            <a:off x="640080" y="4983480"/>
            <a:ext cx="6035040" cy="594360"/>
          </a:xfrm>
          <a:prstGeom prst="roundRect">
            <a:avLst>
              <a:gd name="adj" fmla="val 15385"/>
            </a:avLst>
          </a:prstGeom>
          <a:solidFill>
            <a:srgbClr val="153E28"/>
          </a:solidFill>
          <a:ln w="12700">
            <a:solidFill>
              <a:srgbClr val="2E8B57"/>
            </a:solidFill>
            <a:prstDash val="solid"/>
          </a:ln>
        </p:spPr>
      </p:sp>
      <p:sp>
        <p:nvSpPr>
          <p:cNvPr id="8" name="Text 6"/>
          <p:cNvSpPr txBox="1"/>
          <p:nvPr/>
        </p:nvSpPr>
        <p:spPr>
          <a:xfrm>
            <a:off x="914400" y="4983480"/>
            <a:ext cx="5577840" cy="594360"/>
          </a:xfrm>
          <a:prstGeom prst="rect">
            <a:avLst/>
          </a:prstGeom>
          <a:noFill/>
          <a:ln/>
        </p:spPr>
        <p:txBody>
          <a:bodyPr wrap="square" lIns="0" tIns="0" rIns="0" bIns="0" rtlCol="0" anchor="ctr"/>
          <a:lstStyle/>
          <a:p>
            <a:pPr indent="0" marL="0">
              <a:buNone/>
            </a:pPr>
            <a:r>
              <a:rPr lang="en-US" sz="1400" b="1" dirty="0">
                <a:solidFill>
                  <a:srgbClr val="E8A020"/>
                </a:solidFill>
                <a:latin typeface="Calibri" pitchFamily="34" charset="0"/>
                <a:ea typeface="Calibri" pitchFamily="34" charset="-122"/>
                <a:cs typeface="Calibri" pitchFamily="34" charset="-120"/>
              </a:rPr>
              <a:t>✓  Torres de Hanói</a:t>
            </a:r>
            <a:endParaRPr lang="en-US" sz="1400" dirty="0"/>
          </a:p>
        </p:txBody>
      </p:sp>
      <p:sp>
        <p:nvSpPr>
          <p:cNvPr id="9" name="Shape 7"/>
          <p:cNvSpPr/>
          <p:nvPr/>
        </p:nvSpPr>
        <p:spPr>
          <a:xfrm>
            <a:off x="640080" y="5760720"/>
            <a:ext cx="6035040" cy="594360"/>
          </a:xfrm>
          <a:prstGeom prst="roundRect">
            <a:avLst>
              <a:gd name="adj" fmla="val 15385"/>
            </a:avLst>
          </a:prstGeom>
          <a:solidFill>
            <a:srgbClr val="153E28"/>
          </a:solidFill>
          <a:ln w="12700">
            <a:solidFill>
              <a:srgbClr val="2E8B57"/>
            </a:solidFill>
            <a:prstDash val="solid"/>
          </a:ln>
        </p:spPr>
      </p:sp>
      <p:sp>
        <p:nvSpPr>
          <p:cNvPr id="10" name="Text 8"/>
          <p:cNvSpPr txBox="1"/>
          <p:nvPr/>
        </p:nvSpPr>
        <p:spPr>
          <a:xfrm>
            <a:off x="914400" y="5760720"/>
            <a:ext cx="5577840" cy="594360"/>
          </a:xfrm>
          <a:prstGeom prst="rect">
            <a:avLst/>
          </a:prstGeom>
          <a:noFill/>
          <a:ln/>
        </p:spPr>
        <p:txBody>
          <a:bodyPr wrap="square" lIns="0" tIns="0" rIns="0" bIns="0" rtlCol="0" anchor="ctr"/>
          <a:lstStyle/>
          <a:p>
            <a:pPr indent="0" marL="0">
              <a:buNone/>
            </a:pPr>
            <a:r>
              <a:rPr lang="en-US" sz="1400" b="1" dirty="0">
                <a:solidFill>
                  <a:srgbClr val="E8A020"/>
                </a:solidFill>
                <a:latin typeface="Calibri" pitchFamily="34" charset="0"/>
                <a:ea typeface="Calibri" pitchFamily="34" charset="-122"/>
                <a:cs typeface="Calibri" pitchFamily="34" charset="-120"/>
              </a:rPr>
              <a:t>✓  Cuándo NO usar recursividad</a:t>
            </a:r>
            <a:endParaRPr lang="en-US" sz="1400" dirty="0"/>
          </a:p>
        </p:txBody>
      </p:sp>
      <p:sp>
        <p:nvSpPr>
          <p:cNvPr id="11" name="Shape 9"/>
          <p:cNvSpPr/>
          <p:nvPr/>
        </p:nvSpPr>
        <p:spPr>
          <a:xfrm>
            <a:off x="9418320" y="2377440"/>
            <a:ext cx="2103120" cy="2103120"/>
          </a:xfrm>
          <a:prstGeom prst="ellipse">
            <a:avLst/>
          </a:prstGeom>
          <a:solidFill>
            <a:srgbClr val="E8A020"/>
          </a:solidFill>
          <a:ln/>
        </p:spPr>
      </p:sp>
      <p:sp>
        <p:nvSpPr>
          <p:cNvPr id="12" name="Text 10"/>
          <p:cNvSpPr txBox="1"/>
          <p:nvPr/>
        </p:nvSpPr>
        <p:spPr>
          <a:xfrm>
            <a:off x="9418320" y="2377440"/>
            <a:ext cx="2103120" cy="2103120"/>
          </a:xfrm>
          <a:prstGeom prst="rect">
            <a:avLst/>
          </a:prstGeom>
          <a:noFill/>
          <a:ln/>
        </p:spPr>
        <p:txBody>
          <a:bodyPr wrap="square" lIns="0" tIns="0" rIns="0" bIns="0" rtlCol="0" anchor="ctr"/>
          <a:lstStyle/>
          <a:p>
            <a:pPr algn="ctr" indent="0" marL="0">
              <a:buNone/>
            </a:pPr>
            <a:r>
              <a:rPr lang="en-US" sz="9000" b="1" dirty="0">
                <a:solidFill>
                  <a:srgbClr val="0E4525"/>
                </a:solidFill>
                <a:latin typeface="Calibri" pitchFamily="34" charset="0"/>
                <a:ea typeface="Calibri" pitchFamily="34" charset="-122"/>
                <a:cs typeface="Calibri" pitchFamily="34" charset="-120"/>
              </a:rPr>
              <a:t>?</a:t>
            </a:r>
            <a:endParaRPr lang="en-US" sz="9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PARA PENSAR ANTES DE EXPLICAR NADA</a:t>
            </a:r>
            <a:endParaRPr lang="en-US" sz="1300" dirty="0"/>
          </a:p>
        </p:txBody>
      </p:sp>
      <p:sp>
        <p:nvSpPr>
          <p:cNvPr id="3" name="Shape 1"/>
          <p:cNvSpPr/>
          <p:nvPr/>
        </p:nvSpPr>
        <p:spPr>
          <a:xfrm>
            <a:off x="822960" y="1371600"/>
            <a:ext cx="1463040" cy="1463040"/>
          </a:xfrm>
          <a:prstGeom prst="ellipse">
            <a:avLst/>
          </a:prstGeom>
          <a:solidFill>
            <a:srgbClr val="E8F5EE"/>
          </a:solidFill>
          <a:ln/>
        </p:spPr>
      </p:sp>
      <p:sp>
        <p:nvSpPr>
          <p:cNvPr id="4" name="Shape 2"/>
          <p:cNvSpPr/>
          <p:nvPr/>
        </p:nvSpPr>
        <p:spPr>
          <a:xfrm>
            <a:off x="1152144" y="1700784"/>
            <a:ext cx="804672" cy="804672"/>
          </a:xfrm>
          <a:prstGeom prst="flowChartDocument">
            <a:avLst/>
          </a:prstGeom>
          <a:solidFill>
            <a:srgbClr val="1A6B3C"/>
          </a:solidFill>
          <a:ln/>
        </p:spPr>
      </p:sp>
      <p:sp>
        <p:nvSpPr>
          <p:cNvPr id="5" name="Text 3"/>
          <p:cNvSpPr txBox="1"/>
          <p:nvPr/>
        </p:nvSpPr>
        <p:spPr>
          <a:xfrm>
            <a:off x="2651760" y="1280160"/>
            <a:ext cx="8869680" cy="1737360"/>
          </a:xfrm>
          <a:prstGeom prst="rect">
            <a:avLst/>
          </a:prstGeom>
          <a:noFill/>
          <a:ln/>
        </p:spPr>
        <p:txBody>
          <a:bodyPr wrap="square" lIns="0" tIns="0" rIns="0" bIns="0" rtlCol="0" anchor="ctr"/>
          <a:lstStyle/>
          <a:p>
            <a:pPr indent="0" marL="0">
              <a:lnSpc>
                <a:spcPct val="115000"/>
              </a:lnSpc>
              <a:buNone/>
            </a:pPr>
            <a:r>
              <a:rPr lang="en-US" sz="2500" dirty="0">
                <a:solidFill>
                  <a:srgbClr val="1A2723"/>
                </a:solidFill>
                <a:latin typeface="Cambria" pitchFamily="34" charset="0"/>
                <a:ea typeface="Cambria" pitchFamily="34" charset="-122"/>
                <a:cs typeface="Cambria" pitchFamily="34" charset="-120"/>
              </a:rPr>
              <a:t>Abres una carpeta en tu computador y adentro hay </a:t>
            </a:r>
            <a:pPr indent="0" marL="0">
              <a:lnSpc>
                <a:spcPct val="115000"/>
              </a:lnSpc>
              <a:buNone/>
            </a:pPr>
            <a:r>
              <a:rPr lang="en-US" sz="2500" b="1" dirty="0">
                <a:solidFill>
                  <a:srgbClr val="1A6B3C"/>
                </a:solidFill>
                <a:latin typeface="Cambria" pitchFamily="34" charset="0"/>
                <a:ea typeface="Cambria" pitchFamily="34" charset="-122"/>
                <a:cs typeface="Cambria" pitchFamily="34" charset="-120"/>
              </a:rPr>
              <a:t>otra carpeta con el mismo nombre</a:t>
            </a:r>
            <a:pPr indent="0" marL="0">
              <a:lnSpc>
                <a:spcPct val="115000"/>
              </a:lnSpc>
              <a:buNone/>
            </a:pPr>
            <a:r>
              <a:rPr lang="en-US" sz="2500" dirty="0">
                <a:solidFill>
                  <a:srgbClr val="1A2723"/>
                </a:solidFill>
                <a:latin typeface="Cambria" pitchFamily="34" charset="0"/>
                <a:ea typeface="Cambria" pitchFamily="34" charset="-122"/>
                <a:cs typeface="Cambria" pitchFamily="34" charset="-120"/>
              </a:rPr>
              <a:t>, y adentro otra… y otra…</a:t>
            </a:r>
            <a:endParaRPr lang="en-US" sz="2500" dirty="0"/>
          </a:p>
        </p:txBody>
      </p:sp>
      <p:sp>
        <p:nvSpPr>
          <p:cNvPr id="6" name="Shape 4"/>
          <p:cNvSpPr/>
          <p:nvPr/>
        </p:nvSpPr>
        <p:spPr>
          <a:xfrm>
            <a:off x="2651760" y="3246120"/>
            <a:ext cx="8412480" cy="1005840"/>
          </a:xfrm>
          <a:prstGeom prst="roundRect">
            <a:avLst>
              <a:gd name="adj" fmla="val 10909"/>
            </a:avLst>
          </a:prstGeom>
          <a:solidFill>
            <a:srgbClr val="FFF8EC"/>
          </a:solidFill>
          <a:ln w="12700">
            <a:solidFill>
              <a:srgbClr val="E8A020"/>
            </a:solidFill>
            <a:prstDash val="solid"/>
          </a:ln>
        </p:spPr>
      </p:sp>
      <p:sp>
        <p:nvSpPr>
          <p:cNvPr id="7" name="Text 5"/>
          <p:cNvSpPr txBox="1"/>
          <p:nvPr/>
        </p:nvSpPr>
        <p:spPr>
          <a:xfrm>
            <a:off x="2926080" y="3246120"/>
            <a:ext cx="7863840" cy="1005840"/>
          </a:xfrm>
          <a:prstGeom prst="rect">
            <a:avLst/>
          </a:prstGeom>
          <a:noFill/>
          <a:ln/>
        </p:spPr>
        <p:txBody>
          <a:bodyPr wrap="square" lIns="0" tIns="0" rIns="0" bIns="0" rtlCol="0" anchor="ctr"/>
          <a:lstStyle/>
          <a:p>
            <a:pPr indent="0" marL="0">
              <a:buNone/>
            </a:pPr>
            <a:r>
              <a:rPr lang="en-US" sz="1600" b="1" dirty="0">
                <a:solidFill>
                  <a:srgbClr val="B07800"/>
                </a:solidFill>
                <a:latin typeface="Calibri" pitchFamily="34" charset="0"/>
                <a:ea typeface="Calibri" pitchFamily="34" charset="-122"/>
                <a:cs typeface="Calibri" pitchFamily="34" charset="-120"/>
              </a:rPr>
              <a:t>¿Cuándo se detiene esto? ¿Qué tendría que pasar para que no siga por siempre?</a:t>
            </a:r>
            <a:endParaRPr lang="en-US" sz="1600" dirty="0"/>
          </a:p>
        </p:txBody>
      </p:sp>
      <p:sp>
        <p:nvSpPr>
          <p:cNvPr id="8" name="Text 6"/>
          <p:cNvSpPr txBox="1"/>
          <p:nvPr/>
        </p:nvSpPr>
        <p:spPr>
          <a:xfrm>
            <a:off x="2651760" y="4526280"/>
            <a:ext cx="8229600" cy="45720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Responde en el chat antes de seguir a la siguiente diapositiva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5EE"/>
        </a:solidFill>
      </p:bgPr>
    </p:bg>
    <p:spTree>
      <p:nvGrpSpPr>
        <p:cNvPr id="1" name=""/>
        <p:cNvGrpSpPr/>
        <p:nvPr/>
      </p:nvGrpSpPr>
      <p:grpSpPr>
        <a:xfrm>
          <a:off x="0" y="0"/>
          <a:ext cx="0" cy="0"/>
          <a:chOff x="0" y="0"/>
          <a:chExt cx="0" cy="0"/>
        </a:xfrm>
      </p:grpSpPr>
      <p:sp>
        <p:nvSpPr>
          <p:cNvPr id="2" name="Text 0"/>
          <p:cNvSpPr txBox="1"/>
          <p:nvPr/>
        </p:nvSpPr>
        <p:spPr>
          <a:xfrm>
            <a:off x="640080" y="210312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LA RESPUESTA</a:t>
            </a:r>
            <a:endParaRPr lang="en-US" sz="1300" dirty="0"/>
          </a:p>
        </p:txBody>
      </p:sp>
      <p:sp>
        <p:nvSpPr>
          <p:cNvPr id="3" name="Text 1"/>
          <p:cNvSpPr txBox="1"/>
          <p:nvPr/>
        </p:nvSpPr>
        <p:spPr>
          <a:xfrm>
            <a:off x="640080" y="2468880"/>
            <a:ext cx="10881360" cy="1188720"/>
          </a:xfrm>
          <a:prstGeom prst="rect">
            <a:avLst/>
          </a:prstGeom>
          <a:noFill/>
          <a:ln/>
        </p:spPr>
        <p:txBody>
          <a:bodyPr wrap="square" lIns="0" tIns="0" rIns="0" bIns="0" rtlCol="0" anchor="ctr"/>
          <a:lstStyle/>
          <a:p>
            <a:pPr indent="0" marL="0">
              <a:buNone/>
            </a:pPr>
            <a:r>
              <a:rPr lang="en-US" sz="4400" b="1" dirty="0">
                <a:solidFill>
                  <a:srgbClr val="0E4525"/>
                </a:solidFill>
                <a:latin typeface="Cambria" pitchFamily="34" charset="0"/>
                <a:ea typeface="Cambria" pitchFamily="34" charset="-122"/>
                <a:cs typeface="Cambria" pitchFamily="34" charset="-120"/>
              </a:rPr>
              <a:t>Eso es </a:t>
            </a:r>
            <a:pPr indent="0" marL="0">
              <a:buNone/>
            </a:pPr>
            <a:r>
              <a:rPr lang="en-US" sz="4400" b="1" dirty="0">
                <a:solidFill>
                  <a:srgbClr val="0E4525"/>
                </a:solidFill>
                <a:latin typeface="Cambria" pitchFamily="34" charset="0"/>
                <a:ea typeface="Cambria" pitchFamily="34" charset="-122"/>
                <a:cs typeface="Cambria" pitchFamily="34" charset="-120"/>
              </a:rPr>
              <a:t>recursividad.</a:t>
            </a:r>
            <a:endParaRPr lang="en-US" sz="4400" dirty="0"/>
          </a:p>
        </p:txBody>
      </p:sp>
      <p:sp>
        <p:nvSpPr>
          <p:cNvPr id="4" name="Text 2"/>
          <p:cNvSpPr txBox="1"/>
          <p:nvPr/>
        </p:nvSpPr>
        <p:spPr>
          <a:xfrm>
            <a:off x="640080" y="3794760"/>
            <a:ext cx="9875520" cy="1097280"/>
          </a:xfrm>
          <a:prstGeom prst="rect">
            <a:avLst/>
          </a:prstGeom>
          <a:noFill/>
          <a:ln/>
        </p:spPr>
        <p:txBody>
          <a:bodyPr wrap="square" lIns="0" tIns="0" rIns="0" bIns="0" rtlCol="0" anchor="ctr"/>
          <a:lstStyle/>
          <a:p>
            <a:pPr indent="0" marL="0">
              <a:lnSpc>
                <a:spcPct val="130000"/>
              </a:lnSpc>
              <a:buNone/>
            </a:pPr>
            <a:r>
              <a:rPr lang="en-US" sz="1700" i="1" dirty="0">
                <a:solidFill>
                  <a:srgbClr val="0E4525"/>
                </a:solidFill>
                <a:latin typeface="Calibri" pitchFamily="34" charset="0"/>
                <a:ea typeface="Calibri" pitchFamily="34" charset="-122"/>
                <a:cs typeface="Calibri" pitchFamily="34" charset="-120"/>
              </a:rPr>
              <a:t>Una función que se llama a sí misma, resolviendo una versión más pequeña del mismo problema — hasta que llega a un punto donde ya no necesita llamarse de nuevo.</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LA ANATOMÍA</a:t>
            </a:r>
            <a:endParaRPr lang="en-US" sz="1300" dirty="0"/>
          </a:p>
        </p:txBody>
      </p:sp>
      <p:sp>
        <p:nvSpPr>
          <p:cNvPr id="3" name="Text 1"/>
          <p:cNvSpPr txBox="1"/>
          <p:nvPr/>
        </p:nvSpPr>
        <p:spPr>
          <a:xfrm>
            <a:off x="640080" y="777240"/>
            <a:ext cx="10058400" cy="731520"/>
          </a:xfrm>
          <a:prstGeom prst="rect">
            <a:avLst/>
          </a:prstGeom>
          <a:noFill/>
          <a:ln/>
        </p:spPr>
        <p:txBody>
          <a:bodyPr wrap="square" lIns="0" tIns="0" rIns="0" bIns="0" rtlCol="0" anchor="ctr"/>
          <a:lstStyle/>
          <a:p>
            <a:pPr indent="0" marL="0">
              <a:buNone/>
            </a:pPr>
            <a:r>
              <a:rPr lang="en-US" sz="3000" b="1" dirty="0">
                <a:solidFill>
                  <a:srgbClr val="1A2723"/>
                </a:solidFill>
                <a:latin typeface="Cambria" pitchFamily="34" charset="0"/>
                <a:ea typeface="Cambria" pitchFamily="34" charset="-122"/>
                <a:cs typeface="Cambria" pitchFamily="34" charset="-120"/>
              </a:rPr>
              <a:t>Toda función recursiva tiene dos partes</a:t>
            </a:r>
            <a:endParaRPr lang="en-US" sz="3000" dirty="0"/>
          </a:p>
        </p:txBody>
      </p:sp>
      <p:sp>
        <p:nvSpPr>
          <p:cNvPr id="4" name="Shape 2"/>
          <p:cNvSpPr/>
          <p:nvPr/>
        </p:nvSpPr>
        <p:spPr>
          <a:xfrm>
            <a:off x="640080" y="1920240"/>
            <a:ext cx="5212080" cy="3840480"/>
          </a:xfrm>
          <a:prstGeom prst="roundRect">
            <a:avLst>
              <a:gd name="adj" fmla="val 2857"/>
            </a:avLst>
          </a:prstGeom>
          <a:solidFill>
            <a:srgbClr val="E8F5EE"/>
          </a:solidFill>
          <a:ln/>
        </p:spPr>
      </p:sp>
      <p:sp>
        <p:nvSpPr>
          <p:cNvPr id="5" name="Shape 3"/>
          <p:cNvSpPr/>
          <p:nvPr/>
        </p:nvSpPr>
        <p:spPr>
          <a:xfrm>
            <a:off x="960120" y="2240280"/>
            <a:ext cx="685800" cy="685800"/>
          </a:xfrm>
          <a:prstGeom prst="ellipse">
            <a:avLst/>
          </a:prstGeom>
          <a:solidFill>
            <a:srgbClr val="1A6B3C"/>
          </a:solidFill>
          <a:ln/>
        </p:spPr>
      </p:sp>
      <p:sp>
        <p:nvSpPr>
          <p:cNvPr id="6" name="Text 4"/>
          <p:cNvSpPr txBox="1"/>
          <p:nvPr/>
        </p:nvSpPr>
        <p:spPr>
          <a:xfrm>
            <a:off x="960120" y="224028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7" name="Text 5"/>
          <p:cNvSpPr txBox="1"/>
          <p:nvPr/>
        </p:nvSpPr>
        <p:spPr>
          <a:xfrm>
            <a:off x="1828800" y="2286000"/>
            <a:ext cx="3840480" cy="640080"/>
          </a:xfrm>
          <a:prstGeom prst="rect">
            <a:avLst/>
          </a:prstGeom>
          <a:noFill/>
          <a:ln/>
        </p:spPr>
        <p:txBody>
          <a:bodyPr wrap="square" lIns="0" tIns="0" rIns="0" bIns="0" rtlCol="0" anchor="ctr"/>
          <a:lstStyle/>
          <a:p>
            <a:pPr indent="0" marL="0">
              <a:buNone/>
            </a:pPr>
            <a:r>
              <a:rPr lang="en-US" sz="1900" b="1" dirty="0">
                <a:solidFill>
                  <a:srgbClr val="0E4525"/>
                </a:solidFill>
                <a:latin typeface="Cambria" pitchFamily="34" charset="0"/>
                <a:ea typeface="Cambria" pitchFamily="34" charset="-122"/>
                <a:cs typeface="Cambria" pitchFamily="34" charset="-120"/>
              </a:rPr>
              <a:t>Caso base</a:t>
            </a:r>
            <a:endParaRPr lang="en-US" sz="1900" dirty="0"/>
          </a:p>
        </p:txBody>
      </p:sp>
      <p:sp>
        <p:nvSpPr>
          <p:cNvPr id="8" name="Text 6"/>
          <p:cNvSpPr txBox="1"/>
          <p:nvPr/>
        </p:nvSpPr>
        <p:spPr>
          <a:xfrm>
            <a:off x="960120" y="3108960"/>
            <a:ext cx="4480560" cy="2468880"/>
          </a:xfrm>
          <a:prstGeom prst="rect">
            <a:avLst/>
          </a:prstGeom>
          <a:noFill/>
          <a:ln/>
        </p:spPr>
        <p:txBody>
          <a:bodyPr wrap="square" lIns="0" tIns="0" rIns="0" bIns="0" rtlCol="0" anchor="ctr"/>
          <a:lstStyle/>
          <a:p>
            <a:pPr indent="0" marL="0">
              <a:lnSpc>
                <a:spcPct val="130000"/>
              </a:lnSpc>
              <a:buNone/>
            </a:pPr>
            <a:r>
              <a:rPr lang="en-US" sz="1450" dirty="0">
                <a:solidFill>
                  <a:srgbClr val="0E4525"/>
                </a:solidFill>
                <a:latin typeface="Calibri" pitchFamily="34" charset="0"/>
                <a:ea typeface="Calibri" pitchFamily="34" charset="-122"/>
                <a:cs typeface="Calibri" pitchFamily="34" charset="-120"/>
              </a:rPr>
              <a:t>La condición donde la función deja de llamarse a sí misma y simplemente responde. Es el "ya no hay más carpetas adentro". Sin esto, no hay forma de parar.</a:t>
            </a:r>
            <a:endParaRPr lang="en-US" sz="1450" dirty="0"/>
          </a:p>
        </p:txBody>
      </p:sp>
      <p:sp>
        <p:nvSpPr>
          <p:cNvPr id="9" name="Shape 7"/>
          <p:cNvSpPr/>
          <p:nvPr/>
        </p:nvSpPr>
        <p:spPr>
          <a:xfrm>
            <a:off x="6263640" y="1920240"/>
            <a:ext cx="5212080" cy="3840480"/>
          </a:xfrm>
          <a:prstGeom prst="roundRect">
            <a:avLst>
              <a:gd name="adj" fmla="val 2857"/>
            </a:avLst>
          </a:prstGeom>
          <a:solidFill>
            <a:srgbClr val="E8EAF6"/>
          </a:solidFill>
          <a:ln/>
        </p:spPr>
      </p:sp>
      <p:sp>
        <p:nvSpPr>
          <p:cNvPr id="10" name="Shape 8"/>
          <p:cNvSpPr/>
          <p:nvPr/>
        </p:nvSpPr>
        <p:spPr>
          <a:xfrm>
            <a:off x="6583680" y="2240280"/>
            <a:ext cx="685800" cy="685800"/>
          </a:xfrm>
          <a:prstGeom prst="ellipse">
            <a:avLst/>
          </a:prstGeom>
          <a:solidFill>
            <a:srgbClr val="3949AB"/>
          </a:solidFill>
          <a:ln/>
        </p:spPr>
      </p:sp>
      <p:sp>
        <p:nvSpPr>
          <p:cNvPr id="11" name="Text 9"/>
          <p:cNvSpPr txBox="1"/>
          <p:nvPr/>
        </p:nvSpPr>
        <p:spPr>
          <a:xfrm>
            <a:off x="6583680" y="224028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12" name="Text 10"/>
          <p:cNvSpPr txBox="1"/>
          <p:nvPr/>
        </p:nvSpPr>
        <p:spPr>
          <a:xfrm>
            <a:off x="7452360" y="2286000"/>
            <a:ext cx="3840480" cy="640080"/>
          </a:xfrm>
          <a:prstGeom prst="rect">
            <a:avLst/>
          </a:prstGeom>
          <a:noFill/>
          <a:ln/>
        </p:spPr>
        <p:txBody>
          <a:bodyPr wrap="square" lIns="0" tIns="0" rIns="0" bIns="0" rtlCol="0" anchor="ctr"/>
          <a:lstStyle/>
          <a:p>
            <a:pPr indent="0" marL="0">
              <a:buNone/>
            </a:pPr>
            <a:r>
              <a:rPr lang="en-US" sz="1900" b="1" dirty="0">
                <a:solidFill>
                  <a:srgbClr val="283593"/>
                </a:solidFill>
                <a:latin typeface="Cambria" pitchFamily="34" charset="0"/>
                <a:ea typeface="Cambria" pitchFamily="34" charset="-122"/>
                <a:cs typeface="Cambria" pitchFamily="34" charset="-120"/>
              </a:rPr>
              <a:t>Caso recursivo</a:t>
            </a:r>
            <a:endParaRPr lang="en-US" sz="1900" dirty="0"/>
          </a:p>
        </p:txBody>
      </p:sp>
      <p:sp>
        <p:nvSpPr>
          <p:cNvPr id="13" name="Text 11"/>
          <p:cNvSpPr txBox="1"/>
          <p:nvPr/>
        </p:nvSpPr>
        <p:spPr>
          <a:xfrm>
            <a:off x="6583680" y="3108960"/>
            <a:ext cx="4480560" cy="2468880"/>
          </a:xfrm>
          <a:prstGeom prst="rect">
            <a:avLst/>
          </a:prstGeom>
          <a:noFill/>
          <a:ln/>
        </p:spPr>
        <p:txBody>
          <a:bodyPr wrap="square" lIns="0" tIns="0" rIns="0" bIns="0" rtlCol="0" anchor="ctr"/>
          <a:lstStyle/>
          <a:p>
            <a:pPr indent="0" marL="0">
              <a:lnSpc>
                <a:spcPct val="130000"/>
              </a:lnSpc>
              <a:buNone/>
            </a:pPr>
            <a:r>
              <a:rPr lang="en-US" sz="1450" dirty="0">
                <a:solidFill>
                  <a:srgbClr val="283593"/>
                </a:solidFill>
                <a:latin typeface="Calibri" pitchFamily="34" charset="0"/>
                <a:ea typeface="Calibri" pitchFamily="34" charset="-122"/>
                <a:cs typeface="Calibri" pitchFamily="34" charset="-120"/>
              </a:rPr>
              <a:t>La función se llama a sí misma, pero con una versión más pequeña o más simple del problema. Cada llamada te acerca un paso más al caso base.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PARA PENSAR</a:t>
            </a:r>
            <a:endParaRPr lang="en-US" sz="1300" dirty="0"/>
          </a:p>
        </p:txBody>
      </p:sp>
      <p:sp>
        <p:nvSpPr>
          <p:cNvPr id="3" name="Shape 1"/>
          <p:cNvSpPr/>
          <p:nvPr/>
        </p:nvSpPr>
        <p:spPr>
          <a:xfrm>
            <a:off x="822960" y="1463040"/>
            <a:ext cx="1463040" cy="1463040"/>
          </a:xfrm>
          <a:prstGeom prst="ellipse">
            <a:avLst/>
          </a:prstGeom>
          <a:solidFill>
            <a:srgbClr val="FDECEA"/>
          </a:solidFill>
          <a:ln/>
        </p:spPr>
      </p:sp>
      <p:sp>
        <p:nvSpPr>
          <p:cNvPr id="4" name="Shape 2"/>
          <p:cNvSpPr/>
          <p:nvPr/>
        </p:nvSpPr>
        <p:spPr>
          <a:xfrm>
            <a:off x="1152144" y="1792224"/>
            <a:ext cx="804672" cy="804672"/>
          </a:xfrm>
          <a:prstGeom prst="flowChartDecision">
            <a:avLst/>
          </a:prstGeom>
          <a:solidFill>
            <a:srgbClr val="C62828"/>
          </a:solidFill>
          <a:ln/>
        </p:spPr>
      </p:sp>
      <p:sp>
        <p:nvSpPr>
          <p:cNvPr id="5" name="Text 3"/>
          <p:cNvSpPr txBox="1"/>
          <p:nvPr/>
        </p:nvSpPr>
        <p:spPr>
          <a:xfrm>
            <a:off x="2651760" y="1463040"/>
            <a:ext cx="8869680" cy="1645920"/>
          </a:xfrm>
          <a:prstGeom prst="rect">
            <a:avLst/>
          </a:prstGeom>
          <a:noFill/>
          <a:ln/>
        </p:spPr>
        <p:txBody>
          <a:bodyPr wrap="square" lIns="0" tIns="0" rIns="0" bIns="0" rtlCol="0" anchor="ctr"/>
          <a:lstStyle/>
          <a:p>
            <a:pPr indent="0" marL="0">
              <a:lnSpc>
                <a:spcPct val="115000"/>
              </a:lnSpc>
              <a:buNone/>
            </a:pPr>
            <a:r>
              <a:rPr lang="en-US" sz="2700" dirty="0">
                <a:solidFill>
                  <a:srgbClr val="1A2723"/>
                </a:solidFill>
                <a:latin typeface="Cambria" pitchFamily="34" charset="0"/>
                <a:ea typeface="Cambria" pitchFamily="34" charset="-122"/>
                <a:cs typeface="Cambria" pitchFamily="34" charset="-120"/>
              </a:rPr>
              <a:t>¿Qué crees que pasa si una función recursiva NUNCA llega a su caso base?</a:t>
            </a:r>
            <a:endParaRPr lang="en-US" sz="2700" dirty="0"/>
          </a:p>
        </p:txBody>
      </p:sp>
      <p:sp>
        <p:nvSpPr>
          <p:cNvPr id="6" name="Shape 4"/>
          <p:cNvSpPr/>
          <p:nvPr/>
        </p:nvSpPr>
        <p:spPr>
          <a:xfrm>
            <a:off x="2651760" y="3337560"/>
            <a:ext cx="8412480" cy="914400"/>
          </a:xfrm>
          <a:prstGeom prst="roundRect">
            <a:avLst>
              <a:gd name="adj" fmla="val 12000"/>
            </a:avLst>
          </a:prstGeom>
          <a:solidFill>
            <a:srgbClr val="FFF8EC"/>
          </a:solidFill>
          <a:ln w="12700">
            <a:solidFill>
              <a:srgbClr val="E8A020"/>
            </a:solidFill>
            <a:prstDash val="solid"/>
          </a:ln>
        </p:spPr>
      </p:sp>
      <p:sp>
        <p:nvSpPr>
          <p:cNvPr id="7" name="Text 5"/>
          <p:cNvSpPr txBox="1"/>
          <p:nvPr/>
        </p:nvSpPr>
        <p:spPr>
          <a:xfrm>
            <a:off x="2926080" y="3337560"/>
            <a:ext cx="7863840" cy="914400"/>
          </a:xfrm>
          <a:prstGeom prst="rect">
            <a:avLst/>
          </a:prstGeom>
          <a:noFill/>
          <a:ln/>
        </p:spPr>
        <p:txBody>
          <a:bodyPr wrap="square" lIns="0" tIns="0" rIns="0" bIns="0" rtlCol="0" anchor="ctr"/>
          <a:lstStyle/>
          <a:p>
            <a:pPr indent="0" marL="0">
              <a:buNone/>
            </a:pPr>
            <a:r>
              <a:rPr lang="en-US" sz="1600" b="1" dirty="0">
                <a:solidFill>
                  <a:srgbClr val="B07800"/>
                </a:solidFill>
                <a:latin typeface="Calibri" pitchFamily="34" charset="0"/>
                <a:ea typeface="Calibri" pitchFamily="34" charset="-122"/>
                <a:cs typeface="Calibri" pitchFamily="34" charset="-120"/>
              </a:rPr>
              <a:t>Piensa en dos espejos puestos uno frente al otro.</a:t>
            </a:r>
            <a:endParaRPr lang="en-US" sz="1600" dirty="0"/>
          </a:p>
        </p:txBody>
      </p:sp>
      <p:sp>
        <p:nvSpPr>
          <p:cNvPr id="8" name="Text 6"/>
          <p:cNvSpPr txBox="1"/>
          <p:nvPr/>
        </p:nvSpPr>
        <p:spPr>
          <a:xfrm>
            <a:off x="2651760" y="4434840"/>
            <a:ext cx="8229600" cy="45720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Responde en el chat antes de seguir a la siguiente diapositiva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ECEA"/>
        </a:solidFill>
      </p:bgPr>
    </p:bg>
    <p:spTree>
      <p:nvGrpSpPr>
        <p:cNvPr id="1" name=""/>
        <p:cNvGrpSpPr/>
        <p:nvPr/>
      </p:nvGrpSpPr>
      <p:grpSpPr>
        <a:xfrm>
          <a:off x="0" y="0"/>
          <a:ext cx="0" cy="0"/>
          <a:chOff x="0" y="0"/>
          <a:chExt cx="0" cy="0"/>
        </a:xfrm>
      </p:grpSpPr>
      <p:sp>
        <p:nvSpPr>
          <p:cNvPr id="2" name="Text 0"/>
          <p:cNvSpPr txBox="1"/>
          <p:nvPr/>
        </p:nvSpPr>
        <p:spPr>
          <a:xfrm>
            <a:off x="640080" y="1965960"/>
            <a:ext cx="7315200" cy="365760"/>
          </a:xfrm>
          <a:prstGeom prst="rect">
            <a:avLst/>
          </a:prstGeom>
          <a:noFill/>
          <a:ln/>
        </p:spPr>
        <p:txBody>
          <a:bodyPr wrap="square" lIns="0" tIns="0" rIns="0" bIns="0" rtlCol="0" anchor="ctr"/>
          <a:lstStyle/>
          <a:p>
            <a:pPr indent="0" marL="0">
              <a:buNone/>
            </a:pPr>
            <a:r>
              <a:rPr lang="en-US" sz="1300" b="1" spc="150" kern="0" dirty="0">
                <a:solidFill>
                  <a:srgbClr val="C62828"/>
                </a:solidFill>
                <a:latin typeface="Calibri" pitchFamily="34" charset="0"/>
                <a:ea typeface="Calibri" pitchFamily="34" charset="-122"/>
                <a:cs typeface="Calibri" pitchFamily="34" charset="-120"/>
              </a:rPr>
              <a:t>LA RESPUESTA</a:t>
            </a:r>
            <a:endParaRPr lang="en-US" sz="1300" dirty="0"/>
          </a:p>
        </p:txBody>
      </p:sp>
      <p:sp>
        <p:nvSpPr>
          <p:cNvPr id="3" name="Text 1"/>
          <p:cNvSpPr txBox="1"/>
          <p:nvPr/>
        </p:nvSpPr>
        <p:spPr>
          <a:xfrm>
            <a:off x="640080" y="2331720"/>
            <a:ext cx="10881360" cy="1463040"/>
          </a:xfrm>
          <a:prstGeom prst="rect">
            <a:avLst/>
          </a:prstGeom>
          <a:noFill/>
          <a:ln/>
        </p:spPr>
        <p:txBody>
          <a:bodyPr wrap="square" lIns="0" tIns="0" rIns="0" bIns="0" rtlCol="0" anchor="ctr"/>
          <a:lstStyle/>
          <a:p>
            <a:pPr indent="0" marL="0">
              <a:lnSpc>
                <a:spcPct val="120000"/>
              </a:lnSpc>
              <a:buNone/>
            </a:pPr>
            <a:r>
              <a:rPr lang="en-US" sz="2900" b="1" dirty="0">
                <a:solidFill>
                  <a:srgbClr val="B71C1C"/>
                </a:solidFill>
                <a:latin typeface="Cambria" pitchFamily="34" charset="0"/>
                <a:ea typeface="Cambria" pitchFamily="34" charset="-122"/>
                <a:cs typeface="Cambria" pitchFamily="34" charset="-120"/>
              </a:rPr>
              <a:t>Recursión infinita </a:t>
            </a:r>
            <a:pPr indent="0" marL="0">
              <a:lnSpc>
                <a:spcPct val="120000"/>
              </a:lnSpc>
              <a:buNone/>
            </a:pPr>
            <a:r>
              <a:rPr lang="en-US" sz="2900" b="1" dirty="0">
                <a:solidFill>
                  <a:srgbClr val="B71C1C"/>
                </a:solidFill>
                <a:latin typeface="Cambria" pitchFamily="34" charset="0"/>
                <a:ea typeface="Cambria" pitchFamily="34" charset="-122"/>
                <a:cs typeface="Cambria" pitchFamily="34" charset="-120"/>
              </a:rPr>
              <a:t>→ el programa se queda sin memoria y se cae.</a:t>
            </a:r>
            <a:endParaRPr lang="en-US" sz="2900" dirty="0"/>
          </a:p>
        </p:txBody>
      </p:sp>
      <p:sp>
        <p:nvSpPr>
          <p:cNvPr id="4" name="Text 2"/>
          <p:cNvSpPr txBox="1"/>
          <p:nvPr/>
        </p:nvSpPr>
        <p:spPr>
          <a:xfrm>
            <a:off x="640080" y="3931920"/>
            <a:ext cx="10241280" cy="1463040"/>
          </a:xfrm>
          <a:prstGeom prst="rect">
            <a:avLst/>
          </a:prstGeom>
          <a:noFill/>
          <a:ln/>
        </p:spPr>
        <p:txBody>
          <a:bodyPr wrap="square" lIns="0" tIns="0" rIns="0" bIns="0" rtlCol="0" anchor="ctr"/>
          <a:lstStyle/>
          <a:p>
            <a:pPr indent="0" marL="0">
              <a:lnSpc>
                <a:spcPct val="130000"/>
              </a:lnSpc>
              <a:buNone/>
            </a:pPr>
            <a:r>
              <a:rPr lang="en-US" sz="1550" dirty="0">
                <a:solidFill>
                  <a:srgbClr val="B71C1C"/>
                </a:solidFill>
                <a:latin typeface="Calibri" pitchFamily="34" charset="0"/>
                <a:ea typeface="Calibri" pitchFamily="34" charset="-122"/>
                <a:cs typeface="Calibri" pitchFamily="34" charset="-120"/>
              </a:rPr>
              <a:t>Cada llamada que se hace ocupa un espacio en la memoria (lo vemos en un momento). Si nunca se llega al caso base, ese espacio se sigue acumulando hasta agotar la memoria disponible — esto se llama "stack overflow" (desbordamiento de pila).</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EJEMPLO 1</a:t>
            </a:r>
            <a:endParaRPr lang="en-US" sz="1300" dirty="0"/>
          </a:p>
        </p:txBody>
      </p:sp>
      <p:sp>
        <p:nvSpPr>
          <p:cNvPr id="3" name="Text 1"/>
          <p:cNvSpPr txBox="1"/>
          <p:nvPr/>
        </p:nvSpPr>
        <p:spPr>
          <a:xfrm>
            <a:off x="640080" y="777240"/>
            <a:ext cx="10058400" cy="731520"/>
          </a:xfrm>
          <a:prstGeom prst="rect">
            <a:avLst/>
          </a:prstGeom>
          <a:noFill/>
          <a:ln/>
        </p:spPr>
        <p:txBody>
          <a:bodyPr wrap="square" lIns="0" tIns="0" rIns="0" bIns="0" rtlCol="0" anchor="ctr"/>
          <a:lstStyle/>
          <a:p>
            <a:pPr indent="0" marL="0">
              <a:buNone/>
            </a:pPr>
            <a:r>
              <a:rPr lang="en-US" sz="3000" b="1" dirty="0">
                <a:solidFill>
                  <a:srgbClr val="1A2723"/>
                </a:solidFill>
                <a:latin typeface="Cambria" pitchFamily="34" charset="0"/>
                <a:ea typeface="Cambria" pitchFamily="34" charset="-122"/>
                <a:cs typeface="Cambria" pitchFamily="34" charset="-120"/>
              </a:rPr>
              <a:t>El factorial de un número</a:t>
            </a:r>
            <a:endParaRPr lang="en-US" sz="3000" dirty="0"/>
          </a:p>
        </p:txBody>
      </p:sp>
      <p:sp>
        <p:nvSpPr>
          <p:cNvPr id="4" name="Text 2"/>
          <p:cNvSpPr txBox="1"/>
          <p:nvPr/>
        </p:nvSpPr>
        <p:spPr>
          <a:xfrm>
            <a:off x="640080" y="1691640"/>
            <a:ext cx="10515600" cy="822960"/>
          </a:xfrm>
          <a:prstGeom prst="rect">
            <a:avLst/>
          </a:prstGeom>
          <a:noFill/>
          <a:ln/>
        </p:spPr>
        <p:txBody>
          <a:bodyPr wrap="square" lIns="0" tIns="0" rIns="0" bIns="0" rtlCol="0" anchor="ctr"/>
          <a:lstStyle/>
          <a:p>
            <a:pPr indent="0" marL="0">
              <a:lnSpc>
                <a:spcPct val="130000"/>
              </a:lnSpc>
              <a:buNone/>
            </a:pPr>
            <a:r>
              <a:rPr lang="en-US" sz="1700" dirty="0">
                <a:solidFill>
                  <a:srgbClr val="4A5568"/>
                </a:solidFill>
                <a:latin typeface="Calibri" pitchFamily="34" charset="0"/>
                <a:ea typeface="Calibri" pitchFamily="34" charset="-122"/>
                <a:cs typeface="Calibri" pitchFamily="34" charset="-120"/>
              </a:rPr>
              <a:t>El factorial de n (escrito </a:t>
            </a:r>
            <a:pPr indent="0" marL="0">
              <a:lnSpc>
                <a:spcPct val="130000"/>
              </a:lnSpc>
              <a:buNone/>
            </a:pPr>
            <a:r>
              <a:rPr lang="en-US" sz="1700" b="1" dirty="0">
                <a:solidFill>
                  <a:srgbClr val="1A6B3C"/>
                </a:solidFill>
                <a:latin typeface="Calibri" pitchFamily="34" charset="0"/>
                <a:ea typeface="Calibri" pitchFamily="34" charset="-122"/>
                <a:cs typeface="Calibri" pitchFamily="34" charset="-120"/>
              </a:rPr>
              <a:t>n!</a:t>
            </a:r>
            <a:pPr indent="0" marL="0">
              <a:lnSpc>
                <a:spcPct val="130000"/>
              </a:lnSpc>
              <a:buNone/>
            </a:pPr>
            <a:r>
              <a:rPr lang="en-US" sz="1700" dirty="0">
                <a:solidFill>
                  <a:srgbClr val="4A5568"/>
                </a:solidFill>
                <a:latin typeface="Calibri" pitchFamily="34" charset="0"/>
                <a:ea typeface="Calibri" pitchFamily="34" charset="-122"/>
                <a:cs typeface="Calibri" pitchFamily="34" charset="-120"/>
              </a:rPr>
              <a:t>) es multiplicar n por todos los números menores hasta llegar a 1.</a:t>
            </a:r>
            <a:endParaRPr lang="en-US" sz="1700" dirty="0"/>
          </a:p>
        </p:txBody>
      </p:sp>
      <p:sp>
        <p:nvSpPr>
          <p:cNvPr id="5" name="Shape 3"/>
          <p:cNvSpPr/>
          <p:nvPr/>
        </p:nvSpPr>
        <p:spPr>
          <a:xfrm>
            <a:off x="640080" y="2651760"/>
            <a:ext cx="10881360" cy="914400"/>
          </a:xfrm>
          <a:prstGeom prst="roundRect">
            <a:avLst>
              <a:gd name="adj" fmla="val 10000"/>
            </a:avLst>
          </a:prstGeom>
          <a:solidFill>
            <a:srgbClr val="E8EBE8"/>
          </a:solidFill>
          <a:ln/>
        </p:spPr>
      </p:sp>
      <p:sp>
        <p:nvSpPr>
          <p:cNvPr id="6" name="Text 4"/>
          <p:cNvSpPr txBox="1"/>
          <p:nvPr/>
        </p:nvSpPr>
        <p:spPr>
          <a:xfrm>
            <a:off x="640080" y="2651760"/>
            <a:ext cx="10881360" cy="914400"/>
          </a:xfrm>
          <a:prstGeom prst="rect">
            <a:avLst/>
          </a:prstGeom>
          <a:noFill/>
          <a:ln/>
        </p:spPr>
        <p:txBody>
          <a:bodyPr wrap="square" lIns="0" tIns="0" rIns="0" bIns="0" rtlCol="0" anchor="ctr"/>
          <a:lstStyle/>
          <a:p>
            <a:pPr algn="ctr" indent="0" marL="0">
              <a:buNone/>
            </a:pPr>
            <a:r>
              <a:rPr lang="en-US" sz="2600" b="1" dirty="0">
                <a:solidFill>
                  <a:srgbClr val="1A2723"/>
                </a:solidFill>
                <a:latin typeface="Cambria" pitchFamily="34" charset="0"/>
                <a:ea typeface="Cambria" pitchFamily="34" charset="-122"/>
                <a:cs typeface="Cambria" pitchFamily="34" charset="-120"/>
              </a:rPr>
              <a:t>4! = 4 × 3 × 2 × 1 = 24</a:t>
            </a:r>
            <a:endParaRPr lang="en-US" sz="2600" dirty="0"/>
          </a:p>
        </p:txBody>
      </p:sp>
      <p:sp>
        <p:nvSpPr>
          <p:cNvPr id="7" name="Shape 5"/>
          <p:cNvSpPr/>
          <p:nvPr/>
        </p:nvSpPr>
        <p:spPr>
          <a:xfrm>
            <a:off x="640080" y="3840480"/>
            <a:ext cx="5212080" cy="1920240"/>
          </a:xfrm>
          <a:prstGeom prst="roundRect">
            <a:avLst>
              <a:gd name="adj" fmla="val 5714"/>
            </a:avLst>
          </a:prstGeom>
          <a:solidFill>
            <a:srgbClr val="E8F5EE"/>
          </a:solidFill>
          <a:ln/>
        </p:spPr>
      </p:sp>
      <p:sp>
        <p:nvSpPr>
          <p:cNvPr id="8" name="Text 6"/>
          <p:cNvSpPr txBox="1"/>
          <p:nvPr/>
        </p:nvSpPr>
        <p:spPr>
          <a:xfrm>
            <a:off x="914400" y="4023360"/>
            <a:ext cx="4572000" cy="365760"/>
          </a:xfrm>
          <a:prstGeom prst="rect">
            <a:avLst/>
          </a:prstGeom>
          <a:noFill/>
          <a:ln/>
        </p:spPr>
        <p:txBody>
          <a:bodyPr wrap="square" lIns="0" tIns="0" rIns="0" bIns="0"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Caso base</a:t>
            </a:r>
            <a:endParaRPr lang="en-US" sz="1300" dirty="0"/>
          </a:p>
        </p:txBody>
      </p:sp>
      <p:sp>
        <p:nvSpPr>
          <p:cNvPr id="9" name="Text 7"/>
          <p:cNvSpPr txBox="1"/>
          <p:nvPr/>
        </p:nvSpPr>
        <p:spPr>
          <a:xfrm>
            <a:off x="914400" y="4434840"/>
            <a:ext cx="4663440" cy="1188720"/>
          </a:xfrm>
          <a:prstGeom prst="rect">
            <a:avLst/>
          </a:prstGeom>
          <a:noFill/>
          <a:ln/>
        </p:spPr>
        <p:txBody>
          <a:bodyPr wrap="square" lIns="0" tIns="0" rIns="0" bIns="0" rtlCol="0" anchor="ctr"/>
          <a:lstStyle/>
          <a:p>
            <a:pPr indent="0" marL="0">
              <a:lnSpc>
                <a:spcPct val="130000"/>
              </a:lnSpc>
              <a:buNone/>
            </a:pPr>
            <a:r>
              <a:rPr lang="en-US" sz="1500" dirty="0">
                <a:solidFill>
                  <a:srgbClr val="0E4525"/>
                </a:solidFill>
                <a:latin typeface="Calibri" pitchFamily="34" charset="0"/>
                <a:ea typeface="Calibri" pitchFamily="34" charset="-122"/>
                <a:cs typeface="Calibri" pitchFamily="34" charset="-120"/>
              </a:rPr>
              <a:t>Si n es 0 o 1, la respuesta es 1. No hace falta multiplicar nada más.</a:t>
            </a:r>
            <a:endParaRPr lang="en-US" sz="1500" dirty="0"/>
          </a:p>
        </p:txBody>
      </p:sp>
      <p:sp>
        <p:nvSpPr>
          <p:cNvPr id="10" name="Shape 8"/>
          <p:cNvSpPr/>
          <p:nvPr/>
        </p:nvSpPr>
        <p:spPr>
          <a:xfrm>
            <a:off x="6263640" y="3840480"/>
            <a:ext cx="5257800" cy="1920240"/>
          </a:xfrm>
          <a:prstGeom prst="roundRect">
            <a:avLst>
              <a:gd name="adj" fmla="val 5714"/>
            </a:avLst>
          </a:prstGeom>
          <a:solidFill>
            <a:srgbClr val="E8EAF6"/>
          </a:solidFill>
          <a:ln/>
        </p:spPr>
      </p:sp>
      <p:sp>
        <p:nvSpPr>
          <p:cNvPr id="11" name="Text 9"/>
          <p:cNvSpPr txBox="1"/>
          <p:nvPr/>
        </p:nvSpPr>
        <p:spPr>
          <a:xfrm>
            <a:off x="6537960" y="4023360"/>
            <a:ext cx="4572000" cy="365760"/>
          </a:xfrm>
          <a:prstGeom prst="rect">
            <a:avLst/>
          </a:prstGeom>
          <a:noFill/>
          <a:ln/>
        </p:spPr>
        <p:txBody>
          <a:bodyPr wrap="square" lIns="0" tIns="0" rIns="0" bIns="0" rtlCol="0" anchor="ctr"/>
          <a:lstStyle/>
          <a:p>
            <a:pPr indent="0" marL="0">
              <a:buNone/>
            </a:pPr>
            <a:r>
              <a:rPr lang="en-US" sz="1300" b="1" dirty="0">
                <a:solidFill>
                  <a:srgbClr val="3949AB"/>
                </a:solidFill>
                <a:latin typeface="Calibri" pitchFamily="34" charset="0"/>
                <a:ea typeface="Calibri" pitchFamily="34" charset="-122"/>
                <a:cs typeface="Calibri" pitchFamily="34" charset="-120"/>
              </a:rPr>
              <a:t>Caso recursivo</a:t>
            </a:r>
            <a:endParaRPr lang="en-US" sz="1300" dirty="0"/>
          </a:p>
        </p:txBody>
      </p:sp>
      <p:sp>
        <p:nvSpPr>
          <p:cNvPr id="12" name="Text 10"/>
          <p:cNvSpPr txBox="1"/>
          <p:nvPr/>
        </p:nvSpPr>
        <p:spPr>
          <a:xfrm>
            <a:off x="6537960" y="4434840"/>
            <a:ext cx="4709160" cy="1188720"/>
          </a:xfrm>
          <a:prstGeom prst="rect">
            <a:avLst/>
          </a:prstGeom>
          <a:noFill/>
          <a:ln/>
        </p:spPr>
        <p:txBody>
          <a:bodyPr wrap="square" lIns="0" tIns="0" rIns="0" bIns="0" rtlCol="0" anchor="ctr"/>
          <a:lstStyle/>
          <a:p>
            <a:pPr indent="0" marL="0">
              <a:lnSpc>
                <a:spcPct val="130000"/>
              </a:lnSpc>
              <a:buNone/>
            </a:pPr>
            <a:r>
              <a:rPr lang="en-US" sz="1500" dirty="0">
                <a:solidFill>
                  <a:srgbClr val="283593"/>
                </a:solidFill>
                <a:latin typeface="Calibri" pitchFamily="34" charset="0"/>
                <a:ea typeface="Calibri" pitchFamily="34" charset="-122"/>
                <a:cs typeface="Calibri" pitchFamily="34" charset="-120"/>
              </a:rPr>
              <a:t>Si n es mayor que 1: n! = n × (n-1)!  — el factorial de n depende del factorial de n-1.</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TRAZA PASO A PASO · PARTE 1</a:t>
            </a:r>
            <a:endParaRPr lang="en-US" sz="1300" dirty="0"/>
          </a:p>
        </p:txBody>
      </p:sp>
      <p:sp>
        <p:nvSpPr>
          <p:cNvPr id="3" name="Text 1"/>
          <p:cNvSpPr txBox="1"/>
          <p:nvPr/>
        </p:nvSpPr>
        <p:spPr>
          <a:xfrm>
            <a:off x="640080" y="731520"/>
            <a:ext cx="10515600" cy="640080"/>
          </a:xfrm>
          <a:prstGeom prst="rect">
            <a:avLst/>
          </a:prstGeom>
          <a:noFill/>
          <a:ln/>
        </p:spPr>
        <p:txBody>
          <a:bodyPr wrap="square" lIns="0" tIns="0" rIns="0" bIns="0" rtlCol="0" anchor="ctr"/>
          <a:lstStyle/>
          <a:p>
            <a:pPr indent="0" marL="0">
              <a:buNone/>
            </a:pPr>
            <a:r>
              <a:rPr lang="en-US" sz="2700" b="1" dirty="0">
                <a:solidFill>
                  <a:srgbClr val="1A2723"/>
                </a:solidFill>
                <a:latin typeface="Cambria" pitchFamily="34" charset="0"/>
                <a:ea typeface="Cambria" pitchFamily="34" charset="-122"/>
                <a:cs typeface="Cambria" pitchFamily="34" charset="-120"/>
              </a:rPr>
              <a:t>factorial(4) — bajando hasta el caso base</a:t>
            </a:r>
            <a:endParaRPr lang="en-US" sz="2700" dirty="0"/>
          </a:p>
        </p:txBody>
      </p:sp>
      <p:sp>
        <p:nvSpPr>
          <p:cNvPr id="4" name="Shape 2"/>
          <p:cNvSpPr/>
          <p:nvPr/>
        </p:nvSpPr>
        <p:spPr>
          <a:xfrm>
            <a:off x="3337560" y="4160520"/>
            <a:ext cx="5486400" cy="777240"/>
          </a:xfrm>
          <a:prstGeom prst="roundRect">
            <a:avLst>
              <a:gd name="adj" fmla="val 9412"/>
            </a:avLst>
          </a:prstGeom>
          <a:solidFill>
            <a:srgbClr val="E8F5EE"/>
          </a:solidFill>
          <a:ln w="19050">
            <a:solidFill>
              <a:srgbClr val="1A6B3C"/>
            </a:solidFill>
            <a:prstDash val="solid"/>
          </a:ln>
        </p:spPr>
      </p:sp>
      <p:sp>
        <p:nvSpPr>
          <p:cNvPr id="5" name="Text 3"/>
          <p:cNvSpPr txBox="1"/>
          <p:nvPr/>
        </p:nvSpPr>
        <p:spPr>
          <a:xfrm>
            <a:off x="3474720" y="416052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factorial(4)</a:t>
            </a:r>
            <a:endParaRPr lang="en-US" sz="1500" dirty="0"/>
          </a:p>
        </p:txBody>
      </p:sp>
      <p:sp>
        <p:nvSpPr>
          <p:cNvPr id="6" name="Text 4"/>
          <p:cNvSpPr txBox="1"/>
          <p:nvPr/>
        </p:nvSpPr>
        <p:spPr>
          <a:xfrm>
            <a:off x="6629400" y="416052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espera a factorial(3)</a:t>
            </a:r>
            <a:endParaRPr lang="en-US" sz="1300" dirty="0"/>
          </a:p>
        </p:txBody>
      </p:sp>
      <p:sp>
        <p:nvSpPr>
          <p:cNvPr id="7" name="Shape 5"/>
          <p:cNvSpPr/>
          <p:nvPr/>
        </p:nvSpPr>
        <p:spPr>
          <a:xfrm>
            <a:off x="3337560" y="3291840"/>
            <a:ext cx="5486400" cy="777240"/>
          </a:xfrm>
          <a:prstGeom prst="roundRect">
            <a:avLst>
              <a:gd name="adj" fmla="val 9412"/>
            </a:avLst>
          </a:prstGeom>
          <a:solidFill>
            <a:srgbClr val="E8F5EE"/>
          </a:solidFill>
          <a:ln w="19050">
            <a:solidFill>
              <a:srgbClr val="1A6B3C"/>
            </a:solidFill>
            <a:prstDash val="solid"/>
          </a:ln>
        </p:spPr>
      </p:sp>
      <p:sp>
        <p:nvSpPr>
          <p:cNvPr id="8" name="Text 6"/>
          <p:cNvSpPr txBox="1"/>
          <p:nvPr/>
        </p:nvSpPr>
        <p:spPr>
          <a:xfrm>
            <a:off x="3474720" y="329184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factorial(3)</a:t>
            </a:r>
            <a:endParaRPr lang="en-US" sz="1500" dirty="0"/>
          </a:p>
        </p:txBody>
      </p:sp>
      <p:sp>
        <p:nvSpPr>
          <p:cNvPr id="9" name="Text 7"/>
          <p:cNvSpPr txBox="1"/>
          <p:nvPr/>
        </p:nvSpPr>
        <p:spPr>
          <a:xfrm>
            <a:off x="6629400" y="329184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espera a factorial(2)</a:t>
            </a:r>
            <a:endParaRPr lang="en-US" sz="1300" dirty="0"/>
          </a:p>
        </p:txBody>
      </p:sp>
      <p:sp>
        <p:nvSpPr>
          <p:cNvPr id="10" name="Shape 8"/>
          <p:cNvSpPr/>
          <p:nvPr/>
        </p:nvSpPr>
        <p:spPr>
          <a:xfrm>
            <a:off x="3337560" y="2423160"/>
            <a:ext cx="5486400" cy="777240"/>
          </a:xfrm>
          <a:prstGeom prst="roundRect">
            <a:avLst>
              <a:gd name="adj" fmla="val 9412"/>
            </a:avLst>
          </a:prstGeom>
          <a:solidFill>
            <a:srgbClr val="E8F5EE"/>
          </a:solidFill>
          <a:ln w="19050">
            <a:solidFill>
              <a:srgbClr val="1A6B3C"/>
            </a:solidFill>
            <a:prstDash val="solid"/>
          </a:ln>
        </p:spPr>
      </p:sp>
      <p:sp>
        <p:nvSpPr>
          <p:cNvPr id="11" name="Text 9"/>
          <p:cNvSpPr txBox="1"/>
          <p:nvPr/>
        </p:nvSpPr>
        <p:spPr>
          <a:xfrm>
            <a:off x="3474720" y="242316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factorial(2)</a:t>
            </a:r>
            <a:endParaRPr lang="en-US" sz="1500" dirty="0"/>
          </a:p>
        </p:txBody>
      </p:sp>
      <p:sp>
        <p:nvSpPr>
          <p:cNvPr id="12" name="Text 10"/>
          <p:cNvSpPr txBox="1"/>
          <p:nvPr/>
        </p:nvSpPr>
        <p:spPr>
          <a:xfrm>
            <a:off x="6629400" y="242316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espera a factorial(1)</a:t>
            </a:r>
            <a:endParaRPr lang="en-US" sz="1300" dirty="0"/>
          </a:p>
        </p:txBody>
      </p:sp>
      <p:sp>
        <p:nvSpPr>
          <p:cNvPr id="13" name="Shape 11"/>
          <p:cNvSpPr/>
          <p:nvPr/>
        </p:nvSpPr>
        <p:spPr>
          <a:xfrm>
            <a:off x="3337560" y="1554480"/>
            <a:ext cx="5486400" cy="777240"/>
          </a:xfrm>
          <a:prstGeom prst="roundRect">
            <a:avLst>
              <a:gd name="adj" fmla="val 9412"/>
            </a:avLst>
          </a:prstGeom>
          <a:solidFill>
            <a:srgbClr val="FFF8EC"/>
          </a:solidFill>
          <a:ln w="19050">
            <a:solidFill>
              <a:srgbClr val="E8A020"/>
            </a:solidFill>
            <a:prstDash val="solid"/>
          </a:ln>
        </p:spPr>
      </p:sp>
      <p:sp>
        <p:nvSpPr>
          <p:cNvPr id="14" name="Text 12"/>
          <p:cNvSpPr txBox="1"/>
          <p:nvPr/>
        </p:nvSpPr>
        <p:spPr>
          <a:xfrm>
            <a:off x="3474720" y="1554480"/>
            <a:ext cx="5212080" cy="777240"/>
          </a:xfrm>
          <a:prstGeom prst="rect">
            <a:avLst/>
          </a:prstGeom>
          <a:noFill/>
          <a:ln/>
        </p:spPr>
        <p:txBody>
          <a:bodyPr wrap="square" lIns="0" tIns="0" rIns="0" bIns="0" rtlCol="0" anchor="ctr"/>
          <a:lstStyle/>
          <a:p>
            <a:pPr algn="l" indent="0" marL="0">
              <a:buNone/>
            </a:pPr>
            <a:r>
              <a:rPr lang="en-US" sz="1500" b="1" dirty="0">
                <a:solidFill>
                  <a:srgbClr val="B07800"/>
                </a:solidFill>
                <a:latin typeface="Calibri" pitchFamily="34" charset="0"/>
                <a:ea typeface="Calibri" pitchFamily="34" charset="-122"/>
                <a:cs typeface="Calibri" pitchFamily="34" charset="-120"/>
              </a:rPr>
              <a:t>factorial(1)</a:t>
            </a:r>
            <a:endParaRPr lang="en-US" sz="1500" dirty="0"/>
          </a:p>
        </p:txBody>
      </p:sp>
      <p:sp>
        <p:nvSpPr>
          <p:cNvPr id="15" name="Text 13"/>
          <p:cNvSpPr txBox="1"/>
          <p:nvPr/>
        </p:nvSpPr>
        <p:spPr>
          <a:xfrm>
            <a:off x="6629400" y="1554480"/>
            <a:ext cx="2057400" cy="777240"/>
          </a:xfrm>
          <a:prstGeom prst="rect">
            <a:avLst/>
          </a:prstGeom>
          <a:noFill/>
          <a:ln/>
        </p:spPr>
        <p:txBody>
          <a:bodyPr wrap="square" lIns="0" tIns="0" rIns="0" bIns="0" rtlCol="0" anchor="ctr"/>
          <a:lstStyle/>
          <a:p>
            <a:pPr algn="r" indent="0" marL="0">
              <a:buNone/>
            </a:pPr>
            <a:r>
              <a:rPr lang="en-US" sz="1300" b="1" dirty="0">
                <a:solidFill>
                  <a:srgbClr val="B07800"/>
                </a:solidFill>
                <a:latin typeface="Calibri" pitchFamily="34" charset="0"/>
                <a:ea typeface="Calibri" pitchFamily="34" charset="-122"/>
                <a:cs typeface="Calibri" pitchFamily="34" charset="-120"/>
              </a:rPr>
              <a:t>caso base → 1</a:t>
            </a:r>
            <a:endParaRPr lang="en-US" sz="1300" dirty="0"/>
          </a:p>
        </p:txBody>
      </p:sp>
      <p:sp>
        <p:nvSpPr>
          <p:cNvPr id="16" name="Text 14"/>
          <p:cNvSpPr txBox="1"/>
          <p:nvPr/>
        </p:nvSpPr>
        <p:spPr>
          <a:xfrm>
            <a:off x="640080" y="5806440"/>
            <a:ext cx="10881360" cy="640080"/>
          </a:xfrm>
          <a:prstGeom prst="rect">
            <a:avLst/>
          </a:prstGeom>
          <a:noFill/>
          <a:ln/>
        </p:spPr>
        <p:txBody>
          <a:bodyPr wrap="square" lIns="0" tIns="0" rIns="0" bIns="0" rtlCol="0" anchor="ctr"/>
          <a:lstStyle/>
          <a:p>
            <a:pPr indent="0" marL="0">
              <a:buNone/>
            </a:pPr>
            <a:r>
              <a:rPr lang="en-US" sz="1450" i="1" dirty="0">
                <a:solidFill>
                  <a:srgbClr val="4A5568"/>
                </a:solidFill>
                <a:latin typeface="Calibri" pitchFamily="34" charset="0"/>
                <a:ea typeface="Calibri" pitchFamily="34" charset="-122"/>
                <a:cs typeface="Calibri" pitchFamily="34" charset="-120"/>
              </a:rPr>
              <a:t>Cada llamada queda "esperando" a que la siguiente termine, antes de poder calcular su propio resultado.</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365760"/>
          </a:xfrm>
          <a:prstGeom prst="rect">
            <a:avLst/>
          </a:prstGeom>
          <a:noFill/>
          <a:ln/>
        </p:spPr>
        <p:txBody>
          <a:bodyPr wrap="square" lIns="0" tIns="0" rIns="0" bIns="0" rtlCol="0" anchor="ctr"/>
          <a:lstStyle/>
          <a:p>
            <a:pPr indent="0" marL="0">
              <a:buNone/>
            </a:pPr>
            <a:r>
              <a:rPr lang="en-US" sz="1300" b="1" spc="150" kern="0" dirty="0">
                <a:solidFill>
                  <a:srgbClr val="3949AB"/>
                </a:solidFill>
                <a:latin typeface="Calibri" pitchFamily="34" charset="0"/>
                <a:ea typeface="Calibri" pitchFamily="34" charset="-122"/>
                <a:cs typeface="Calibri" pitchFamily="34" charset="-120"/>
              </a:rPr>
              <a:t>TRAZA PASO A PASO · PARTE 2</a:t>
            </a:r>
            <a:endParaRPr lang="en-US" sz="1300" dirty="0"/>
          </a:p>
        </p:txBody>
      </p:sp>
      <p:sp>
        <p:nvSpPr>
          <p:cNvPr id="3" name="Text 1"/>
          <p:cNvSpPr txBox="1"/>
          <p:nvPr/>
        </p:nvSpPr>
        <p:spPr>
          <a:xfrm>
            <a:off x="640080" y="731520"/>
            <a:ext cx="10515600" cy="640080"/>
          </a:xfrm>
          <a:prstGeom prst="rect">
            <a:avLst/>
          </a:prstGeom>
          <a:noFill/>
          <a:ln/>
        </p:spPr>
        <p:txBody>
          <a:bodyPr wrap="square" lIns="0" tIns="0" rIns="0" bIns="0" rtlCol="0" anchor="ctr"/>
          <a:lstStyle/>
          <a:p>
            <a:pPr indent="0" marL="0">
              <a:buNone/>
            </a:pPr>
            <a:r>
              <a:rPr lang="en-US" sz="2700" b="1" dirty="0">
                <a:solidFill>
                  <a:srgbClr val="1A2723"/>
                </a:solidFill>
                <a:latin typeface="Cambria" pitchFamily="34" charset="0"/>
                <a:ea typeface="Cambria" pitchFamily="34" charset="-122"/>
                <a:cs typeface="Cambria" pitchFamily="34" charset="-120"/>
              </a:rPr>
              <a:t>Ahora la pila se desarma, devolviendo resultados</a:t>
            </a:r>
            <a:endParaRPr lang="en-US" sz="2700" dirty="0"/>
          </a:p>
        </p:txBody>
      </p:sp>
      <p:sp>
        <p:nvSpPr>
          <p:cNvPr id="4" name="Shape 2"/>
          <p:cNvSpPr/>
          <p:nvPr/>
        </p:nvSpPr>
        <p:spPr>
          <a:xfrm>
            <a:off x="3337560" y="4160520"/>
            <a:ext cx="5486400" cy="777240"/>
          </a:xfrm>
          <a:prstGeom prst="roundRect">
            <a:avLst>
              <a:gd name="adj" fmla="val 9412"/>
            </a:avLst>
          </a:prstGeom>
          <a:solidFill>
            <a:srgbClr val="E8F5EE"/>
          </a:solidFill>
          <a:ln w="19050">
            <a:solidFill>
              <a:srgbClr val="1A6B3C"/>
            </a:solidFill>
            <a:prstDash val="solid"/>
          </a:ln>
        </p:spPr>
      </p:sp>
      <p:sp>
        <p:nvSpPr>
          <p:cNvPr id="5" name="Text 3"/>
          <p:cNvSpPr txBox="1"/>
          <p:nvPr/>
        </p:nvSpPr>
        <p:spPr>
          <a:xfrm>
            <a:off x="3474720" y="416052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factorial(4)</a:t>
            </a:r>
            <a:endParaRPr lang="en-US" sz="1500" dirty="0"/>
          </a:p>
        </p:txBody>
      </p:sp>
      <p:sp>
        <p:nvSpPr>
          <p:cNvPr id="6" name="Text 4"/>
          <p:cNvSpPr txBox="1"/>
          <p:nvPr/>
        </p:nvSpPr>
        <p:spPr>
          <a:xfrm>
            <a:off x="6629400" y="416052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4 × 6 = 24</a:t>
            </a:r>
            <a:endParaRPr lang="en-US" sz="1300" dirty="0"/>
          </a:p>
        </p:txBody>
      </p:sp>
      <p:sp>
        <p:nvSpPr>
          <p:cNvPr id="7" name="Shape 5"/>
          <p:cNvSpPr/>
          <p:nvPr/>
        </p:nvSpPr>
        <p:spPr>
          <a:xfrm>
            <a:off x="3337560" y="3291840"/>
            <a:ext cx="5486400" cy="777240"/>
          </a:xfrm>
          <a:prstGeom prst="roundRect">
            <a:avLst>
              <a:gd name="adj" fmla="val 9412"/>
            </a:avLst>
          </a:prstGeom>
          <a:solidFill>
            <a:srgbClr val="E8F5EE"/>
          </a:solidFill>
          <a:ln w="19050">
            <a:solidFill>
              <a:srgbClr val="1A6B3C"/>
            </a:solidFill>
            <a:prstDash val="solid"/>
          </a:ln>
        </p:spPr>
      </p:sp>
      <p:sp>
        <p:nvSpPr>
          <p:cNvPr id="8" name="Text 6"/>
          <p:cNvSpPr txBox="1"/>
          <p:nvPr/>
        </p:nvSpPr>
        <p:spPr>
          <a:xfrm>
            <a:off x="3474720" y="329184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factorial(3)</a:t>
            </a:r>
            <a:endParaRPr lang="en-US" sz="1500" dirty="0"/>
          </a:p>
        </p:txBody>
      </p:sp>
      <p:sp>
        <p:nvSpPr>
          <p:cNvPr id="9" name="Text 7"/>
          <p:cNvSpPr txBox="1"/>
          <p:nvPr/>
        </p:nvSpPr>
        <p:spPr>
          <a:xfrm>
            <a:off x="6629400" y="329184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3 × 2 = 6</a:t>
            </a:r>
            <a:endParaRPr lang="en-US" sz="1300" dirty="0"/>
          </a:p>
        </p:txBody>
      </p:sp>
      <p:sp>
        <p:nvSpPr>
          <p:cNvPr id="10" name="Shape 8"/>
          <p:cNvSpPr/>
          <p:nvPr/>
        </p:nvSpPr>
        <p:spPr>
          <a:xfrm>
            <a:off x="3337560" y="2423160"/>
            <a:ext cx="5486400" cy="777240"/>
          </a:xfrm>
          <a:prstGeom prst="roundRect">
            <a:avLst>
              <a:gd name="adj" fmla="val 9412"/>
            </a:avLst>
          </a:prstGeom>
          <a:solidFill>
            <a:srgbClr val="E8F5EE"/>
          </a:solidFill>
          <a:ln w="19050">
            <a:solidFill>
              <a:srgbClr val="1A6B3C"/>
            </a:solidFill>
            <a:prstDash val="solid"/>
          </a:ln>
        </p:spPr>
      </p:sp>
      <p:sp>
        <p:nvSpPr>
          <p:cNvPr id="11" name="Text 9"/>
          <p:cNvSpPr txBox="1"/>
          <p:nvPr/>
        </p:nvSpPr>
        <p:spPr>
          <a:xfrm>
            <a:off x="3474720" y="242316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factorial(2)</a:t>
            </a:r>
            <a:endParaRPr lang="en-US" sz="1500" dirty="0"/>
          </a:p>
        </p:txBody>
      </p:sp>
      <p:sp>
        <p:nvSpPr>
          <p:cNvPr id="12" name="Text 10"/>
          <p:cNvSpPr txBox="1"/>
          <p:nvPr/>
        </p:nvSpPr>
        <p:spPr>
          <a:xfrm>
            <a:off x="6629400" y="242316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2 × 1 = 2</a:t>
            </a:r>
            <a:endParaRPr lang="en-US" sz="1300" dirty="0"/>
          </a:p>
        </p:txBody>
      </p:sp>
      <p:sp>
        <p:nvSpPr>
          <p:cNvPr id="13" name="Shape 11"/>
          <p:cNvSpPr/>
          <p:nvPr/>
        </p:nvSpPr>
        <p:spPr>
          <a:xfrm>
            <a:off x="3337560" y="1554480"/>
            <a:ext cx="5486400" cy="777240"/>
          </a:xfrm>
          <a:prstGeom prst="roundRect">
            <a:avLst>
              <a:gd name="adj" fmla="val 9412"/>
            </a:avLst>
          </a:prstGeom>
          <a:solidFill>
            <a:srgbClr val="FFF8EC"/>
          </a:solidFill>
          <a:ln w="19050">
            <a:solidFill>
              <a:srgbClr val="E8A020"/>
            </a:solidFill>
            <a:prstDash val="solid"/>
          </a:ln>
        </p:spPr>
      </p:sp>
      <p:sp>
        <p:nvSpPr>
          <p:cNvPr id="14" name="Text 12"/>
          <p:cNvSpPr txBox="1"/>
          <p:nvPr/>
        </p:nvSpPr>
        <p:spPr>
          <a:xfrm>
            <a:off x="3474720" y="1554480"/>
            <a:ext cx="5212080" cy="777240"/>
          </a:xfrm>
          <a:prstGeom prst="rect">
            <a:avLst/>
          </a:prstGeom>
          <a:noFill/>
          <a:ln/>
        </p:spPr>
        <p:txBody>
          <a:bodyPr wrap="square" lIns="0" tIns="0" rIns="0" bIns="0" rtlCol="0" anchor="ctr"/>
          <a:lstStyle/>
          <a:p>
            <a:pPr algn="l" indent="0" marL="0">
              <a:buNone/>
            </a:pPr>
            <a:r>
              <a:rPr lang="en-US" sz="1500" b="1" dirty="0">
                <a:solidFill>
                  <a:srgbClr val="B07800"/>
                </a:solidFill>
                <a:latin typeface="Calibri" pitchFamily="34" charset="0"/>
                <a:ea typeface="Calibri" pitchFamily="34" charset="-122"/>
                <a:cs typeface="Calibri" pitchFamily="34" charset="-120"/>
              </a:rPr>
              <a:t>factorial(1)</a:t>
            </a:r>
            <a:endParaRPr lang="en-US" sz="1500" dirty="0"/>
          </a:p>
        </p:txBody>
      </p:sp>
      <p:sp>
        <p:nvSpPr>
          <p:cNvPr id="15" name="Text 13"/>
          <p:cNvSpPr txBox="1"/>
          <p:nvPr/>
        </p:nvSpPr>
        <p:spPr>
          <a:xfrm>
            <a:off x="6629400" y="1554480"/>
            <a:ext cx="2057400" cy="777240"/>
          </a:xfrm>
          <a:prstGeom prst="rect">
            <a:avLst/>
          </a:prstGeom>
          <a:noFill/>
          <a:ln/>
        </p:spPr>
        <p:txBody>
          <a:bodyPr wrap="square" lIns="0" tIns="0" rIns="0" bIns="0" rtlCol="0" anchor="ctr"/>
          <a:lstStyle/>
          <a:p>
            <a:pPr algn="r" indent="0" marL="0">
              <a:buNone/>
            </a:pPr>
            <a:r>
              <a:rPr lang="en-US" sz="1300" b="1" dirty="0">
                <a:solidFill>
                  <a:srgbClr val="B07800"/>
                </a:solidFill>
                <a:latin typeface="Calibri" pitchFamily="34" charset="0"/>
                <a:ea typeface="Calibri" pitchFamily="34" charset="-122"/>
                <a:cs typeface="Calibri" pitchFamily="34" charset="-120"/>
              </a:rPr>
              <a:t>= 1</a:t>
            </a:r>
            <a:endParaRPr lang="en-US" sz="1300" dirty="0"/>
          </a:p>
        </p:txBody>
      </p:sp>
      <p:sp>
        <p:nvSpPr>
          <p:cNvPr id="16" name="Shape 14"/>
          <p:cNvSpPr/>
          <p:nvPr/>
        </p:nvSpPr>
        <p:spPr>
          <a:xfrm>
            <a:off x="640080" y="5623560"/>
            <a:ext cx="10881360" cy="777240"/>
          </a:xfrm>
          <a:prstGeom prst="roundRect">
            <a:avLst>
              <a:gd name="adj" fmla="val 11765"/>
            </a:avLst>
          </a:prstGeom>
          <a:solidFill>
            <a:srgbClr val="E8EBE8"/>
          </a:solidFill>
          <a:ln/>
        </p:spPr>
      </p:sp>
      <p:sp>
        <p:nvSpPr>
          <p:cNvPr id="17" name="Text 15"/>
          <p:cNvSpPr txBox="1"/>
          <p:nvPr/>
        </p:nvSpPr>
        <p:spPr>
          <a:xfrm>
            <a:off x="914400" y="5623560"/>
            <a:ext cx="10332720" cy="777240"/>
          </a:xfrm>
          <a:prstGeom prst="rect">
            <a:avLst/>
          </a:prstGeom>
          <a:noFill/>
          <a:ln/>
        </p:spPr>
        <p:txBody>
          <a:bodyPr wrap="square" lIns="0" tIns="0" rIns="0" bIns="0" rtlCol="0" anchor="ctr"/>
          <a:lstStyle/>
          <a:p>
            <a:pPr indent="0" marL="0">
              <a:buNone/>
            </a:pPr>
            <a:r>
              <a:rPr lang="en-US" sz="1400" dirty="0">
                <a:solidFill>
                  <a:srgbClr val="1A2723"/>
                </a:solidFill>
                <a:latin typeface="Calibri" pitchFamily="34" charset="0"/>
                <a:ea typeface="Calibri" pitchFamily="34" charset="-122"/>
                <a:cs typeface="Calibri" pitchFamily="34" charset="-120"/>
              </a:rPr>
              <a:t>El resultado se construye de abajo hacia arriba: cada llamada multiplica su n por lo que le devolvió la siguiente.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65760"/>
          </a:xfrm>
          <a:prstGeom prst="rect">
            <a:avLst/>
          </a:prstGeom>
          <a:noFill/>
          <a:ln/>
        </p:spPr>
        <p:txBody>
          <a:bodyPr wrap="square" lIns="0" tIns="0" rIns="0" bIns="0" rtlCol="0" anchor="ctr"/>
          <a:lstStyle/>
          <a:p>
            <a:pPr indent="0" marL="0">
              <a:buNone/>
            </a:pPr>
            <a:r>
              <a:rPr lang="en-US" sz="1300" b="1" spc="150" kern="0" dirty="0">
                <a:solidFill>
                  <a:srgbClr val="E8A020"/>
                </a:solidFill>
                <a:latin typeface="Calibri" pitchFamily="34" charset="0"/>
                <a:ea typeface="Calibri" pitchFamily="34" charset="-122"/>
                <a:cs typeface="Calibri" pitchFamily="34" charset="-120"/>
              </a:rPr>
              <a:t>POR DEBAJO: MEMORIA RAM</a:t>
            </a:r>
            <a:endParaRPr lang="en-US" sz="1300" dirty="0"/>
          </a:p>
        </p:txBody>
      </p:sp>
      <p:sp>
        <p:nvSpPr>
          <p:cNvPr id="3" name="Text 1"/>
          <p:cNvSpPr txBox="1"/>
          <p:nvPr/>
        </p:nvSpPr>
        <p:spPr>
          <a:xfrm>
            <a:off x="640080" y="777240"/>
            <a:ext cx="1051560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Esto no es solo un dibujo — así se guarda en memoria</a:t>
            </a:r>
            <a:endParaRPr lang="en-US" sz="2600" dirty="0"/>
          </a:p>
        </p:txBody>
      </p:sp>
      <p:sp>
        <p:nvSpPr>
          <p:cNvPr id="4" name="Shape 2"/>
          <p:cNvSpPr/>
          <p:nvPr/>
        </p:nvSpPr>
        <p:spPr>
          <a:xfrm>
            <a:off x="640080" y="1737360"/>
            <a:ext cx="548640" cy="548640"/>
          </a:xfrm>
          <a:prstGeom prst="ellipse">
            <a:avLst/>
          </a:prstGeom>
          <a:solidFill>
            <a:srgbClr val="E8A020"/>
          </a:solidFill>
          <a:ln/>
        </p:spPr>
      </p:sp>
      <p:sp>
        <p:nvSpPr>
          <p:cNvPr id="5" name="Text 3"/>
          <p:cNvSpPr txBox="1"/>
          <p:nvPr/>
        </p:nvSpPr>
        <p:spPr>
          <a:xfrm>
            <a:off x="640080" y="1737360"/>
            <a:ext cx="548640" cy="548640"/>
          </a:xfrm>
          <a:prstGeom prst="rect">
            <a:avLst/>
          </a:prstGeom>
          <a:noFill/>
          <a:ln/>
        </p:spPr>
        <p:txBody>
          <a:bodyPr wrap="square" lIns="0" tIns="0" rIns="0" bIns="0" rtlCol="0" anchor="ctr"/>
          <a:lstStyle/>
          <a:p>
            <a:pPr algn="ctr" indent="0" marL="0">
              <a:buNone/>
            </a:pPr>
            <a:r>
              <a:rPr lang="en-US" sz="2000" b="1" dirty="0">
                <a:solidFill>
                  <a:srgbClr val="0E4525"/>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371600" y="1691640"/>
            <a:ext cx="9966960" cy="77724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Cada vez que una función se llama a sí misma, el programa reserva un bloque de memoria llamado "marco de pila" (stack frame).</a:t>
            </a:r>
            <a:endParaRPr lang="en-US" sz="1500" dirty="0"/>
          </a:p>
        </p:txBody>
      </p:sp>
      <p:sp>
        <p:nvSpPr>
          <p:cNvPr id="7" name="Shape 5"/>
          <p:cNvSpPr/>
          <p:nvPr/>
        </p:nvSpPr>
        <p:spPr>
          <a:xfrm>
            <a:off x="640080" y="2697480"/>
            <a:ext cx="548640" cy="548640"/>
          </a:xfrm>
          <a:prstGeom prst="ellipse">
            <a:avLst/>
          </a:prstGeom>
          <a:solidFill>
            <a:srgbClr val="E8A020"/>
          </a:solidFill>
          <a:ln/>
        </p:spPr>
      </p:sp>
      <p:sp>
        <p:nvSpPr>
          <p:cNvPr id="8" name="Text 6"/>
          <p:cNvSpPr txBox="1"/>
          <p:nvPr/>
        </p:nvSpPr>
        <p:spPr>
          <a:xfrm>
            <a:off x="640080" y="2697480"/>
            <a:ext cx="548640" cy="548640"/>
          </a:xfrm>
          <a:prstGeom prst="rect">
            <a:avLst/>
          </a:prstGeom>
          <a:noFill/>
          <a:ln/>
        </p:spPr>
        <p:txBody>
          <a:bodyPr wrap="square" lIns="0" tIns="0" rIns="0" bIns="0" rtlCol="0" anchor="ctr"/>
          <a:lstStyle/>
          <a:p>
            <a:pPr algn="ctr" indent="0" marL="0">
              <a:buNone/>
            </a:pPr>
            <a:r>
              <a:rPr lang="en-US" sz="2000" b="1" dirty="0">
                <a:solidFill>
                  <a:srgbClr val="0E4525"/>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371600" y="2651760"/>
            <a:ext cx="9966960" cy="77724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Ese marco guarda: en qué punto va la función, y el valor de n con el que fue llamada.</a:t>
            </a:r>
            <a:endParaRPr lang="en-US" sz="1500" dirty="0"/>
          </a:p>
        </p:txBody>
      </p:sp>
      <p:sp>
        <p:nvSpPr>
          <p:cNvPr id="10" name="Shape 8"/>
          <p:cNvSpPr/>
          <p:nvPr/>
        </p:nvSpPr>
        <p:spPr>
          <a:xfrm>
            <a:off x="640080" y="3657600"/>
            <a:ext cx="548640" cy="548640"/>
          </a:xfrm>
          <a:prstGeom prst="ellipse">
            <a:avLst/>
          </a:prstGeom>
          <a:solidFill>
            <a:srgbClr val="E8A020"/>
          </a:solidFill>
          <a:ln/>
        </p:spPr>
      </p:sp>
      <p:sp>
        <p:nvSpPr>
          <p:cNvPr id="11" name="Text 9"/>
          <p:cNvSpPr txBox="1"/>
          <p:nvPr/>
        </p:nvSpPr>
        <p:spPr>
          <a:xfrm>
            <a:off x="640080" y="3657600"/>
            <a:ext cx="548640" cy="548640"/>
          </a:xfrm>
          <a:prstGeom prst="rect">
            <a:avLst/>
          </a:prstGeom>
          <a:noFill/>
          <a:ln/>
        </p:spPr>
        <p:txBody>
          <a:bodyPr wrap="square" lIns="0" tIns="0" rIns="0" bIns="0" rtlCol="0" anchor="ctr"/>
          <a:lstStyle/>
          <a:p>
            <a:pPr algn="ctr" indent="0" marL="0">
              <a:buNone/>
            </a:pPr>
            <a:r>
              <a:rPr lang="en-US" sz="2000" b="1" dirty="0">
                <a:solidFill>
                  <a:srgbClr val="0E4525"/>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371600" y="3611880"/>
            <a:ext cx="9966960" cy="77724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Los marcos se apilan uno sobre otro — el último en entrar es el primero en salir (LIFO), igual que una pila de platos.</a:t>
            </a:r>
            <a:endParaRPr lang="en-US" sz="1500" dirty="0"/>
          </a:p>
        </p:txBody>
      </p:sp>
      <p:sp>
        <p:nvSpPr>
          <p:cNvPr id="13" name="Shape 11"/>
          <p:cNvSpPr/>
          <p:nvPr/>
        </p:nvSpPr>
        <p:spPr>
          <a:xfrm>
            <a:off x="640080" y="4617720"/>
            <a:ext cx="548640" cy="548640"/>
          </a:xfrm>
          <a:prstGeom prst="ellipse">
            <a:avLst/>
          </a:prstGeom>
          <a:solidFill>
            <a:srgbClr val="E8A020"/>
          </a:solidFill>
          <a:ln/>
        </p:spPr>
      </p:sp>
      <p:sp>
        <p:nvSpPr>
          <p:cNvPr id="14" name="Text 12"/>
          <p:cNvSpPr txBox="1"/>
          <p:nvPr/>
        </p:nvSpPr>
        <p:spPr>
          <a:xfrm>
            <a:off x="640080" y="4617720"/>
            <a:ext cx="548640" cy="548640"/>
          </a:xfrm>
          <a:prstGeom prst="rect">
            <a:avLst/>
          </a:prstGeom>
          <a:noFill/>
          <a:ln/>
        </p:spPr>
        <p:txBody>
          <a:bodyPr wrap="square" lIns="0" tIns="0" rIns="0" bIns="0" rtlCol="0" anchor="ctr"/>
          <a:lstStyle/>
          <a:p>
            <a:pPr algn="ctr" indent="0" marL="0">
              <a:buNone/>
            </a:pPr>
            <a:r>
              <a:rPr lang="en-US" sz="2000" b="1" dirty="0">
                <a:solidFill>
                  <a:srgbClr val="0E4525"/>
                </a:solidFill>
                <a:latin typeface="Calibri" pitchFamily="34" charset="0"/>
                <a:ea typeface="Calibri" pitchFamily="34" charset="-122"/>
                <a:cs typeface="Calibri" pitchFamily="34" charset="-120"/>
              </a:rPr>
              <a:t>4</a:t>
            </a:r>
            <a:endParaRPr lang="en-US" sz="2000" dirty="0"/>
          </a:p>
        </p:txBody>
      </p:sp>
      <p:sp>
        <p:nvSpPr>
          <p:cNvPr id="15" name="Text 13"/>
          <p:cNvSpPr txBox="1"/>
          <p:nvPr/>
        </p:nvSpPr>
        <p:spPr>
          <a:xfrm>
            <a:off x="1371600" y="4572000"/>
            <a:ext cx="9966960" cy="77724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Cuando una llamada termina (llega a su resultado), su marco se libera y la memoria vuelve a estar disponible.</a:t>
            </a:r>
            <a:endParaRPr lang="en-US" sz="1500" dirty="0"/>
          </a:p>
        </p:txBody>
      </p:sp>
      <p:sp>
        <p:nvSpPr>
          <p:cNvPr id="16" name="Shape 14"/>
          <p:cNvSpPr/>
          <p:nvPr/>
        </p:nvSpPr>
        <p:spPr>
          <a:xfrm>
            <a:off x="640080" y="5623560"/>
            <a:ext cx="10881360" cy="777240"/>
          </a:xfrm>
          <a:prstGeom prst="roundRect">
            <a:avLst>
              <a:gd name="adj" fmla="val 11765"/>
            </a:avLst>
          </a:prstGeom>
          <a:solidFill>
            <a:srgbClr val="153E28"/>
          </a:solidFill>
          <a:ln/>
        </p:spPr>
      </p:sp>
      <p:sp>
        <p:nvSpPr>
          <p:cNvPr id="17" name="Text 15"/>
          <p:cNvSpPr txBox="1"/>
          <p:nvPr/>
        </p:nvSpPr>
        <p:spPr>
          <a:xfrm>
            <a:off x="914400" y="5623560"/>
            <a:ext cx="10332720" cy="777240"/>
          </a:xfrm>
          <a:prstGeom prst="rect">
            <a:avLst/>
          </a:prstGeom>
          <a:noFill/>
          <a:ln/>
        </p:spPr>
        <p:txBody>
          <a:bodyPr wrap="square" lIns="0" tIns="0" rIns="0" bIns="0" rtlCol="0" anchor="ctr"/>
          <a:lstStyle/>
          <a:p>
            <a:pPr indent="0" marL="0">
              <a:buNone/>
            </a:pPr>
            <a:r>
              <a:rPr lang="en-US" sz="1400" i="1" dirty="0">
                <a:solidFill>
                  <a:srgbClr val="E8A020"/>
                </a:solidFill>
                <a:latin typeface="Calibri" pitchFamily="34" charset="0"/>
                <a:ea typeface="Calibri" pitchFamily="34" charset="-122"/>
                <a:cs typeface="Calibri" pitchFamily="34" charset="-120"/>
              </a:rPr>
              <a:t>Este mismo concepto de "pila" (LIFO) lo vamos a formalizar como estructura de datos más adelante en el curso.</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EJEMPLO 2</a:t>
            </a:r>
            <a:endParaRPr lang="en-US" sz="1300" dirty="0"/>
          </a:p>
        </p:txBody>
      </p:sp>
      <p:sp>
        <p:nvSpPr>
          <p:cNvPr id="3" name="Text 1"/>
          <p:cNvSpPr txBox="1"/>
          <p:nvPr/>
        </p:nvSpPr>
        <p:spPr>
          <a:xfrm>
            <a:off x="640080" y="777240"/>
            <a:ext cx="10058400" cy="731520"/>
          </a:xfrm>
          <a:prstGeom prst="rect">
            <a:avLst/>
          </a:prstGeom>
          <a:noFill/>
          <a:ln/>
        </p:spPr>
        <p:txBody>
          <a:bodyPr wrap="square" lIns="0" tIns="0" rIns="0" bIns="0" rtlCol="0" anchor="ctr"/>
          <a:lstStyle/>
          <a:p>
            <a:pPr indent="0" marL="0">
              <a:buNone/>
            </a:pPr>
            <a:r>
              <a:rPr lang="en-US" sz="3000" b="1" dirty="0">
                <a:solidFill>
                  <a:srgbClr val="1A2723"/>
                </a:solidFill>
                <a:latin typeface="Cambria" pitchFamily="34" charset="0"/>
                <a:ea typeface="Cambria" pitchFamily="34" charset="-122"/>
                <a:cs typeface="Cambria" pitchFamily="34" charset="-120"/>
              </a:rPr>
              <a:t>Torres de Hanói</a:t>
            </a:r>
            <a:endParaRPr lang="en-US" sz="3000" dirty="0"/>
          </a:p>
        </p:txBody>
      </p:sp>
      <p:sp>
        <p:nvSpPr>
          <p:cNvPr id="4" name="Text 2"/>
          <p:cNvSpPr txBox="1"/>
          <p:nvPr/>
        </p:nvSpPr>
        <p:spPr>
          <a:xfrm>
            <a:off x="640080" y="1600200"/>
            <a:ext cx="10515600" cy="822960"/>
          </a:xfrm>
          <a:prstGeom prst="rect">
            <a:avLst/>
          </a:prstGeom>
          <a:noFill/>
          <a:ln/>
        </p:spPr>
        <p:txBody>
          <a:bodyPr wrap="square" lIns="0" tIns="0" rIns="0" bIns="0" rtlCol="0" anchor="ctr"/>
          <a:lstStyle/>
          <a:p>
            <a:pPr indent="0" marL="0">
              <a:lnSpc>
                <a:spcPct val="130000"/>
              </a:lnSpc>
              <a:buNone/>
            </a:pPr>
            <a:r>
              <a:rPr lang="en-US" sz="1600" dirty="0">
                <a:solidFill>
                  <a:srgbClr val="4A5568"/>
                </a:solidFill>
                <a:latin typeface="Calibri" pitchFamily="34" charset="0"/>
                <a:ea typeface="Calibri" pitchFamily="34" charset="-122"/>
                <a:cs typeface="Calibri" pitchFamily="34" charset="-120"/>
              </a:rPr>
              <a:t>3 postes. Un grupo de discos de distinto tamaño, apilados del más grande (abajo) al más chico (arriba) en el poste A. Objetivo: moverlos todos al poste C.</a:t>
            </a:r>
            <a:endParaRPr lang="en-US" sz="1600" dirty="0"/>
          </a:p>
        </p:txBody>
      </p:sp>
      <p:sp>
        <p:nvSpPr>
          <p:cNvPr id="5" name="Shape 3"/>
          <p:cNvSpPr/>
          <p:nvPr/>
        </p:nvSpPr>
        <p:spPr>
          <a:xfrm>
            <a:off x="1737360" y="5029200"/>
            <a:ext cx="2011680" cy="109728"/>
          </a:xfrm>
          <a:prstGeom prst="rect">
            <a:avLst/>
          </a:prstGeom>
          <a:solidFill>
            <a:srgbClr val="1A2723"/>
          </a:solidFill>
          <a:ln/>
        </p:spPr>
      </p:sp>
      <p:sp>
        <p:nvSpPr>
          <p:cNvPr id="6" name="Shape 4"/>
          <p:cNvSpPr/>
          <p:nvPr/>
        </p:nvSpPr>
        <p:spPr>
          <a:xfrm>
            <a:off x="2711196" y="2926080"/>
            <a:ext cx="64008" cy="2240280"/>
          </a:xfrm>
          <a:prstGeom prst="rect">
            <a:avLst/>
          </a:prstGeom>
          <a:solidFill>
            <a:srgbClr val="1A2723"/>
          </a:solidFill>
          <a:ln/>
        </p:spPr>
      </p:sp>
      <p:sp>
        <p:nvSpPr>
          <p:cNvPr id="7" name="Shape 5"/>
          <p:cNvSpPr/>
          <p:nvPr/>
        </p:nvSpPr>
        <p:spPr>
          <a:xfrm>
            <a:off x="1874520" y="4672584"/>
            <a:ext cx="1737360" cy="310896"/>
          </a:xfrm>
          <a:prstGeom prst="roundRect">
            <a:avLst>
              <a:gd name="adj" fmla="val 14706"/>
            </a:avLst>
          </a:prstGeom>
          <a:solidFill>
            <a:srgbClr val="2E8B57"/>
          </a:solidFill>
          <a:ln w="12700">
            <a:solidFill>
              <a:srgbClr val="0E4525"/>
            </a:solidFill>
            <a:prstDash val="solid"/>
          </a:ln>
        </p:spPr>
      </p:sp>
      <p:sp>
        <p:nvSpPr>
          <p:cNvPr id="8" name="Shape 6"/>
          <p:cNvSpPr/>
          <p:nvPr/>
        </p:nvSpPr>
        <p:spPr>
          <a:xfrm>
            <a:off x="2072640" y="4315968"/>
            <a:ext cx="1341120" cy="310896"/>
          </a:xfrm>
          <a:prstGeom prst="roundRect">
            <a:avLst>
              <a:gd name="adj" fmla="val 14706"/>
            </a:avLst>
          </a:prstGeom>
          <a:solidFill>
            <a:srgbClr val="2E8B57"/>
          </a:solidFill>
          <a:ln w="12700">
            <a:solidFill>
              <a:srgbClr val="0E4525"/>
            </a:solidFill>
            <a:prstDash val="solid"/>
          </a:ln>
        </p:spPr>
      </p:sp>
      <p:sp>
        <p:nvSpPr>
          <p:cNvPr id="9" name="Shape 7"/>
          <p:cNvSpPr/>
          <p:nvPr/>
        </p:nvSpPr>
        <p:spPr>
          <a:xfrm>
            <a:off x="2270760" y="3959352"/>
            <a:ext cx="944880" cy="310896"/>
          </a:xfrm>
          <a:prstGeom prst="roundRect">
            <a:avLst>
              <a:gd name="adj" fmla="val 14706"/>
            </a:avLst>
          </a:prstGeom>
          <a:solidFill>
            <a:srgbClr val="2E8B57"/>
          </a:solidFill>
          <a:ln w="12700">
            <a:solidFill>
              <a:srgbClr val="0E4525"/>
            </a:solidFill>
            <a:prstDash val="solid"/>
          </a:ln>
        </p:spPr>
      </p:sp>
      <p:sp>
        <p:nvSpPr>
          <p:cNvPr id="10" name="Text 8"/>
          <p:cNvSpPr txBox="1"/>
          <p:nvPr/>
        </p:nvSpPr>
        <p:spPr>
          <a:xfrm>
            <a:off x="1737360" y="5193792"/>
            <a:ext cx="2011680" cy="365760"/>
          </a:xfrm>
          <a:prstGeom prst="rect">
            <a:avLst/>
          </a:prstGeom>
          <a:noFill/>
          <a:ln/>
        </p:spPr>
        <p:txBody>
          <a:bodyPr wrap="square" lIns="0" tIns="0" rIns="0" bIns="0" rtlCol="0" anchor="ctr"/>
          <a:lstStyle/>
          <a:p>
            <a:pPr algn="ctr" indent="0" marL="0">
              <a:buNone/>
            </a:pPr>
            <a:r>
              <a:rPr lang="en-US" sz="1400" b="1" dirty="0">
                <a:solidFill>
                  <a:srgbClr val="4A5568"/>
                </a:solidFill>
                <a:latin typeface="Calibri" pitchFamily="34" charset="0"/>
                <a:ea typeface="Calibri" pitchFamily="34" charset="-122"/>
                <a:cs typeface="Calibri" pitchFamily="34" charset="-120"/>
              </a:rPr>
              <a:t>A · inicio</a:t>
            </a:r>
            <a:endParaRPr lang="en-US" sz="1400" dirty="0"/>
          </a:p>
        </p:txBody>
      </p:sp>
      <p:sp>
        <p:nvSpPr>
          <p:cNvPr id="11" name="Shape 9"/>
          <p:cNvSpPr/>
          <p:nvPr/>
        </p:nvSpPr>
        <p:spPr>
          <a:xfrm>
            <a:off x="5074920" y="5029200"/>
            <a:ext cx="2011680" cy="109728"/>
          </a:xfrm>
          <a:prstGeom prst="rect">
            <a:avLst/>
          </a:prstGeom>
          <a:solidFill>
            <a:srgbClr val="1A2723"/>
          </a:solidFill>
          <a:ln/>
        </p:spPr>
      </p:sp>
      <p:sp>
        <p:nvSpPr>
          <p:cNvPr id="12" name="Shape 10"/>
          <p:cNvSpPr/>
          <p:nvPr/>
        </p:nvSpPr>
        <p:spPr>
          <a:xfrm>
            <a:off x="6048756" y="2926080"/>
            <a:ext cx="64008" cy="2240280"/>
          </a:xfrm>
          <a:prstGeom prst="rect">
            <a:avLst/>
          </a:prstGeom>
          <a:solidFill>
            <a:srgbClr val="1A2723"/>
          </a:solidFill>
          <a:ln/>
        </p:spPr>
      </p:sp>
      <p:sp>
        <p:nvSpPr>
          <p:cNvPr id="13" name="Text 11"/>
          <p:cNvSpPr txBox="1"/>
          <p:nvPr/>
        </p:nvSpPr>
        <p:spPr>
          <a:xfrm>
            <a:off x="5074920" y="5193792"/>
            <a:ext cx="2011680" cy="365760"/>
          </a:xfrm>
          <a:prstGeom prst="rect">
            <a:avLst/>
          </a:prstGeom>
          <a:noFill/>
          <a:ln/>
        </p:spPr>
        <p:txBody>
          <a:bodyPr wrap="square" lIns="0" tIns="0" rIns="0" bIns="0" rtlCol="0" anchor="ctr"/>
          <a:lstStyle/>
          <a:p>
            <a:pPr algn="ctr" indent="0" marL="0">
              <a:buNone/>
            </a:pPr>
            <a:r>
              <a:rPr lang="en-US" sz="1400" b="1" dirty="0">
                <a:solidFill>
                  <a:srgbClr val="4A5568"/>
                </a:solidFill>
                <a:latin typeface="Calibri" pitchFamily="34" charset="0"/>
                <a:ea typeface="Calibri" pitchFamily="34" charset="-122"/>
                <a:cs typeface="Calibri" pitchFamily="34" charset="-120"/>
              </a:rPr>
              <a:t>B · auxiliar</a:t>
            </a:r>
            <a:endParaRPr lang="en-US" sz="1400" dirty="0"/>
          </a:p>
        </p:txBody>
      </p:sp>
      <p:sp>
        <p:nvSpPr>
          <p:cNvPr id="14" name="Shape 12"/>
          <p:cNvSpPr/>
          <p:nvPr/>
        </p:nvSpPr>
        <p:spPr>
          <a:xfrm>
            <a:off x="8412480" y="5029200"/>
            <a:ext cx="2011680" cy="109728"/>
          </a:xfrm>
          <a:prstGeom prst="rect">
            <a:avLst/>
          </a:prstGeom>
          <a:solidFill>
            <a:srgbClr val="1A2723"/>
          </a:solidFill>
          <a:ln/>
        </p:spPr>
      </p:sp>
      <p:sp>
        <p:nvSpPr>
          <p:cNvPr id="15" name="Shape 13"/>
          <p:cNvSpPr/>
          <p:nvPr/>
        </p:nvSpPr>
        <p:spPr>
          <a:xfrm>
            <a:off x="9386316" y="2926080"/>
            <a:ext cx="64008" cy="2240280"/>
          </a:xfrm>
          <a:prstGeom prst="rect">
            <a:avLst/>
          </a:prstGeom>
          <a:solidFill>
            <a:srgbClr val="1A2723"/>
          </a:solidFill>
          <a:ln/>
        </p:spPr>
      </p:sp>
      <p:sp>
        <p:nvSpPr>
          <p:cNvPr id="16" name="Text 14"/>
          <p:cNvSpPr txBox="1"/>
          <p:nvPr/>
        </p:nvSpPr>
        <p:spPr>
          <a:xfrm>
            <a:off x="8412480" y="5193792"/>
            <a:ext cx="2011680" cy="365760"/>
          </a:xfrm>
          <a:prstGeom prst="rect">
            <a:avLst/>
          </a:prstGeom>
          <a:noFill/>
          <a:ln/>
        </p:spPr>
        <p:txBody>
          <a:bodyPr wrap="square" lIns="0" tIns="0" rIns="0" bIns="0" rtlCol="0" anchor="ctr"/>
          <a:lstStyle/>
          <a:p>
            <a:pPr algn="ctr" indent="0" marL="0">
              <a:buNone/>
            </a:pPr>
            <a:r>
              <a:rPr lang="en-US" sz="1400" b="1" dirty="0">
                <a:solidFill>
                  <a:srgbClr val="4A5568"/>
                </a:solidFill>
                <a:latin typeface="Calibri" pitchFamily="34" charset="0"/>
                <a:ea typeface="Calibri" pitchFamily="34" charset="-122"/>
                <a:cs typeface="Calibri" pitchFamily="34" charset="-120"/>
              </a:rPr>
              <a:t>C · destino</a:t>
            </a:r>
            <a:endParaRPr lang="en-US" sz="1400" dirty="0"/>
          </a:p>
        </p:txBody>
      </p:sp>
      <p:sp>
        <p:nvSpPr>
          <p:cNvPr id="17" name="Shape 15"/>
          <p:cNvSpPr/>
          <p:nvPr/>
        </p:nvSpPr>
        <p:spPr>
          <a:xfrm>
            <a:off x="640080" y="5806440"/>
            <a:ext cx="10881360" cy="685800"/>
          </a:xfrm>
          <a:prstGeom prst="roundRect">
            <a:avLst>
              <a:gd name="adj" fmla="val 13333"/>
            </a:avLst>
          </a:prstGeom>
          <a:solidFill>
            <a:srgbClr val="FFF8EC"/>
          </a:solidFill>
          <a:ln w="12700">
            <a:solidFill>
              <a:srgbClr val="E8A020"/>
            </a:solidFill>
            <a:prstDash val="solid"/>
          </a:ln>
        </p:spPr>
      </p:sp>
      <p:sp>
        <p:nvSpPr>
          <p:cNvPr id="18" name="Text 16"/>
          <p:cNvSpPr txBox="1"/>
          <p:nvPr/>
        </p:nvSpPr>
        <p:spPr>
          <a:xfrm>
            <a:off x="914400" y="5806440"/>
            <a:ext cx="10332720" cy="685800"/>
          </a:xfrm>
          <a:prstGeom prst="rect">
            <a:avLst/>
          </a:prstGeom>
          <a:noFill/>
          <a:ln/>
        </p:spPr>
        <p:txBody>
          <a:bodyPr wrap="square" lIns="0" tIns="0" rIns="0" bIns="0" rtlCol="0" anchor="ctr"/>
          <a:lstStyle/>
          <a:p>
            <a:pPr indent="0" marL="0">
              <a:buNone/>
            </a:pPr>
            <a:r>
              <a:rPr lang="en-US" sz="1400" b="1" dirty="0">
                <a:solidFill>
                  <a:srgbClr val="B07800"/>
                </a:solidFill>
                <a:latin typeface="Calibri" pitchFamily="34" charset="0"/>
                <a:ea typeface="Calibri" pitchFamily="34" charset="-122"/>
                <a:cs typeface="Calibri" pitchFamily="34" charset="-120"/>
              </a:rPr>
              <a:t>Reglas: solo se mueve un disco a la vez, y nunca se pone un disco grande sobre uno más chico.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LA IDEA RECURSIVA</a:t>
            </a:r>
            <a:endParaRPr lang="en-US" sz="1300" dirty="0"/>
          </a:p>
        </p:txBody>
      </p:sp>
      <p:sp>
        <p:nvSpPr>
          <p:cNvPr id="3" name="Text 1"/>
          <p:cNvSpPr txBox="1"/>
          <p:nvPr/>
        </p:nvSpPr>
        <p:spPr>
          <a:xfrm>
            <a:off x="640080" y="777240"/>
            <a:ext cx="10515600" cy="731520"/>
          </a:xfrm>
          <a:prstGeom prst="rect">
            <a:avLst/>
          </a:prstGeom>
          <a:noFill/>
          <a:ln/>
        </p:spPr>
        <p:txBody>
          <a:bodyPr wrap="square" lIns="0" tIns="0" rIns="0" bIns="0" rtlCol="0" anchor="ctr"/>
          <a:lstStyle/>
          <a:p>
            <a:pPr indent="0" marL="0">
              <a:buNone/>
            </a:pPr>
            <a:r>
              <a:rPr lang="en-US" sz="2600" b="1" dirty="0">
                <a:solidFill>
                  <a:srgbClr val="1A2723"/>
                </a:solidFill>
                <a:latin typeface="Cambria" pitchFamily="34" charset="0"/>
                <a:ea typeface="Cambria" pitchFamily="34" charset="-122"/>
                <a:cs typeface="Cambria" pitchFamily="34" charset="-120"/>
              </a:rPr>
              <a:t>Mover n discos de A a C, usando B de apoyo</a:t>
            </a:r>
            <a:endParaRPr lang="en-US" sz="2600" dirty="0"/>
          </a:p>
        </p:txBody>
      </p:sp>
      <p:sp>
        <p:nvSpPr>
          <p:cNvPr id="4" name="Shape 2"/>
          <p:cNvSpPr/>
          <p:nvPr/>
        </p:nvSpPr>
        <p:spPr>
          <a:xfrm>
            <a:off x="640080" y="1920240"/>
            <a:ext cx="10881360" cy="1234440"/>
          </a:xfrm>
          <a:prstGeom prst="roundRect">
            <a:avLst>
              <a:gd name="adj" fmla="val 8889"/>
            </a:avLst>
          </a:prstGeom>
          <a:solidFill>
            <a:srgbClr val="E8F5EE"/>
          </a:solidFill>
          <a:ln/>
        </p:spPr>
      </p:sp>
      <p:sp>
        <p:nvSpPr>
          <p:cNvPr id="5" name="Shape 3"/>
          <p:cNvSpPr/>
          <p:nvPr/>
        </p:nvSpPr>
        <p:spPr>
          <a:xfrm>
            <a:off x="914400" y="2194560"/>
            <a:ext cx="685800" cy="685800"/>
          </a:xfrm>
          <a:prstGeom prst="ellipse">
            <a:avLst/>
          </a:prstGeom>
          <a:solidFill>
            <a:srgbClr val="1A6B3C"/>
          </a:solidFill>
          <a:ln/>
        </p:spPr>
      </p:sp>
      <p:sp>
        <p:nvSpPr>
          <p:cNvPr id="6" name="Text 4"/>
          <p:cNvSpPr txBox="1"/>
          <p:nvPr/>
        </p:nvSpPr>
        <p:spPr>
          <a:xfrm>
            <a:off x="914400" y="219456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5"/>
          <p:cNvSpPr txBox="1"/>
          <p:nvPr/>
        </p:nvSpPr>
        <p:spPr>
          <a:xfrm>
            <a:off x="1874520" y="2057400"/>
            <a:ext cx="9418320" cy="457200"/>
          </a:xfrm>
          <a:prstGeom prst="rect">
            <a:avLst/>
          </a:prstGeom>
          <a:noFill/>
          <a:ln/>
        </p:spPr>
        <p:txBody>
          <a:bodyPr wrap="square" lIns="0" tIns="0" rIns="0" bIns="0" rtlCol="0" anchor="ctr"/>
          <a:lstStyle/>
          <a:p>
            <a:pPr indent="0" marL="0">
              <a:buNone/>
            </a:pPr>
            <a:r>
              <a:rPr lang="en-US" sz="1600" b="1" dirty="0">
                <a:solidFill>
                  <a:srgbClr val="0E4525"/>
                </a:solidFill>
                <a:latin typeface="Cambria" pitchFamily="34" charset="0"/>
                <a:ea typeface="Cambria" pitchFamily="34" charset="-122"/>
                <a:cs typeface="Cambria" pitchFamily="34" charset="-120"/>
              </a:rPr>
              <a:t>Mover los n−1 discos de arriba de A a B</a:t>
            </a:r>
            <a:endParaRPr lang="en-US" sz="1600" dirty="0"/>
          </a:p>
        </p:txBody>
      </p:sp>
      <p:sp>
        <p:nvSpPr>
          <p:cNvPr id="8" name="Text 6"/>
          <p:cNvSpPr txBox="1"/>
          <p:nvPr/>
        </p:nvSpPr>
        <p:spPr>
          <a:xfrm>
            <a:off x="1874520" y="2514600"/>
            <a:ext cx="9418320" cy="548640"/>
          </a:xfrm>
          <a:prstGeom prst="rect">
            <a:avLst/>
          </a:prstGeom>
          <a:noFill/>
          <a:ln/>
        </p:spPr>
        <p:txBody>
          <a:bodyPr wrap="square" lIns="0" tIns="0" rIns="0" bIns="0" rtlCol="0" anchor="ctr"/>
          <a:lstStyle/>
          <a:p>
            <a:pPr indent="0" marL="0">
              <a:lnSpc>
                <a:spcPct val="120000"/>
              </a:lnSpc>
              <a:buNone/>
            </a:pPr>
            <a:r>
              <a:rPr lang="en-US" sz="1300" dirty="0">
                <a:solidFill>
                  <a:srgbClr val="4A5568"/>
                </a:solidFill>
                <a:latin typeface="Calibri" pitchFamily="34" charset="0"/>
                <a:ea typeface="Calibri" pitchFamily="34" charset="-122"/>
                <a:cs typeface="Calibri" pitchFamily="34" charset="-120"/>
              </a:rPr>
              <a:t>(usando C como apoyo temporal) — un subproblema más pequeño del mismo tipo.</a:t>
            </a:r>
            <a:endParaRPr lang="en-US" sz="1300" dirty="0"/>
          </a:p>
        </p:txBody>
      </p:sp>
      <p:sp>
        <p:nvSpPr>
          <p:cNvPr id="9" name="Shape 7"/>
          <p:cNvSpPr/>
          <p:nvPr/>
        </p:nvSpPr>
        <p:spPr>
          <a:xfrm>
            <a:off x="640080" y="3337560"/>
            <a:ext cx="10881360" cy="1234440"/>
          </a:xfrm>
          <a:prstGeom prst="roundRect">
            <a:avLst>
              <a:gd name="adj" fmla="val 8889"/>
            </a:avLst>
          </a:prstGeom>
          <a:solidFill>
            <a:srgbClr val="E8F5EE"/>
          </a:solidFill>
          <a:ln/>
        </p:spPr>
      </p:sp>
      <p:sp>
        <p:nvSpPr>
          <p:cNvPr id="10" name="Shape 8"/>
          <p:cNvSpPr/>
          <p:nvPr/>
        </p:nvSpPr>
        <p:spPr>
          <a:xfrm>
            <a:off x="914400" y="3611880"/>
            <a:ext cx="685800" cy="685800"/>
          </a:xfrm>
          <a:prstGeom prst="ellipse">
            <a:avLst/>
          </a:prstGeom>
          <a:solidFill>
            <a:srgbClr val="1A6B3C"/>
          </a:solidFill>
          <a:ln/>
        </p:spPr>
      </p:sp>
      <p:sp>
        <p:nvSpPr>
          <p:cNvPr id="11" name="Text 9"/>
          <p:cNvSpPr txBox="1"/>
          <p:nvPr/>
        </p:nvSpPr>
        <p:spPr>
          <a:xfrm>
            <a:off x="914400" y="36118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2" name="Text 10"/>
          <p:cNvSpPr txBox="1"/>
          <p:nvPr/>
        </p:nvSpPr>
        <p:spPr>
          <a:xfrm>
            <a:off x="1874520" y="3474720"/>
            <a:ext cx="9418320" cy="457200"/>
          </a:xfrm>
          <a:prstGeom prst="rect">
            <a:avLst/>
          </a:prstGeom>
          <a:noFill/>
          <a:ln/>
        </p:spPr>
        <p:txBody>
          <a:bodyPr wrap="square" lIns="0" tIns="0" rIns="0" bIns="0" rtlCol="0" anchor="ctr"/>
          <a:lstStyle/>
          <a:p>
            <a:pPr indent="0" marL="0">
              <a:buNone/>
            </a:pPr>
            <a:r>
              <a:rPr lang="en-US" sz="1600" b="1" dirty="0">
                <a:solidFill>
                  <a:srgbClr val="0E4525"/>
                </a:solidFill>
                <a:latin typeface="Cambria" pitchFamily="34" charset="0"/>
                <a:ea typeface="Cambria" pitchFamily="34" charset="-122"/>
                <a:cs typeface="Cambria" pitchFamily="34" charset="-120"/>
              </a:rPr>
              <a:t>Mover el disco más grande, el que queda solo en A, directo a C</a:t>
            </a:r>
            <a:endParaRPr lang="en-US" sz="1600" dirty="0"/>
          </a:p>
        </p:txBody>
      </p:sp>
      <p:sp>
        <p:nvSpPr>
          <p:cNvPr id="13" name="Text 11"/>
          <p:cNvSpPr txBox="1"/>
          <p:nvPr/>
        </p:nvSpPr>
        <p:spPr>
          <a:xfrm>
            <a:off x="1874520" y="3931920"/>
            <a:ext cx="9418320" cy="548640"/>
          </a:xfrm>
          <a:prstGeom prst="rect">
            <a:avLst/>
          </a:prstGeom>
          <a:noFill/>
          <a:ln/>
        </p:spPr>
        <p:txBody>
          <a:bodyPr wrap="square" lIns="0" tIns="0" rIns="0" bIns="0" rtlCol="0" anchor="ctr"/>
          <a:lstStyle/>
          <a:p>
            <a:pPr indent="0" marL="0">
              <a:lnSpc>
                <a:spcPct val="120000"/>
              </a:lnSpc>
              <a:buNone/>
            </a:pPr>
            <a:r>
              <a:rPr lang="en-US" sz="1300" dirty="0">
                <a:solidFill>
                  <a:srgbClr val="4A5568"/>
                </a:solidFill>
                <a:latin typeface="Calibri" pitchFamily="34" charset="0"/>
                <a:ea typeface="Calibri" pitchFamily="34" charset="-122"/>
                <a:cs typeface="Calibri" pitchFamily="34" charset="-120"/>
              </a:rPr>
              <a:t>este es, en cierto sentido, el "caso base" de cada nivel.</a:t>
            </a:r>
            <a:endParaRPr lang="en-US" sz="1300" dirty="0"/>
          </a:p>
        </p:txBody>
      </p:sp>
      <p:sp>
        <p:nvSpPr>
          <p:cNvPr id="14" name="Shape 12"/>
          <p:cNvSpPr/>
          <p:nvPr/>
        </p:nvSpPr>
        <p:spPr>
          <a:xfrm>
            <a:off x="640080" y="4754880"/>
            <a:ext cx="10881360" cy="1234440"/>
          </a:xfrm>
          <a:prstGeom prst="roundRect">
            <a:avLst>
              <a:gd name="adj" fmla="val 8889"/>
            </a:avLst>
          </a:prstGeom>
          <a:solidFill>
            <a:srgbClr val="E8F5EE"/>
          </a:solidFill>
          <a:ln/>
        </p:spPr>
      </p:sp>
      <p:sp>
        <p:nvSpPr>
          <p:cNvPr id="15" name="Shape 13"/>
          <p:cNvSpPr/>
          <p:nvPr/>
        </p:nvSpPr>
        <p:spPr>
          <a:xfrm>
            <a:off x="914400" y="5029200"/>
            <a:ext cx="685800" cy="685800"/>
          </a:xfrm>
          <a:prstGeom prst="ellipse">
            <a:avLst/>
          </a:prstGeom>
          <a:solidFill>
            <a:srgbClr val="1A6B3C"/>
          </a:solidFill>
          <a:ln/>
        </p:spPr>
      </p:sp>
      <p:sp>
        <p:nvSpPr>
          <p:cNvPr id="16" name="Text 14"/>
          <p:cNvSpPr txBox="1"/>
          <p:nvPr/>
        </p:nvSpPr>
        <p:spPr>
          <a:xfrm>
            <a:off x="914400" y="50292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7" name="Text 15"/>
          <p:cNvSpPr txBox="1"/>
          <p:nvPr/>
        </p:nvSpPr>
        <p:spPr>
          <a:xfrm>
            <a:off x="1874520" y="4892040"/>
            <a:ext cx="9418320" cy="457200"/>
          </a:xfrm>
          <a:prstGeom prst="rect">
            <a:avLst/>
          </a:prstGeom>
          <a:noFill/>
          <a:ln/>
        </p:spPr>
        <p:txBody>
          <a:bodyPr wrap="square" lIns="0" tIns="0" rIns="0" bIns="0" rtlCol="0" anchor="ctr"/>
          <a:lstStyle/>
          <a:p>
            <a:pPr indent="0" marL="0">
              <a:buNone/>
            </a:pPr>
            <a:r>
              <a:rPr lang="en-US" sz="1600" b="1" dirty="0">
                <a:solidFill>
                  <a:srgbClr val="0E4525"/>
                </a:solidFill>
                <a:latin typeface="Cambria" pitchFamily="34" charset="0"/>
                <a:ea typeface="Cambria" pitchFamily="34" charset="-122"/>
                <a:cs typeface="Cambria" pitchFamily="34" charset="-120"/>
              </a:rPr>
              <a:t>Mover los n−1 discos que quedaron en B, de B a C</a:t>
            </a:r>
            <a:endParaRPr lang="en-US" sz="1600" dirty="0"/>
          </a:p>
        </p:txBody>
      </p:sp>
      <p:sp>
        <p:nvSpPr>
          <p:cNvPr id="18" name="Text 16"/>
          <p:cNvSpPr txBox="1"/>
          <p:nvPr/>
        </p:nvSpPr>
        <p:spPr>
          <a:xfrm>
            <a:off x="1874520" y="5349240"/>
            <a:ext cx="9418320" cy="548640"/>
          </a:xfrm>
          <a:prstGeom prst="rect">
            <a:avLst/>
          </a:prstGeom>
          <a:noFill/>
          <a:ln/>
        </p:spPr>
        <p:txBody>
          <a:bodyPr wrap="square" lIns="0" tIns="0" rIns="0" bIns="0" rtlCol="0" anchor="ctr"/>
          <a:lstStyle/>
          <a:p>
            <a:pPr indent="0" marL="0">
              <a:lnSpc>
                <a:spcPct val="120000"/>
              </a:lnSpc>
              <a:buNone/>
            </a:pPr>
            <a:r>
              <a:rPr lang="en-US" sz="1300" dirty="0">
                <a:solidFill>
                  <a:srgbClr val="4A5568"/>
                </a:solidFill>
                <a:latin typeface="Calibri" pitchFamily="34" charset="0"/>
                <a:ea typeface="Calibri" pitchFamily="34" charset="-122"/>
                <a:cs typeface="Calibri" pitchFamily="34" charset="-120"/>
              </a:rPr>
              <a:t>(usando A como apoyo) — otra vez el mismo subproblema, pero ya casi terminado.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PARA PENSAR</a:t>
            </a:r>
            <a:endParaRPr lang="en-US" sz="1300" dirty="0"/>
          </a:p>
        </p:txBody>
      </p:sp>
      <p:sp>
        <p:nvSpPr>
          <p:cNvPr id="3" name="Shape 1"/>
          <p:cNvSpPr/>
          <p:nvPr/>
        </p:nvSpPr>
        <p:spPr>
          <a:xfrm>
            <a:off x="8686800" y="3886200"/>
            <a:ext cx="2011680" cy="109728"/>
          </a:xfrm>
          <a:prstGeom prst="rect">
            <a:avLst/>
          </a:prstGeom>
          <a:solidFill>
            <a:srgbClr val="1A2723"/>
          </a:solidFill>
          <a:ln/>
        </p:spPr>
      </p:sp>
      <p:sp>
        <p:nvSpPr>
          <p:cNvPr id="4" name="Shape 2"/>
          <p:cNvSpPr/>
          <p:nvPr/>
        </p:nvSpPr>
        <p:spPr>
          <a:xfrm>
            <a:off x="9660636" y="1783080"/>
            <a:ext cx="64008" cy="2240280"/>
          </a:xfrm>
          <a:prstGeom prst="rect">
            <a:avLst/>
          </a:prstGeom>
          <a:solidFill>
            <a:srgbClr val="1A2723"/>
          </a:solidFill>
          <a:ln/>
        </p:spPr>
      </p:sp>
      <p:sp>
        <p:nvSpPr>
          <p:cNvPr id="5" name="Shape 3"/>
          <p:cNvSpPr/>
          <p:nvPr/>
        </p:nvSpPr>
        <p:spPr>
          <a:xfrm>
            <a:off x="8823960" y="3529584"/>
            <a:ext cx="1737360" cy="310896"/>
          </a:xfrm>
          <a:prstGeom prst="roundRect">
            <a:avLst>
              <a:gd name="adj" fmla="val 14706"/>
            </a:avLst>
          </a:prstGeom>
          <a:solidFill>
            <a:srgbClr val="2E8B57"/>
          </a:solidFill>
          <a:ln w="12700">
            <a:solidFill>
              <a:srgbClr val="0E4525"/>
            </a:solidFill>
            <a:prstDash val="solid"/>
          </a:ln>
        </p:spPr>
      </p:sp>
      <p:sp>
        <p:nvSpPr>
          <p:cNvPr id="6" name="Shape 4"/>
          <p:cNvSpPr/>
          <p:nvPr/>
        </p:nvSpPr>
        <p:spPr>
          <a:xfrm>
            <a:off x="9022080" y="3172968"/>
            <a:ext cx="1341120" cy="310896"/>
          </a:xfrm>
          <a:prstGeom prst="roundRect">
            <a:avLst>
              <a:gd name="adj" fmla="val 14706"/>
            </a:avLst>
          </a:prstGeom>
          <a:solidFill>
            <a:srgbClr val="2E8B57"/>
          </a:solidFill>
          <a:ln w="12700">
            <a:solidFill>
              <a:srgbClr val="0E4525"/>
            </a:solidFill>
            <a:prstDash val="solid"/>
          </a:ln>
        </p:spPr>
      </p:sp>
      <p:sp>
        <p:nvSpPr>
          <p:cNvPr id="7" name="Shape 5"/>
          <p:cNvSpPr/>
          <p:nvPr/>
        </p:nvSpPr>
        <p:spPr>
          <a:xfrm>
            <a:off x="9220200" y="2816352"/>
            <a:ext cx="944880" cy="310896"/>
          </a:xfrm>
          <a:prstGeom prst="roundRect">
            <a:avLst>
              <a:gd name="adj" fmla="val 14706"/>
            </a:avLst>
          </a:prstGeom>
          <a:solidFill>
            <a:srgbClr val="2E8B57"/>
          </a:solidFill>
          <a:ln w="12700">
            <a:solidFill>
              <a:srgbClr val="0E4525"/>
            </a:solidFill>
            <a:prstDash val="solid"/>
          </a:ln>
        </p:spPr>
      </p:sp>
      <p:sp>
        <p:nvSpPr>
          <p:cNvPr id="8" name="Text 6"/>
          <p:cNvSpPr txBox="1"/>
          <p:nvPr/>
        </p:nvSpPr>
        <p:spPr>
          <a:xfrm>
            <a:off x="8686800" y="4050792"/>
            <a:ext cx="2011680" cy="365760"/>
          </a:xfrm>
          <a:prstGeom prst="rect">
            <a:avLst/>
          </a:prstGeom>
          <a:noFill/>
          <a:ln/>
        </p:spPr>
        <p:txBody>
          <a:bodyPr wrap="square" lIns="0" tIns="0" rIns="0" bIns="0" rtlCol="0" anchor="ctr"/>
          <a:lstStyle/>
          <a:p>
            <a:pPr algn="ctr" indent="0" marL="0">
              <a:buNone/>
            </a:pPr>
            <a:r>
              <a:rPr lang="en-US" sz="1400" b="1" dirty="0">
                <a:solidFill>
                  <a:srgbClr val="4A5568"/>
                </a:solidFill>
                <a:latin typeface="Calibri" pitchFamily="34" charset="0"/>
                <a:ea typeface="Calibri" pitchFamily="34" charset="-122"/>
                <a:cs typeface="Calibri" pitchFamily="34" charset="-120"/>
              </a:rPr>
              <a:t>3 discos</a:t>
            </a:r>
            <a:endParaRPr lang="en-US" sz="1400" dirty="0"/>
          </a:p>
        </p:txBody>
      </p:sp>
      <p:sp>
        <p:nvSpPr>
          <p:cNvPr id="9" name="Text 7"/>
          <p:cNvSpPr txBox="1"/>
          <p:nvPr/>
        </p:nvSpPr>
        <p:spPr>
          <a:xfrm>
            <a:off x="640080" y="1645920"/>
            <a:ext cx="7955280" cy="1645920"/>
          </a:xfrm>
          <a:prstGeom prst="rect">
            <a:avLst/>
          </a:prstGeom>
          <a:noFill/>
          <a:ln/>
        </p:spPr>
        <p:txBody>
          <a:bodyPr wrap="square" lIns="0" tIns="0" rIns="0" bIns="0" rtlCol="0" anchor="ctr"/>
          <a:lstStyle/>
          <a:p>
            <a:pPr indent="0" marL="0">
              <a:lnSpc>
                <a:spcPct val="120000"/>
              </a:lnSpc>
              <a:buNone/>
            </a:pPr>
            <a:r>
              <a:rPr lang="en-US" sz="2600" dirty="0">
                <a:solidFill>
                  <a:srgbClr val="1A2723"/>
                </a:solidFill>
                <a:latin typeface="Cambria" pitchFamily="34" charset="0"/>
                <a:ea typeface="Cambria" pitchFamily="34" charset="-122"/>
                <a:cs typeface="Cambria" pitchFamily="34" charset="-120"/>
              </a:rPr>
              <a:t>Con 3 discos, ¿cuál es la cantidad mínima de movimientos para pasarlos todos de A a C?</a:t>
            </a:r>
            <a:endParaRPr lang="en-US" sz="2600" dirty="0"/>
          </a:p>
        </p:txBody>
      </p:sp>
      <p:sp>
        <p:nvSpPr>
          <p:cNvPr id="10" name="Shape 8"/>
          <p:cNvSpPr/>
          <p:nvPr/>
        </p:nvSpPr>
        <p:spPr>
          <a:xfrm>
            <a:off x="640080" y="3429000"/>
            <a:ext cx="7680960" cy="914400"/>
          </a:xfrm>
          <a:prstGeom prst="roundRect">
            <a:avLst>
              <a:gd name="adj" fmla="val 12000"/>
            </a:avLst>
          </a:prstGeom>
          <a:solidFill>
            <a:srgbClr val="FFF8EC"/>
          </a:solidFill>
          <a:ln w="12700">
            <a:solidFill>
              <a:srgbClr val="E8A020"/>
            </a:solidFill>
            <a:prstDash val="solid"/>
          </a:ln>
        </p:spPr>
      </p:sp>
      <p:sp>
        <p:nvSpPr>
          <p:cNvPr id="11" name="Text 9"/>
          <p:cNvSpPr txBox="1"/>
          <p:nvPr/>
        </p:nvSpPr>
        <p:spPr>
          <a:xfrm>
            <a:off x="914400" y="3429000"/>
            <a:ext cx="7132320" cy="914400"/>
          </a:xfrm>
          <a:prstGeom prst="rect">
            <a:avLst/>
          </a:prstGeom>
          <a:noFill/>
          <a:ln/>
        </p:spPr>
        <p:txBody>
          <a:bodyPr wrap="square" lIns="0" tIns="0" rIns="0" bIns="0" rtlCol="0" anchor="ctr"/>
          <a:lstStyle/>
          <a:p>
            <a:pPr indent="0" marL="0">
              <a:buNone/>
            </a:pPr>
            <a:r>
              <a:rPr lang="en-US" sz="1500" b="1" dirty="0">
                <a:solidFill>
                  <a:srgbClr val="B07800"/>
                </a:solidFill>
                <a:latin typeface="Calibri" pitchFamily="34" charset="0"/>
                <a:ea typeface="Calibri" pitchFamily="34" charset="-122"/>
                <a:cs typeface="Calibri" pitchFamily="34" charset="-120"/>
              </a:rPr>
              <a:t>Pista: piensa en los 3 pasos de la diapositiva anterior, aplicados uno dentro del otro.</a:t>
            </a:r>
            <a:endParaRPr lang="en-US" sz="1500" dirty="0"/>
          </a:p>
        </p:txBody>
      </p:sp>
      <p:sp>
        <p:nvSpPr>
          <p:cNvPr id="12" name="Text 10"/>
          <p:cNvSpPr txBox="1"/>
          <p:nvPr/>
        </p:nvSpPr>
        <p:spPr>
          <a:xfrm>
            <a:off x="640080" y="4572000"/>
            <a:ext cx="8229600" cy="45720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Responde en el chat antes de seguir a la siguiente diapositiva →</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F5EE"/>
        </a:solidFill>
      </p:bgPr>
    </p:bg>
    <p:spTree>
      <p:nvGrpSpPr>
        <p:cNvPr id="1" name=""/>
        <p:cNvGrpSpPr/>
        <p:nvPr/>
      </p:nvGrpSpPr>
      <p:grpSpPr>
        <a:xfrm>
          <a:off x="0" y="0"/>
          <a:ext cx="0" cy="0"/>
          <a:chOff x="0" y="0"/>
          <a:chExt cx="0" cy="0"/>
        </a:xfrm>
      </p:grpSpPr>
      <p:sp>
        <p:nvSpPr>
          <p:cNvPr id="2" name="Text 0"/>
          <p:cNvSpPr txBox="1"/>
          <p:nvPr/>
        </p:nvSpPr>
        <p:spPr>
          <a:xfrm>
            <a:off x="640080" y="173736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LA RESPUESTA</a:t>
            </a:r>
            <a:endParaRPr lang="en-US" sz="1300" dirty="0"/>
          </a:p>
        </p:txBody>
      </p:sp>
      <p:sp>
        <p:nvSpPr>
          <p:cNvPr id="3" name="Text 1"/>
          <p:cNvSpPr txBox="1"/>
          <p:nvPr/>
        </p:nvSpPr>
        <p:spPr>
          <a:xfrm>
            <a:off x="640080" y="2103120"/>
            <a:ext cx="10881360" cy="1188720"/>
          </a:xfrm>
          <a:prstGeom prst="rect">
            <a:avLst/>
          </a:prstGeom>
          <a:noFill/>
          <a:ln/>
        </p:spPr>
        <p:txBody>
          <a:bodyPr wrap="square" lIns="0" tIns="0" rIns="0" bIns="0" rtlCol="0" anchor="ctr"/>
          <a:lstStyle/>
          <a:p>
            <a:pPr indent="0" marL="0">
              <a:lnSpc>
                <a:spcPct val="120000"/>
              </a:lnSpc>
              <a:buNone/>
            </a:pPr>
            <a:r>
              <a:rPr lang="en-US" sz="3300" b="1" dirty="0">
                <a:solidFill>
                  <a:srgbClr val="0E4525"/>
                </a:solidFill>
                <a:latin typeface="Cambria" pitchFamily="34" charset="0"/>
                <a:ea typeface="Cambria" pitchFamily="34" charset="-122"/>
                <a:cs typeface="Cambria" pitchFamily="34" charset="-120"/>
              </a:rPr>
              <a:t>7 movimientos </a:t>
            </a:r>
            <a:pPr indent="0" marL="0">
              <a:lnSpc>
                <a:spcPct val="120000"/>
              </a:lnSpc>
              <a:buNone/>
            </a:pPr>
            <a:r>
              <a:rPr lang="en-US" sz="3300" b="1" dirty="0">
                <a:solidFill>
                  <a:srgbClr val="0E4525"/>
                </a:solidFill>
                <a:latin typeface="Cambria" pitchFamily="34" charset="0"/>
                <a:ea typeface="Cambria" pitchFamily="34" charset="-122"/>
                <a:cs typeface="Cambria" pitchFamily="34" charset="-120"/>
              </a:rPr>
              <a:t>mínimo — y no es casualidad que sea 2³ − 1.</a:t>
            </a:r>
            <a:endParaRPr lang="en-US" sz="3300" dirty="0"/>
          </a:p>
        </p:txBody>
      </p:sp>
      <p:sp>
        <p:nvSpPr>
          <p:cNvPr id="4" name="Shape 2"/>
          <p:cNvSpPr/>
          <p:nvPr/>
        </p:nvSpPr>
        <p:spPr>
          <a:xfrm>
            <a:off x="640080" y="3520440"/>
            <a:ext cx="10881360" cy="1828800"/>
          </a:xfrm>
          <a:prstGeom prst="roundRect">
            <a:avLst>
              <a:gd name="adj" fmla="val 6000"/>
            </a:avLst>
          </a:prstGeom>
          <a:solidFill>
            <a:srgbClr val="FFFFFF"/>
          </a:solidFill>
          <a:ln w="19050">
            <a:solidFill>
              <a:srgbClr val="1A6B3C"/>
            </a:solidFill>
            <a:prstDash val="solid"/>
          </a:ln>
        </p:spPr>
      </p:sp>
      <p:sp>
        <p:nvSpPr>
          <p:cNvPr id="5" name="Text 3"/>
          <p:cNvSpPr txBox="1"/>
          <p:nvPr/>
        </p:nvSpPr>
        <p:spPr>
          <a:xfrm>
            <a:off x="914400" y="3520440"/>
            <a:ext cx="10332720" cy="1828800"/>
          </a:xfrm>
          <a:prstGeom prst="rect">
            <a:avLst/>
          </a:prstGeom>
          <a:noFill/>
          <a:ln/>
        </p:spPr>
        <p:txBody>
          <a:bodyPr wrap="square" lIns="0" tIns="0" rIns="0" bIns="0" rtlCol="0" anchor="ctr"/>
          <a:lstStyle/>
          <a:p>
            <a:pPr indent="0" marL="0">
              <a:lnSpc>
                <a:spcPct val="130000"/>
              </a:lnSpc>
              <a:buNone/>
            </a:pPr>
            <a:r>
              <a:rPr lang="en-US" sz="1550" dirty="0">
                <a:solidFill>
                  <a:srgbClr val="1A2723"/>
                </a:solidFill>
                <a:latin typeface="Calibri" pitchFamily="34" charset="0"/>
                <a:ea typeface="Calibri" pitchFamily="34" charset="-122"/>
                <a:cs typeface="Calibri" pitchFamily="34" charset="-120"/>
              </a:rPr>
              <a:t>Con n discos, la cantidad mínima de movimientos es </a:t>
            </a:r>
            <a:pPr indent="0" marL="0">
              <a:lnSpc>
                <a:spcPct val="130000"/>
              </a:lnSpc>
              <a:buNone/>
            </a:pPr>
            <a:r>
              <a:rPr lang="en-US" sz="1550" b="1" dirty="0">
                <a:solidFill>
                  <a:srgbClr val="1A6B3C"/>
                </a:solidFill>
                <a:latin typeface="Calibri" pitchFamily="34" charset="0"/>
                <a:ea typeface="Calibri" pitchFamily="34" charset="-122"/>
                <a:cs typeface="Calibri" pitchFamily="34" charset="-120"/>
              </a:rPr>
              <a:t>2ⁿ − 1</a:t>
            </a:r>
            <a:pPr indent="0" marL="0">
              <a:lnSpc>
                <a:spcPct val="130000"/>
              </a:lnSpc>
              <a:buNone/>
            </a:pPr>
            <a:r>
              <a:rPr lang="en-US" sz="1550" dirty="0">
                <a:solidFill>
                  <a:srgbClr val="1A2723"/>
                </a:solidFill>
                <a:latin typeface="Calibri" pitchFamily="34" charset="0"/>
                <a:ea typeface="Calibri" pitchFamily="34" charset="-122"/>
                <a:cs typeface="Calibri" pitchFamily="34" charset="-120"/>
              </a:rPr>
              <a:t>.</a:t>
            </a:r>
            <a:endParaRPr lang="en-US" sz="1550" dirty="0"/>
          </a:p>
          <a:p>
            <a:pPr indent="0" marL="0">
              <a:lnSpc>
                <a:spcPct val="130000"/>
              </a:lnSpc>
              <a:buNone/>
            </a:pPr>
            <a:endParaRPr lang="en-US" sz="1550" dirty="0"/>
          </a:p>
          <a:p>
            <a:pPr indent="0" marL="0">
              <a:lnSpc>
                <a:spcPct val="130000"/>
              </a:lnSpc>
              <a:buNone/>
            </a:pPr>
            <a:r>
              <a:rPr lang="en-US" sz="1550" dirty="0">
                <a:solidFill>
                  <a:srgbClr val="1A2723"/>
                </a:solidFill>
                <a:latin typeface="Calibri" pitchFamily="34" charset="0"/>
                <a:ea typeface="Calibri" pitchFamily="34" charset="-122"/>
                <a:cs typeface="Calibri" pitchFamily="34" charset="-120"/>
              </a:rPr>
              <a:t>Con 3 discos: 2³−1 = 7. Con 10 discos: 1,023. Con 20 discos: más de un millón. Esto crece </a:t>
            </a:r>
            <a:endParaRPr lang="en-US" sz="1550" dirty="0"/>
          </a:p>
          <a:p>
            <a:pPr indent="0" marL="0">
              <a:lnSpc>
                <a:spcPct val="130000"/>
              </a:lnSpc>
              <a:buNone/>
            </a:pPr>
            <a:r>
              <a:rPr lang="en-US" sz="1550" b="1" dirty="0">
                <a:solidFill>
                  <a:srgbClr val="C62828"/>
                </a:solidFill>
                <a:latin typeface="Calibri" pitchFamily="34" charset="0"/>
                <a:ea typeface="Calibri" pitchFamily="34" charset="-122"/>
                <a:cs typeface="Calibri" pitchFamily="34" charset="-120"/>
              </a:rPr>
              <a:t>exponencialmente</a:t>
            </a:r>
            <a:pPr indent="0" marL="0">
              <a:lnSpc>
                <a:spcPct val="130000"/>
              </a:lnSpc>
              <a:buNone/>
            </a:pPr>
            <a:r>
              <a:rPr lang="en-US" sz="1550" dirty="0">
                <a:solidFill>
                  <a:srgbClr val="1A2723"/>
                </a:solidFill>
                <a:latin typeface="Calibri" pitchFamily="34" charset="0"/>
                <a:ea typeface="Calibri" pitchFamily="34" charset="-122"/>
                <a:cs typeface="Calibri" pitchFamily="34" charset="-120"/>
              </a:rPr>
              <a:t> — mucho más rápido incluso que O(n²). Big O de la clase pasada, en acción otra vez.</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EJEMPLO 3 · UN VISTAZO RÁPIDO</a:t>
            </a:r>
            <a:endParaRPr lang="en-US" sz="1300" dirty="0"/>
          </a:p>
        </p:txBody>
      </p:sp>
      <p:sp>
        <p:nvSpPr>
          <p:cNvPr id="3" name="Text 1"/>
          <p:cNvSpPr txBox="1"/>
          <p:nvPr/>
        </p:nvSpPr>
        <p:spPr>
          <a:xfrm>
            <a:off x="640080" y="777240"/>
            <a:ext cx="10515600" cy="731520"/>
          </a:xfrm>
          <a:prstGeom prst="rect">
            <a:avLst/>
          </a:prstGeom>
          <a:noFill/>
          <a:ln/>
        </p:spPr>
        <p:txBody>
          <a:bodyPr wrap="square" lIns="0" tIns="0" rIns="0" bIns="0" rtlCol="0" anchor="ctr"/>
          <a:lstStyle/>
          <a:p>
            <a:pPr indent="0" marL="0">
              <a:buNone/>
            </a:pPr>
            <a:r>
              <a:rPr lang="en-US" sz="2700" b="1" dirty="0">
                <a:solidFill>
                  <a:srgbClr val="1A2723"/>
                </a:solidFill>
                <a:latin typeface="Cambria" pitchFamily="34" charset="0"/>
                <a:ea typeface="Cambria" pitchFamily="34" charset="-122"/>
                <a:cs typeface="Cambria" pitchFamily="34" charset="-120"/>
              </a:rPr>
              <a:t>Fibonacci: cuando la recursión se ramifica</a:t>
            </a:r>
            <a:endParaRPr lang="en-US" sz="2700" dirty="0"/>
          </a:p>
        </p:txBody>
      </p:sp>
      <p:sp>
        <p:nvSpPr>
          <p:cNvPr id="4" name="Text 2"/>
          <p:cNvSpPr txBox="1"/>
          <p:nvPr/>
        </p:nvSpPr>
        <p:spPr>
          <a:xfrm>
            <a:off x="640080" y="1645920"/>
            <a:ext cx="10515600" cy="548640"/>
          </a:xfrm>
          <a:prstGeom prst="rect">
            <a:avLst/>
          </a:prstGeom>
          <a:noFill/>
          <a:ln/>
        </p:spPr>
        <p:txBody>
          <a:bodyPr wrap="square" lIns="0" tIns="0" rIns="0" bIns="0" rtlCol="0" anchor="ctr"/>
          <a:lstStyle/>
          <a:p>
            <a:pPr indent="0" marL="0">
              <a:buNone/>
            </a:pPr>
            <a:r>
              <a:rPr lang="en-US" sz="1600" b="1" dirty="0">
                <a:solidFill>
                  <a:srgbClr val="1A2723"/>
                </a:solidFill>
                <a:latin typeface="Calibri" pitchFamily="34" charset="0"/>
                <a:ea typeface="Calibri" pitchFamily="34" charset="-122"/>
                <a:cs typeface="Calibri" pitchFamily="34" charset="-120"/>
              </a:rPr>
              <a:t>fib(n) = fib(n−1) + fib(n−2)</a:t>
            </a:r>
            <a:pPr indent="0" marL="0">
              <a:buNone/>
            </a:pPr>
            <a:r>
              <a:rPr lang="en-US" sz="1600" dirty="0">
                <a:solidFill>
                  <a:srgbClr val="4A5568"/>
                </a:solidFill>
                <a:latin typeface="Calibri" pitchFamily="34" charset="0"/>
                <a:ea typeface="Calibri" pitchFamily="34" charset="-122"/>
                <a:cs typeface="Calibri" pitchFamily="34" charset="-120"/>
              </a:rPr>
              <a:t>  — cada llamada genera DOS llamadas nuevas, no una sola.</a:t>
            </a:r>
            <a:endParaRPr lang="en-US" sz="1600" dirty="0"/>
          </a:p>
        </p:txBody>
      </p:sp>
      <p:sp>
        <p:nvSpPr>
          <p:cNvPr id="5" name="Shape 3"/>
          <p:cNvSpPr/>
          <p:nvPr/>
        </p:nvSpPr>
        <p:spPr>
          <a:xfrm>
            <a:off x="3886200" y="2788920"/>
            <a:ext cx="2194560" cy="548640"/>
          </a:xfrm>
          <a:prstGeom prst="line">
            <a:avLst/>
          </a:prstGeom>
          <a:noFill/>
          <a:ln w="19050">
            <a:solidFill>
              <a:srgbClr val="E8EBE8"/>
            </a:solidFill>
            <a:prstDash val="solid"/>
          </a:ln>
        </p:spPr>
      </p:sp>
      <p:sp>
        <p:nvSpPr>
          <p:cNvPr id="6" name="Shape 4"/>
          <p:cNvSpPr/>
          <p:nvPr/>
        </p:nvSpPr>
        <p:spPr>
          <a:xfrm>
            <a:off x="6080760" y="2788920"/>
            <a:ext cx="1920240" cy="548640"/>
          </a:xfrm>
          <a:prstGeom prst="line">
            <a:avLst/>
          </a:prstGeom>
          <a:noFill/>
          <a:ln w="19050">
            <a:solidFill>
              <a:srgbClr val="E8EBE8"/>
            </a:solidFill>
            <a:prstDash val="solid"/>
          </a:ln>
        </p:spPr>
      </p:sp>
      <p:sp>
        <p:nvSpPr>
          <p:cNvPr id="7" name="Shape 5"/>
          <p:cNvSpPr/>
          <p:nvPr/>
        </p:nvSpPr>
        <p:spPr>
          <a:xfrm>
            <a:off x="2697480" y="3749040"/>
            <a:ext cx="1188720" cy="548640"/>
          </a:xfrm>
          <a:prstGeom prst="line">
            <a:avLst/>
          </a:prstGeom>
          <a:noFill/>
          <a:ln w="19050">
            <a:solidFill>
              <a:srgbClr val="E8EBE8"/>
            </a:solidFill>
            <a:prstDash val="solid"/>
          </a:ln>
        </p:spPr>
      </p:sp>
      <p:sp>
        <p:nvSpPr>
          <p:cNvPr id="8" name="Shape 6"/>
          <p:cNvSpPr/>
          <p:nvPr/>
        </p:nvSpPr>
        <p:spPr>
          <a:xfrm>
            <a:off x="3886200" y="3749040"/>
            <a:ext cx="822960" cy="548640"/>
          </a:xfrm>
          <a:prstGeom prst="line">
            <a:avLst/>
          </a:prstGeom>
          <a:noFill/>
          <a:ln w="19050">
            <a:solidFill>
              <a:srgbClr val="E8EBE8"/>
            </a:solidFill>
            <a:prstDash val="solid"/>
          </a:ln>
        </p:spPr>
      </p:sp>
      <p:sp>
        <p:nvSpPr>
          <p:cNvPr id="9" name="Shape 7"/>
          <p:cNvSpPr/>
          <p:nvPr/>
        </p:nvSpPr>
        <p:spPr>
          <a:xfrm>
            <a:off x="6812280" y="3749040"/>
            <a:ext cx="1188720" cy="548640"/>
          </a:xfrm>
          <a:prstGeom prst="line">
            <a:avLst/>
          </a:prstGeom>
          <a:noFill/>
          <a:ln w="19050">
            <a:solidFill>
              <a:srgbClr val="E8EBE8"/>
            </a:solidFill>
            <a:prstDash val="solid"/>
          </a:ln>
        </p:spPr>
      </p:sp>
      <p:sp>
        <p:nvSpPr>
          <p:cNvPr id="10" name="Shape 8"/>
          <p:cNvSpPr/>
          <p:nvPr/>
        </p:nvSpPr>
        <p:spPr>
          <a:xfrm>
            <a:off x="8001000" y="3749040"/>
            <a:ext cx="1005840" cy="548640"/>
          </a:xfrm>
          <a:prstGeom prst="line">
            <a:avLst/>
          </a:prstGeom>
          <a:noFill/>
          <a:ln w="19050">
            <a:solidFill>
              <a:srgbClr val="E8EBE8"/>
            </a:solidFill>
            <a:prstDash val="solid"/>
          </a:ln>
        </p:spPr>
      </p:sp>
      <p:sp>
        <p:nvSpPr>
          <p:cNvPr id="11" name="Shape 9"/>
          <p:cNvSpPr/>
          <p:nvPr/>
        </p:nvSpPr>
        <p:spPr>
          <a:xfrm>
            <a:off x="5166360" y="2377440"/>
            <a:ext cx="1828800" cy="411480"/>
          </a:xfrm>
          <a:prstGeom prst="roundRect">
            <a:avLst>
              <a:gd name="adj" fmla="val 17778"/>
            </a:avLst>
          </a:prstGeom>
          <a:solidFill>
            <a:srgbClr val="E8F5EE"/>
          </a:solidFill>
          <a:ln w="15240">
            <a:solidFill>
              <a:srgbClr val="1A6B3C"/>
            </a:solidFill>
            <a:prstDash val="solid"/>
          </a:ln>
        </p:spPr>
      </p:sp>
      <p:sp>
        <p:nvSpPr>
          <p:cNvPr id="12" name="Text 10"/>
          <p:cNvSpPr txBox="1"/>
          <p:nvPr/>
        </p:nvSpPr>
        <p:spPr>
          <a:xfrm>
            <a:off x="5166360" y="2377440"/>
            <a:ext cx="1828800" cy="411480"/>
          </a:xfrm>
          <a:prstGeom prst="rect">
            <a:avLst/>
          </a:prstGeom>
          <a:noFill/>
          <a:ln/>
        </p:spPr>
        <p:txBody>
          <a:bodyPr wrap="square" lIns="0" tIns="0" rIns="0" bIns="0" rtlCol="0" anchor="ctr"/>
          <a:lstStyle/>
          <a:p>
            <a:pPr algn="ctr" indent="0" marL="0">
              <a:buNone/>
            </a:pPr>
            <a:r>
              <a:rPr lang="en-US" sz="1300" b="1" dirty="0">
                <a:solidFill>
                  <a:srgbClr val="0E4525"/>
                </a:solidFill>
                <a:latin typeface="Calibri" pitchFamily="34" charset="0"/>
                <a:ea typeface="Calibri" pitchFamily="34" charset="-122"/>
                <a:cs typeface="Calibri" pitchFamily="34" charset="-120"/>
              </a:rPr>
              <a:t>fib(4)</a:t>
            </a:r>
            <a:endParaRPr lang="en-US" sz="1300" dirty="0"/>
          </a:p>
        </p:txBody>
      </p:sp>
      <p:sp>
        <p:nvSpPr>
          <p:cNvPr id="13" name="Shape 11"/>
          <p:cNvSpPr/>
          <p:nvPr/>
        </p:nvSpPr>
        <p:spPr>
          <a:xfrm>
            <a:off x="3108960" y="3337560"/>
            <a:ext cx="1554480" cy="411480"/>
          </a:xfrm>
          <a:prstGeom prst="roundRect">
            <a:avLst>
              <a:gd name="adj" fmla="val 17778"/>
            </a:avLst>
          </a:prstGeom>
          <a:solidFill>
            <a:srgbClr val="E8F5EE"/>
          </a:solidFill>
          <a:ln w="15240">
            <a:solidFill>
              <a:srgbClr val="1A6B3C"/>
            </a:solidFill>
            <a:prstDash val="solid"/>
          </a:ln>
        </p:spPr>
      </p:sp>
      <p:sp>
        <p:nvSpPr>
          <p:cNvPr id="14" name="Text 12"/>
          <p:cNvSpPr txBox="1"/>
          <p:nvPr/>
        </p:nvSpPr>
        <p:spPr>
          <a:xfrm>
            <a:off x="3108960" y="3337560"/>
            <a:ext cx="1554480" cy="411480"/>
          </a:xfrm>
          <a:prstGeom prst="rect">
            <a:avLst/>
          </a:prstGeom>
          <a:noFill/>
          <a:ln/>
        </p:spPr>
        <p:txBody>
          <a:bodyPr wrap="square" lIns="0" tIns="0" rIns="0" bIns="0" rtlCol="0" anchor="ctr"/>
          <a:lstStyle/>
          <a:p>
            <a:pPr algn="ctr" indent="0" marL="0">
              <a:buNone/>
            </a:pPr>
            <a:r>
              <a:rPr lang="en-US" sz="1300" b="1" dirty="0">
                <a:solidFill>
                  <a:srgbClr val="0E4525"/>
                </a:solidFill>
                <a:latin typeface="Calibri" pitchFamily="34" charset="0"/>
                <a:ea typeface="Calibri" pitchFamily="34" charset="-122"/>
                <a:cs typeface="Calibri" pitchFamily="34" charset="-120"/>
              </a:rPr>
              <a:t>fib(3)</a:t>
            </a:r>
            <a:endParaRPr lang="en-US" sz="1300" dirty="0"/>
          </a:p>
        </p:txBody>
      </p:sp>
      <p:sp>
        <p:nvSpPr>
          <p:cNvPr id="15" name="Shape 13"/>
          <p:cNvSpPr/>
          <p:nvPr/>
        </p:nvSpPr>
        <p:spPr>
          <a:xfrm>
            <a:off x="7223760" y="3337560"/>
            <a:ext cx="1554480" cy="411480"/>
          </a:xfrm>
          <a:prstGeom prst="roundRect">
            <a:avLst>
              <a:gd name="adj" fmla="val 17778"/>
            </a:avLst>
          </a:prstGeom>
          <a:solidFill>
            <a:srgbClr val="FFF8EC"/>
          </a:solidFill>
          <a:ln w="15240">
            <a:solidFill>
              <a:srgbClr val="E8A020"/>
            </a:solidFill>
            <a:prstDash val="solid"/>
          </a:ln>
        </p:spPr>
      </p:sp>
      <p:sp>
        <p:nvSpPr>
          <p:cNvPr id="16" name="Text 14"/>
          <p:cNvSpPr txBox="1"/>
          <p:nvPr/>
        </p:nvSpPr>
        <p:spPr>
          <a:xfrm>
            <a:off x="7223760" y="3337560"/>
            <a:ext cx="1554480" cy="411480"/>
          </a:xfrm>
          <a:prstGeom prst="rect">
            <a:avLst/>
          </a:prstGeom>
          <a:noFill/>
          <a:ln/>
        </p:spPr>
        <p:txBody>
          <a:bodyPr wrap="square" lIns="0" tIns="0" rIns="0" bIns="0" rtlCol="0" anchor="ctr"/>
          <a:lstStyle/>
          <a:p>
            <a:pPr algn="ctr" indent="0" marL="0">
              <a:buNone/>
            </a:pPr>
            <a:r>
              <a:rPr lang="en-US" sz="1300" b="1" dirty="0">
                <a:solidFill>
                  <a:srgbClr val="B07800"/>
                </a:solidFill>
                <a:latin typeface="Calibri" pitchFamily="34" charset="0"/>
                <a:ea typeface="Calibri" pitchFamily="34" charset="-122"/>
                <a:cs typeface="Calibri" pitchFamily="34" charset="-120"/>
              </a:rPr>
              <a:t>fib(2)</a:t>
            </a:r>
            <a:endParaRPr lang="en-US" sz="1300" dirty="0"/>
          </a:p>
        </p:txBody>
      </p:sp>
      <p:sp>
        <p:nvSpPr>
          <p:cNvPr id="17" name="Shape 15"/>
          <p:cNvSpPr/>
          <p:nvPr/>
        </p:nvSpPr>
        <p:spPr>
          <a:xfrm>
            <a:off x="2011680" y="4297680"/>
            <a:ext cx="1371600" cy="411480"/>
          </a:xfrm>
          <a:prstGeom prst="roundRect">
            <a:avLst>
              <a:gd name="adj" fmla="val 17778"/>
            </a:avLst>
          </a:prstGeom>
          <a:solidFill>
            <a:srgbClr val="FFF8EC"/>
          </a:solidFill>
          <a:ln w="15240">
            <a:solidFill>
              <a:srgbClr val="E8A020"/>
            </a:solidFill>
            <a:prstDash val="solid"/>
          </a:ln>
        </p:spPr>
      </p:sp>
      <p:sp>
        <p:nvSpPr>
          <p:cNvPr id="18" name="Text 16"/>
          <p:cNvSpPr txBox="1"/>
          <p:nvPr/>
        </p:nvSpPr>
        <p:spPr>
          <a:xfrm>
            <a:off x="2011680" y="4297680"/>
            <a:ext cx="1371600" cy="411480"/>
          </a:xfrm>
          <a:prstGeom prst="rect">
            <a:avLst/>
          </a:prstGeom>
          <a:noFill/>
          <a:ln/>
        </p:spPr>
        <p:txBody>
          <a:bodyPr wrap="square" lIns="0" tIns="0" rIns="0" bIns="0" rtlCol="0" anchor="ctr"/>
          <a:lstStyle/>
          <a:p>
            <a:pPr algn="ctr" indent="0" marL="0">
              <a:buNone/>
            </a:pPr>
            <a:r>
              <a:rPr lang="en-US" sz="1300" b="1" dirty="0">
                <a:solidFill>
                  <a:srgbClr val="B07800"/>
                </a:solidFill>
                <a:latin typeface="Calibri" pitchFamily="34" charset="0"/>
                <a:ea typeface="Calibri" pitchFamily="34" charset="-122"/>
                <a:cs typeface="Calibri" pitchFamily="34" charset="-120"/>
              </a:rPr>
              <a:t>fib(2)</a:t>
            </a:r>
            <a:endParaRPr lang="en-US" sz="1300" dirty="0"/>
          </a:p>
        </p:txBody>
      </p:sp>
      <p:sp>
        <p:nvSpPr>
          <p:cNvPr id="19" name="Shape 17"/>
          <p:cNvSpPr/>
          <p:nvPr/>
        </p:nvSpPr>
        <p:spPr>
          <a:xfrm>
            <a:off x="4023360" y="4297680"/>
            <a:ext cx="1371600" cy="411480"/>
          </a:xfrm>
          <a:prstGeom prst="roundRect">
            <a:avLst>
              <a:gd name="adj" fmla="val 17778"/>
            </a:avLst>
          </a:prstGeom>
          <a:solidFill>
            <a:srgbClr val="FFF8EC"/>
          </a:solidFill>
          <a:ln w="15240">
            <a:solidFill>
              <a:srgbClr val="E8A020"/>
            </a:solidFill>
            <a:prstDash val="solid"/>
          </a:ln>
        </p:spPr>
      </p:sp>
      <p:sp>
        <p:nvSpPr>
          <p:cNvPr id="20" name="Text 18"/>
          <p:cNvSpPr txBox="1"/>
          <p:nvPr/>
        </p:nvSpPr>
        <p:spPr>
          <a:xfrm>
            <a:off x="4023360" y="4297680"/>
            <a:ext cx="1371600" cy="411480"/>
          </a:xfrm>
          <a:prstGeom prst="rect">
            <a:avLst/>
          </a:prstGeom>
          <a:noFill/>
          <a:ln/>
        </p:spPr>
        <p:txBody>
          <a:bodyPr wrap="square" lIns="0" tIns="0" rIns="0" bIns="0" rtlCol="0" anchor="ctr"/>
          <a:lstStyle/>
          <a:p>
            <a:pPr algn="ctr" indent="0" marL="0">
              <a:buNone/>
            </a:pPr>
            <a:r>
              <a:rPr lang="en-US" sz="1300" b="1" dirty="0">
                <a:solidFill>
                  <a:srgbClr val="B07800"/>
                </a:solidFill>
                <a:latin typeface="Calibri" pitchFamily="34" charset="0"/>
                <a:ea typeface="Calibri" pitchFamily="34" charset="-122"/>
                <a:cs typeface="Calibri" pitchFamily="34" charset="-120"/>
              </a:rPr>
              <a:t>fib(1)</a:t>
            </a:r>
            <a:endParaRPr lang="en-US" sz="1300" dirty="0"/>
          </a:p>
        </p:txBody>
      </p:sp>
      <p:sp>
        <p:nvSpPr>
          <p:cNvPr id="21" name="Shape 19"/>
          <p:cNvSpPr/>
          <p:nvPr/>
        </p:nvSpPr>
        <p:spPr>
          <a:xfrm>
            <a:off x="6126480" y="4297680"/>
            <a:ext cx="1371600" cy="411480"/>
          </a:xfrm>
          <a:prstGeom prst="roundRect">
            <a:avLst>
              <a:gd name="adj" fmla="val 17778"/>
            </a:avLst>
          </a:prstGeom>
          <a:solidFill>
            <a:srgbClr val="FFF8EC"/>
          </a:solidFill>
          <a:ln w="15240">
            <a:solidFill>
              <a:srgbClr val="E8A020"/>
            </a:solidFill>
            <a:prstDash val="solid"/>
          </a:ln>
        </p:spPr>
      </p:sp>
      <p:sp>
        <p:nvSpPr>
          <p:cNvPr id="22" name="Text 20"/>
          <p:cNvSpPr txBox="1"/>
          <p:nvPr/>
        </p:nvSpPr>
        <p:spPr>
          <a:xfrm>
            <a:off x="6126480" y="4297680"/>
            <a:ext cx="1371600" cy="411480"/>
          </a:xfrm>
          <a:prstGeom prst="rect">
            <a:avLst/>
          </a:prstGeom>
          <a:noFill/>
          <a:ln/>
        </p:spPr>
        <p:txBody>
          <a:bodyPr wrap="square" lIns="0" tIns="0" rIns="0" bIns="0" rtlCol="0" anchor="ctr"/>
          <a:lstStyle/>
          <a:p>
            <a:pPr algn="ctr" indent="0" marL="0">
              <a:buNone/>
            </a:pPr>
            <a:r>
              <a:rPr lang="en-US" sz="1300" b="1" dirty="0">
                <a:solidFill>
                  <a:srgbClr val="B07800"/>
                </a:solidFill>
                <a:latin typeface="Calibri" pitchFamily="34" charset="0"/>
                <a:ea typeface="Calibri" pitchFamily="34" charset="-122"/>
                <a:cs typeface="Calibri" pitchFamily="34" charset="-120"/>
              </a:rPr>
              <a:t>fib(1)</a:t>
            </a:r>
            <a:endParaRPr lang="en-US" sz="1300" dirty="0"/>
          </a:p>
        </p:txBody>
      </p:sp>
      <p:sp>
        <p:nvSpPr>
          <p:cNvPr id="23" name="Shape 21"/>
          <p:cNvSpPr/>
          <p:nvPr/>
        </p:nvSpPr>
        <p:spPr>
          <a:xfrm>
            <a:off x="8321040" y="4297680"/>
            <a:ext cx="1371600" cy="411480"/>
          </a:xfrm>
          <a:prstGeom prst="roundRect">
            <a:avLst>
              <a:gd name="adj" fmla="val 17778"/>
            </a:avLst>
          </a:prstGeom>
          <a:solidFill>
            <a:srgbClr val="E8F5EE"/>
          </a:solidFill>
          <a:ln w="15240">
            <a:solidFill>
              <a:srgbClr val="1A6B3C"/>
            </a:solidFill>
            <a:prstDash val="solid"/>
          </a:ln>
        </p:spPr>
      </p:sp>
      <p:sp>
        <p:nvSpPr>
          <p:cNvPr id="24" name="Text 22"/>
          <p:cNvSpPr txBox="1"/>
          <p:nvPr/>
        </p:nvSpPr>
        <p:spPr>
          <a:xfrm>
            <a:off x="8321040" y="4297680"/>
            <a:ext cx="1371600" cy="411480"/>
          </a:xfrm>
          <a:prstGeom prst="rect">
            <a:avLst/>
          </a:prstGeom>
          <a:noFill/>
          <a:ln/>
        </p:spPr>
        <p:txBody>
          <a:bodyPr wrap="square" lIns="0" tIns="0" rIns="0" bIns="0" rtlCol="0" anchor="ctr"/>
          <a:lstStyle/>
          <a:p>
            <a:pPr algn="ctr" indent="0" marL="0">
              <a:buNone/>
            </a:pPr>
            <a:r>
              <a:rPr lang="en-US" sz="1300" b="1" dirty="0">
                <a:solidFill>
                  <a:srgbClr val="0E4525"/>
                </a:solidFill>
                <a:latin typeface="Calibri" pitchFamily="34" charset="0"/>
                <a:ea typeface="Calibri" pitchFamily="34" charset="-122"/>
                <a:cs typeface="Calibri" pitchFamily="34" charset="-120"/>
              </a:rPr>
              <a:t>fib(0)</a:t>
            </a:r>
            <a:endParaRPr lang="en-US" sz="1300" dirty="0"/>
          </a:p>
        </p:txBody>
      </p:sp>
      <p:sp>
        <p:nvSpPr>
          <p:cNvPr id="25" name="Shape 23"/>
          <p:cNvSpPr/>
          <p:nvPr/>
        </p:nvSpPr>
        <p:spPr>
          <a:xfrm>
            <a:off x="640080" y="5349240"/>
            <a:ext cx="10881360" cy="1051560"/>
          </a:xfrm>
          <a:prstGeom prst="roundRect">
            <a:avLst>
              <a:gd name="adj" fmla="val 8696"/>
            </a:avLst>
          </a:prstGeom>
          <a:solidFill>
            <a:srgbClr val="FFF8EC"/>
          </a:solidFill>
          <a:ln w="12700">
            <a:solidFill>
              <a:srgbClr val="E8A020"/>
            </a:solidFill>
            <a:prstDash val="solid"/>
          </a:ln>
        </p:spPr>
      </p:sp>
      <p:sp>
        <p:nvSpPr>
          <p:cNvPr id="26" name="Text 24"/>
          <p:cNvSpPr txBox="1"/>
          <p:nvPr/>
        </p:nvSpPr>
        <p:spPr>
          <a:xfrm>
            <a:off x="914400" y="5349240"/>
            <a:ext cx="10332720" cy="1051560"/>
          </a:xfrm>
          <a:prstGeom prst="rect">
            <a:avLst/>
          </a:prstGeom>
          <a:noFill/>
          <a:ln/>
        </p:spPr>
        <p:txBody>
          <a:bodyPr wrap="square" lIns="0" tIns="0" rIns="0" bIns="0" rtlCol="0" anchor="ctr"/>
          <a:lstStyle/>
          <a:p>
            <a:pPr indent="0" marL="0">
              <a:lnSpc>
                <a:spcPct val="125000"/>
              </a:lnSpc>
              <a:buNone/>
            </a:pPr>
            <a:r>
              <a:rPr lang="en-US" sz="1400" b="1" dirty="0">
                <a:solidFill>
                  <a:srgbClr val="B07800"/>
                </a:solidFill>
                <a:latin typeface="Calibri" pitchFamily="34" charset="0"/>
                <a:ea typeface="Calibri" pitchFamily="34" charset="-122"/>
                <a:cs typeface="Calibri" pitchFamily="34" charset="-120"/>
              </a:rPr>
              <a:t>fib(2) y fib(1) </a:t>
            </a:r>
            <a:pPr indent="0" marL="0">
              <a:lnSpc>
                <a:spcPct val="125000"/>
              </a:lnSpc>
              <a:buNone/>
            </a:pPr>
            <a:r>
              <a:rPr lang="en-US" sz="1400" dirty="0">
                <a:solidFill>
                  <a:srgbClr val="B07800"/>
                </a:solidFill>
                <a:latin typeface="Calibri" pitchFamily="34" charset="0"/>
                <a:ea typeface="Calibri" pitchFamily="34" charset="-122"/>
                <a:cs typeface="Calibri" pitchFamily="34" charset="-120"/>
              </a:rPr>
              <a:t>se calculan más de una vez — trabajo repetido. Este es un adelanto de por qué, en la práctica, la recursividad no siempre es la opción más eficiente.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MÁS ALLÁ DE HOY</a:t>
            </a:r>
            <a:endParaRPr lang="en-US" sz="1300" dirty="0"/>
          </a:p>
        </p:txBody>
      </p:sp>
      <p:sp>
        <p:nvSpPr>
          <p:cNvPr id="3" name="Text 1"/>
          <p:cNvSpPr txBox="1"/>
          <p:nvPr/>
        </p:nvSpPr>
        <p:spPr>
          <a:xfrm>
            <a:off x="640080" y="777240"/>
            <a:ext cx="10515600" cy="731520"/>
          </a:xfrm>
          <a:prstGeom prst="rect">
            <a:avLst/>
          </a:prstGeom>
          <a:noFill/>
          <a:ln/>
        </p:spPr>
        <p:txBody>
          <a:bodyPr wrap="square" lIns="0" tIns="0" rIns="0" bIns="0" rtlCol="0" anchor="ctr"/>
          <a:lstStyle/>
          <a:p>
            <a:pPr indent="0" marL="0">
              <a:buNone/>
            </a:pPr>
            <a:r>
              <a:rPr lang="en-US" sz="2900" b="1" dirty="0">
                <a:solidFill>
                  <a:srgbClr val="1A2723"/>
                </a:solidFill>
                <a:latin typeface="Cambria" pitchFamily="34" charset="0"/>
                <a:ea typeface="Cambria" pitchFamily="34" charset="-122"/>
                <a:cs typeface="Cambria" pitchFamily="34" charset="-120"/>
              </a:rPr>
              <a:t>¿Dónde más se usa la recursividad?</a:t>
            </a:r>
            <a:endParaRPr lang="en-US" sz="2900" dirty="0"/>
          </a:p>
        </p:txBody>
      </p:sp>
      <p:sp>
        <p:nvSpPr>
          <p:cNvPr id="4" name="Shape 2"/>
          <p:cNvSpPr/>
          <p:nvPr/>
        </p:nvSpPr>
        <p:spPr>
          <a:xfrm>
            <a:off x="640080" y="1783080"/>
            <a:ext cx="5212080" cy="4251960"/>
          </a:xfrm>
          <a:prstGeom prst="roundRect">
            <a:avLst>
              <a:gd name="adj" fmla="val 2581"/>
            </a:avLst>
          </a:prstGeom>
          <a:solidFill>
            <a:srgbClr val="E8F5EE"/>
          </a:solidFill>
          <a:ln/>
        </p:spPr>
      </p:sp>
      <p:sp>
        <p:nvSpPr>
          <p:cNvPr id="5" name="Text 3"/>
          <p:cNvSpPr txBox="1"/>
          <p:nvPr/>
        </p:nvSpPr>
        <p:spPr>
          <a:xfrm>
            <a:off x="914400" y="1938528"/>
            <a:ext cx="4663440" cy="411480"/>
          </a:xfrm>
          <a:prstGeom prst="rect">
            <a:avLst/>
          </a:prstGeom>
          <a:noFill/>
          <a:ln/>
        </p:spPr>
        <p:txBody>
          <a:bodyPr wrap="square" lIns="0" tIns="0" rIns="0" bIns="0" rtlCol="0" anchor="ctr"/>
          <a:lstStyle/>
          <a:p>
            <a:pPr indent="0" marL="0">
              <a:buNone/>
            </a:pPr>
            <a:r>
              <a:rPr lang="en-US" sz="1700" b="1" dirty="0">
                <a:solidFill>
                  <a:srgbClr val="0E4525"/>
                </a:solidFill>
                <a:latin typeface="Cambria" pitchFamily="34" charset="0"/>
                <a:ea typeface="Cambria" pitchFamily="34" charset="-122"/>
                <a:cs typeface="Cambria" pitchFamily="34" charset="-120"/>
              </a:rPr>
              <a:t>En programación</a:t>
            </a:r>
            <a:endParaRPr lang="en-US" sz="1700" dirty="0"/>
          </a:p>
        </p:txBody>
      </p:sp>
      <p:sp>
        <p:nvSpPr>
          <p:cNvPr id="6" name="Shape 4"/>
          <p:cNvSpPr/>
          <p:nvPr/>
        </p:nvSpPr>
        <p:spPr>
          <a:xfrm>
            <a:off x="914400" y="2450592"/>
            <a:ext cx="457200" cy="457200"/>
          </a:xfrm>
          <a:prstGeom prst="ellipse">
            <a:avLst/>
          </a:prstGeom>
          <a:solidFill>
            <a:srgbClr val="1A6B3C"/>
          </a:solidFill>
          <a:ln/>
        </p:spPr>
      </p:sp>
      <p:sp>
        <p:nvSpPr>
          <p:cNvPr id="7" name="Text 5"/>
          <p:cNvSpPr txBox="1"/>
          <p:nvPr/>
        </p:nvSpPr>
        <p:spPr>
          <a:xfrm>
            <a:off x="914400" y="24505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508760" y="2404872"/>
            <a:ext cx="4160520" cy="320040"/>
          </a:xfrm>
          <a:prstGeom prst="rect">
            <a:avLst/>
          </a:prstGeom>
          <a:noFill/>
          <a:ln/>
        </p:spPr>
        <p:txBody>
          <a:bodyPr wrap="square" lIns="0" tIns="0" rIns="0" bIns="0" rtlCol="0" anchor="ctr"/>
          <a:lstStyle/>
          <a:p>
            <a:pPr indent="0" marL="0">
              <a:buNone/>
            </a:pPr>
            <a:r>
              <a:rPr lang="en-US" sz="1350" b="1" dirty="0">
                <a:solidFill>
                  <a:srgbClr val="0E4525"/>
                </a:solidFill>
                <a:latin typeface="Calibri" pitchFamily="34" charset="0"/>
                <a:ea typeface="Calibri" pitchFamily="34" charset="-122"/>
                <a:cs typeface="Calibri" pitchFamily="34" charset="-120"/>
              </a:rPr>
              <a:t>Recorrer árboles y grafos</a:t>
            </a:r>
            <a:endParaRPr lang="en-US" sz="1350" dirty="0"/>
          </a:p>
        </p:txBody>
      </p:sp>
      <p:sp>
        <p:nvSpPr>
          <p:cNvPr id="9" name="Text 7"/>
          <p:cNvSpPr txBox="1"/>
          <p:nvPr/>
        </p:nvSpPr>
        <p:spPr>
          <a:xfrm>
            <a:off x="1508760" y="2706624"/>
            <a:ext cx="4160520" cy="502920"/>
          </a:xfrm>
          <a:prstGeom prst="rect">
            <a:avLst/>
          </a:prstGeom>
          <a:noFill/>
          <a:ln/>
        </p:spPr>
        <p:txBody>
          <a:bodyPr wrap="square" lIns="0" tIns="0" rIns="0" bIns="0" rtlCol="0" anchor="ctr"/>
          <a:lstStyle/>
          <a:p>
            <a:pPr indent="0" marL="0">
              <a:lnSpc>
                <a:spcPct val="120000"/>
              </a:lnSpc>
              <a:buNone/>
            </a:pPr>
            <a:r>
              <a:rPr lang="en-US" sz="1150" dirty="0">
                <a:solidFill>
                  <a:srgbClr val="4A5568"/>
                </a:solidFill>
                <a:latin typeface="Calibri" pitchFamily="34" charset="0"/>
                <a:ea typeface="Calibri" pitchFamily="34" charset="-122"/>
                <a:cs typeface="Calibri" pitchFamily="34" charset="-120"/>
              </a:rPr>
              <a:t>carpetas del computador, JSON anidado, el DOM de una página web.</a:t>
            </a:r>
            <a:endParaRPr lang="en-US" sz="1150" dirty="0"/>
          </a:p>
        </p:txBody>
      </p:sp>
      <p:sp>
        <p:nvSpPr>
          <p:cNvPr id="10" name="Shape 8"/>
          <p:cNvSpPr/>
          <p:nvPr/>
        </p:nvSpPr>
        <p:spPr>
          <a:xfrm>
            <a:off x="914400" y="3291840"/>
            <a:ext cx="457200" cy="457200"/>
          </a:xfrm>
          <a:prstGeom prst="ellipse">
            <a:avLst/>
          </a:prstGeom>
          <a:solidFill>
            <a:srgbClr val="1A6B3C"/>
          </a:solidFill>
          <a:ln/>
        </p:spPr>
      </p:sp>
      <p:sp>
        <p:nvSpPr>
          <p:cNvPr id="11" name="Text 9"/>
          <p:cNvSpPr txBox="1"/>
          <p:nvPr/>
        </p:nvSpPr>
        <p:spPr>
          <a:xfrm>
            <a:off x="91440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508760" y="3246120"/>
            <a:ext cx="4160520" cy="320040"/>
          </a:xfrm>
          <a:prstGeom prst="rect">
            <a:avLst/>
          </a:prstGeom>
          <a:noFill/>
          <a:ln/>
        </p:spPr>
        <p:txBody>
          <a:bodyPr wrap="square" lIns="0" tIns="0" rIns="0" bIns="0" rtlCol="0" anchor="ctr"/>
          <a:lstStyle/>
          <a:p>
            <a:pPr indent="0" marL="0">
              <a:buNone/>
            </a:pPr>
            <a:r>
              <a:rPr lang="en-US" sz="1350" b="1" dirty="0">
                <a:solidFill>
                  <a:srgbClr val="0E4525"/>
                </a:solidFill>
                <a:latin typeface="Calibri" pitchFamily="34" charset="0"/>
                <a:ea typeface="Calibri" pitchFamily="34" charset="-122"/>
                <a:cs typeface="Calibri" pitchFamily="34" charset="-120"/>
              </a:rPr>
              <a:t>"Divide y vencerás"</a:t>
            </a:r>
            <a:endParaRPr lang="en-US" sz="1350" dirty="0"/>
          </a:p>
        </p:txBody>
      </p:sp>
      <p:sp>
        <p:nvSpPr>
          <p:cNvPr id="13" name="Text 11"/>
          <p:cNvSpPr txBox="1"/>
          <p:nvPr/>
        </p:nvSpPr>
        <p:spPr>
          <a:xfrm>
            <a:off x="1508760" y="3547872"/>
            <a:ext cx="4160520" cy="502920"/>
          </a:xfrm>
          <a:prstGeom prst="rect">
            <a:avLst/>
          </a:prstGeom>
          <a:noFill/>
          <a:ln/>
        </p:spPr>
        <p:txBody>
          <a:bodyPr wrap="square" lIns="0" tIns="0" rIns="0" bIns="0" rtlCol="0" anchor="ctr"/>
          <a:lstStyle/>
          <a:p>
            <a:pPr indent="0" marL="0">
              <a:lnSpc>
                <a:spcPct val="120000"/>
              </a:lnSpc>
              <a:buNone/>
            </a:pPr>
            <a:r>
              <a:rPr lang="en-US" sz="1150" dirty="0">
                <a:solidFill>
                  <a:srgbClr val="4A5568"/>
                </a:solidFill>
                <a:latin typeface="Calibri" pitchFamily="34" charset="0"/>
                <a:ea typeface="Calibri" pitchFamily="34" charset="-122"/>
                <a:cs typeface="Calibri" pitchFamily="34" charset="-120"/>
              </a:rPr>
              <a:t>Quicksort, Mergesort y la búsqueda binaria que ya vimos.</a:t>
            </a:r>
            <a:endParaRPr lang="en-US" sz="1150" dirty="0"/>
          </a:p>
        </p:txBody>
      </p:sp>
      <p:sp>
        <p:nvSpPr>
          <p:cNvPr id="14" name="Shape 12"/>
          <p:cNvSpPr/>
          <p:nvPr/>
        </p:nvSpPr>
        <p:spPr>
          <a:xfrm>
            <a:off x="914400" y="4133088"/>
            <a:ext cx="457200" cy="457200"/>
          </a:xfrm>
          <a:prstGeom prst="ellipse">
            <a:avLst/>
          </a:prstGeom>
          <a:solidFill>
            <a:srgbClr val="1A6B3C"/>
          </a:solidFill>
          <a:ln/>
        </p:spPr>
      </p:sp>
      <p:sp>
        <p:nvSpPr>
          <p:cNvPr id="15" name="Text 13"/>
          <p:cNvSpPr txBox="1"/>
          <p:nvPr/>
        </p:nvSpPr>
        <p:spPr>
          <a:xfrm>
            <a:off x="914400" y="41330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508760" y="4087368"/>
            <a:ext cx="4160520" cy="320040"/>
          </a:xfrm>
          <a:prstGeom prst="rect">
            <a:avLst/>
          </a:prstGeom>
          <a:noFill/>
          <a:ln/>
        </p:spPr>
        <p:txBody>
          <a:bodyPr wrap="square" lIns="0" tIns="0" rIns="0" bIns="0" rtlCol="0" anchor="ctr"/>
          <a:lstStyle/>
          <a:p>
            <a:pPr indent="0" marL="0">
              <a:buNone/>
            </a:pPr>
            <a:r>
              <a:rPr lang="en-US" sz="1350" b="1" dirty="0">
                <a:solidFill>
                  <a:srgbClr val="0E4525"/>
                </a:solidFill>
                <a:latin typeface="Calibri" pitchFamily="34" charset="0"/>
                <a:ea typeface="Calibri" pitchFamily="34" charset="-122"/>
                <a:cs typeface="Calibri" pitchFamily="34" charset="-120"/>
              </a:rPr>
              <a:t>Backtracking</a:t>
            </a:r>
            <a:endParaRPr lang="en-US" sz="1350" dirty="0"/>
          </a:p>
        </p:txBody>
      </p:sp>
      <p:sp>
        <p:nvSpPr>
          <p:cNvPr id="17" name="Text 15"/>
          <p:cNvSpPr txBox="1"/>
          <p:nvPr/>
        </p:nvSpPr>
        <p:spPr>
          <a:xfrm>
            <a:off x="1508760" y="4389120"/>
            <a:ext cx="4160520" cy="502920"/>
          </a:xfrm>
          <a:prstGeom prst="rect">
            <a:avLst/>
          </a:prstGeom>
          <a:noFill/>
          <a:ln/>
        </p:spPr>
        <p:txBody>
          <a:bodyPr wrap="square" lIns="0" tIns="0" rIns="0" bIns="0" rtlCol="0" anchor="ctr"/>
          <a:lstStyle/>
          <a:p>
            <a:pPr indent="0" marL="0">
              <a:lnSpc>
                <a:spcPct val="120000"/>
              </a:lnSpc>
              <a:buNone/>
            </a:pPr>
            <a:r>
              <a:rPr lang="en-US" sz="1150" dirty="0">
                <a:solidFill>
                  <a:srgbClr val="4A5568"/>
                </a:solidFill>
                <a:latin typeface="Calibri" pitchFamily="34" charset="0"/>
                <a:ea typeface="Calibri" pitchFamily="34" charset="-122"/>
                <a:cs typeface="Calibri" pitchFamily="34" charset="-120"/>
              </a:rPr>
              <a:t>resolver laberintos, sudoku, o encontrar todas las combinaciones posibles.</a:t>
            </a:r>
            <a:endParaRPr lang="en-US" sz="1150" dirty="0"/>
          </a:p>
        </p:txBody>
      </p:sp>
      <p:sp>
        <p:nvSpPr>
          <p:cNvPr id="18" name="Shape 16"/>
          <p:cNvSpPr/>
          <p:nvPr/>
        </p:nvSpPr>
        <p:spPr>
          <a:xfrm>
            <a:off x="914400" y="4974336"/>
            <a:ext cx="457200" cy="457200"/>
          </a:xfrm>
          <a:prstGeom prst="ellipse">
            <a:avLst/>
          </a:prstGeom>
          <a:solidFill>
            <a:srgbClr val="1A6B3C"/>
          </a:solidFill>
          <a:ln/>
        </p:spPr>
      </p:sp>
      <p:sp>
        <p:nvSpPr>
          <p:cNvPr id="19" name="Text 17"/>
          <p:cNvSpPr txBox="1"/>
          <p:nvPr/>
        </p:nvSpPr>
        <p:spPr>
          <a:xfrm>
            <a:off x="914400" y="4974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1508760" y="4928616"/>
            <a:ext cx="4160520" cy="320040"/>
          </a:xfrm>
          <a:prstGeom prst="rect">
            <a:avLst/>
          </a:prstGeom>
          <a:noFill/>
          <a:ln/>
        </p:spPr>
        <p:txBody>
          <a:bodyPr wrap="square" lIns="0" tIns="0" rIns="0" bIns="0" rtlCol="0" anchor="ctr"/>
          <a:lstStyle/>
          <a:p>
            <a:pPr indent="0" marL="0">
              <a:buNone/>
            </a:pPr>
            <a:r>
              <a:rPr lang="en-US" sz="1350" b="1" dirty="0">
                <a:solidFill>
                  <a:srgbClr val="0E4525"/>
                </a:solidFill>
                <a:latin typeface="Calibri" pitchFamily="34" charset="0"/>
                <a:ea typeface="Calibri" pitchFamily="34" charset="-122"/>
                <a:cs typeface="Calibri" pitchFamily="34" charset="-120"/>
              </a:rPr>
              <a:t>Parsers y compiladores</a:t>
            </a:r>
            <a:endParaRPr lang="en-US" sz="1350" dirty="0"/>
          </a:p>
        </p:txBody>
      </p:sp>
      <p:sp>
        <p:nvSpPr>
          <p:cNvPr id="21" name="Text 19"/>
          <p:cNvSpPr txBox="1"/>
          <p:nvPr/>
        </p:nvSpPr>
        <p:spPr>
          <a:xfrm>
            <a:off x="1508760" y="5230368"/>
            <a:ext cx="4160520" cy="502920"/>
          </a:xfrm>
          <a:prstGeom prst="rect">
            <a:avLst/>
          </a:prstGeom>
          <a:noFill/>
          <a:ln/>
        </p:spPr>
        <p:txBody>
          <a:bodyPr wrap="square" lIns="0" tIns="0" rIns="0" bIns="0" rtlCol="0" anchor="ctr"/>
          <a:lstStyle/>
          <a:p>
            <a:pPr indent="0" marL="0">
              <a:lnSpc>
                <a:spcPct val="120000"/>
              </a:lnSpc>
              <a:buNone/>
            </a:pPr>
            <a:r>
              <a:rPr lang="en-US" sz="1150" dirty="0">
                <a:solidFill>
                  <a:srgbClr val="4A5568"/>
                </a:solidFill>
                <a:latin typeface="Calibri" pitchFamily="34" charset="0"/>
                <a:ea typeface="Calibri" pitchFamily="34" charset="-122"/>
                <a:cs typeface="Calibri" pitchFamily="34" charset="-120"/>
              </a:rPr>
              <a:t>una expresión matemática o de código puede contener otra expresión dentro.</a:t>
            </a:r>
            <a:endParaRPr lang="en-US" sz="1150" dirty="0"/>
          </a:p>
        </p:txBody>
      </p:sp>
      <p:sp>
        <p:nvSpPr>
          <p:cNvPr id="22" name="Shape 20"/>
          <p:cNvSpPr/>
          <p:nvPr/>
        </p:nvSpPr>
        <p:spPr>
          <a:xfrm>
            <a:off x="6263640" y="1783080"/>
            <a:ext cx="5257800" cy="4251960"/>
          </a:xfrm>
          <a:prstGeom prst="roundRect">
            <a:avLst>
              <a:gd name="adj" fmla="val 2581"/>
            </a:avLst>
          </a:prstGeom>
          <a:solidFill>
            <a:srgbClr val="FFF8EC"/>
          </a:solidFill>
          <a:ln/>
        </p:spPr>
      </p:sp>
      <p:sp>
        <p:nvSpPr>
          <p:cNvPr id="23" name="Text 21"/>
          <p:cNvSpPr txBox="1"/>
          <p:nvPr/>
        </p:nvSpPr>
        <p:spPr>
          <a:xfrm>
            <a:off x="6537960" y="1938528"/>
            <a:ext cx="4754880" cy="411480"/>
          </a:xfrm>
          <a:prstGeom prst="rect">
            <a:avLst/>
          </a:prstGeom>
          <a:noFill/>
          <a:ln/>
        </p:spPr>
        <p:txBody>
          <a:bodyPr wrap="square" lIns="0" tIns="0" rIns="0" bIns="0" rtlCol="0" anchor="ctr"/>
          <a:lstStyle/>
          <a:p>
            <a:pPr indent="0" marL="0">
              <a:buNone/>
            </a:pPr>
            <a:r>
              <a:rPr lang="en-US" sz="1700" b="1" dirty="0">
                <a:solidFill>
                  <a:srgbClr val="B07800"/>
                </a:solidFill>
                <a:latin typeface="Cambria" pitchFamily="34" charset="0"/>
                <a:ea typeface="Cambria" pitchFamily="34" charset="-122"/>
                <a:cs typeface="Cambria" pitchFamily="34" charset="-120"/>
              </a:rPr>
              <a:t>Fuera de la programación</a:t>
            </a:r>
            <a:endParaRPr lang="en-US" sz="1700" dirty="0"/>
          </a:p>
        </p:txBody>
      </p:sp>
      <p:sp>
        <p:nvSpPr>
          <p:cNvPr id="24" name="Shape 22"/>
          <p:cNvSpPr/>
          <p:nvPr/>
        </p:nvSpPr>
        <p:spPr>
          <a:xfrm>
            <a:off x="6537960" y="2450592"/>
            <a:ext cx="457200" cy="457200"/>
          </a:xfrm>
          <a:prstGeom prst="ellipse">
            <a:avLst/>
          </a:prstGeom>
          <a:solidFill>
            <a:srgbClr val="E8A020"/>
          </a:solidFill>
          <a:ln/>
        </p:spPr>
      </p:sp>
      <p:sp>
        <p:nvSpPr>
          <p:cNvPr id="25" name="Text 23"/>
          <p:cNvSpPr txBox="1"/>
          <p:nvPr/>
        </p:nvSpPr>
        <p:spPr>
          <a:xfrm>
            <a:off x="6537960" y="2450592"/>
            <a:ext cx="457200" cy="457200"/>
          </a:xfrm>
          <a:prstGeom prst="rect">
            <a:avLst/>
          </a:prstGeom>
          <a:noFill/>
          <a:ln/>
        </p:spPr>
        <p:txBody>
          <a:bodyPr wrap="square" lIns="0" tIns="0" rIns="0" bIns="0" rtlCol="0" anchor="ctr"/>
          <a:lstStyle/>
          <a:p>
            <a:pPr algn="ctr" indent="0" marL="0">
              <a:buNone/>
            </a:pPr>
            <a:r>
              <a:rPr lang="en-US" sz="1600" b="1" dirty="0">
                <a:solidFill>
                  <a:srgbClr val="0E4525"/>
                </a:solidFill>
                <a:latin typeface="Calibri" pitchFamily="34" charset="0"/>
                <a:ea typeface="Calibri" pitchFamily="34" charset="-122"/>
                <a:cs typeface="Calibri" pitchFamily="34" charset="-120"/>
              </a:rPr>
              <a:t>1</a:t>
            </a:r>
            <a:endParaRPr lang="en-US" sz="1600" dirty="0"/>
          </a:p>
        </p:txBody>
      </p:sp>
      <p:sp>
        <p:nvSpPr>
          <p:cNvPr id="26" name="Text 24"/>
          <p:cNvSpPr txBox="1"/>
          <p:nvPr/>
        </p:nvSpPr>
        <p:spPr>
          <a:xfrm>
            <a:off x="7132320" y="2404872"/>
            <a:ext cx="4206240" cy="320040"/>
          </a:xfrm>
          <a:prstGeom prst="rect">
            <a:avLst/>
          </a:prstGeom>
          <a:noFill/>
          <a:ln/>
        </p:spPr>
        <p:txBody>
          <a:bodyPr wrap="square" lIns="0" tIns="0" rIns="0" bIns="0" rtlCol="0" anchor="ctr"/>
          <a:lstStyle/>
          <a:p>
            <a:pPr indent="0" marL="0">
              <a:buNone/>
            </a:pPr>
            <a:r>
              <a:rPr lang="en-US" sz="1350" b="1" dirty="0">
                <a:solidFill>
                  <a:srgbClr val="B07800"/>
                </a:solidFill>
                <a:latin typeface="Calibri" pitchFamily="34" charset="0"/>
                <a:ea typeface="Calibri" pitchFamily="34" charset="-122"/>
                <a:cs typeface="Calibri" pitchFamily="34" charset="-120"/>
              </a:rPr>
              <a:t>La naturaleza</a:t>
            </a:r>
            <a:endParaRPr lang="en-US" sz="1350" dirty="0"/>
          </a:p>
        </p:txBody>
      </p:sp>
      <p:sp>
        <p:nvSpPr>
          <p:cNvPr id="27" name="Text 25"/>
          <p:cNvSpPr txBox="1"/>
          <p:nvPr/>
        </p:nvSpPr>
        <p:spPr>
          <a:xfrm>
            <a:off x="7132320" y="2706624"/>
            <a:ext cx="4206240" cy="502920"/>
          </a:xfrm>
          <a:prstGeom prst="rect">
            <a:avLst/>
          </a:prstGeom>
          <a:noFill/>
          <a:ln/>
        </p:spPr>
        <p:txBody>
          <a:bodyPr wrap="square" lIns="0" tIns="0" rIns="0" bIns="0" rtlCol="0" anchor="ctr"/>
          <a:lstStyle/>
          <a:p>
            <a:pPr indent="0" marL="0">
              <a:lnSpc>
                <a:spcPct val="120000"/>
              </a:lnSpc>
              <a:buNone/>
            </a:pPr>
            <a:r>
              <a:rPr lang="en-US" sz="1150" dirty="0">
                <a:solidFill>
                  <a:srgbClr val="4A5568"/>
                </a:solidFill>
                <a:latin typeface="Calibri" pitchFamily="34" charset="0"/>
                <a:ea typeface="Calibri" pitchFamily="34" charset="-122"/>
                <a:cs typeface="Calibri" pitchFamily="34" charset="-120"/>
              </a:rPr>
              <a:t>ramas de un árbol, ríos y afluentes, un helecho, el sistema circulatorio.</a:t>
            </a:r>
            <a:endParaRPr lang="en-US" sz="1150" dirty="0"/>
          </a:p>
        </p:txBody>
      </p:sp>
      <p:sp>
        <p:nvSpPr>
          <p:cNvPr id="28" name="Shape 26"/>
          <p:cNvSpPr/>
          <p:nvPr/>
        </p:nvSpPr>
        <p:spPr>
          <a:xfrm>
            <a:off x="6537960" y="3291840"/>
            <a:ext cx="457200" cy="457200"/>
          </a:xfrm>
          <a:prstGeom prst="ellipse">
            <a:avLst/>
          </a:prstGeom>
          <a:solidFill>
            <a:srgbClr val="E8A020"/>
          </a:solidFill>
          <a:ln/>
        </p:spPr>
      </p:sp>
      <p:sp>
        <p:nvSpPr>
          <p:cNvPr id="29" name="Text 27"/>
          <p:cNvSpPr txBox="1"/>
          <p:nvPr/>
        </p:nvSpPr>
        <p:spPr>
          <a:xfrm>
            <a:off x="6537960" y="3291840"/>
            <a:ext cx="457200" cy="457200"/>
          </a:xfrm>
          <a:prstGeom prst="rect">
            <a:avLst/>
          </a:prstGeom>
          <a:noFill/>
          <a:ln/>
        </p:spPr>
        <p:txBody>
          <a:bodyPr wrap="square" lIns="0" tIns="0" rIns="0" bIns="0" rtlCol="0" anchor="ctr"/>
          <a:lstStyle/>
          <a:p>
            <a:pPr algn="ctr" indent="0" marL="0">
              <a:buNone/>
            </a:pPr>
            <a:r>
              <a:rPr lang="en-US" sz="1600" b="1" dirty="0">
                <a:solidFill>
                  <a:srgbClr val="0E4525"/>
                </a:solidFill>
                <a:latin typeface="Calibri" pitchFamily="34" charset="0"/>
                <a:ea typeface="Calibri" pitchFamily="34" charset="-122"/>
                <a:cs typeface="Calibri" pitchFamily="34" charset="-120"/>
              </a:rPr>
              <a:t>2</a:t>
            </a:r>
            <a:endParaRPr lang="en-US" sz="1600" dirty="0"/>
          </a:p>
        </p:txBody>
      </p:sp>
      <p:sp>
        <p:nvSpPr>
          <p:cNvPr id="30" name="Text 28"/>
          <p:cNvSpPr txBox="1"/>
          <p:nvPr/>
        </p:nvSpPr>
        <p:spPr>
          <a:xfrm>
            <a:off x="7132320" y="3246120"/>
            <a:ext cx="4206240" cy="320040"/>
          </a:xfrm>
          <a:prstGeom prst="rect">
            <a:avLst/>
          </a:prstGeom>
          <a:noFill/>
          <a:ln/>
        </p:spPr>
        <p:txBody>
          <a:bodyPr wrap="square" lIns="0" tIns="0" rIns="0" bIns="0" rtlCol="0" anchor="ctr"/>
          <a:lstStyle/>
          <a:p>
            <a:pPr indent="0" marL="0">
              <a:buNone/>
            </a:pPr>
            <a:r>
              <a:rPr lang="en-US" sz="1350" b="1" dirty="0">
                <a:solidFill>
                  <a:srgbClr val="B07800"/>
                </a:solidFill>
                <a:latin typeface="Calibri" pitchFamily="34" charset="0"/>
                <a:ea typeface="Calibri" pitchFamily="34" charset="-122"/>
                <a:cs typeface="Calibri" pitchFamily="34" charset="-120"/>
              </a:rPr>
              <a:t>Organigramas</a:t>
            </a:r>
            <a:endParaRPr lang="en-US" sz="1350" dirty="0"/>
          </a:p>
        </p:txBody>
      </p:sp>
      <p:sp>
        <p:nvSpPr>
          <p:cNvPr id="31" name="Text 29"/>
          <p:cNvSpPr txBox="1"/>
          <p:nvPr/>
        </p:nvSpPr>
        <p:spPr>
          <a:xfrm>
            <a:off x="7132320" y="3547872"/>
            <a:ext cx="4206240" cy="502920"/>
          </a:xfrm>
          <a:prstGeom prst="rect">
            <a:avLst/>
          </a:prstGeom>
          <a:noFill/>
          <a:ln/>
        </p:spPr>
        <p:txBody>
          <a:bodyPr wrap="square" lIns="0" tIns="0" rIns="0" bIns="0" rtlCol="0" anchor="ctr"/>
          <a:lstStyle/>
          <a:p>
            <a:pPr indent="0" marL="0">
              <a:lnSpc>
                <a:spcPct val="120000"/>
              </a:lnSpc>
              <a:buNone/>
            </a:pPr>
            <a:r>
              <a:rPr lang="en-US" sz="1150" dirty="0">
                <a:solidFill>
                  <a:srgbClr val="4A5568"/>
                </a:solidFill>
                <a:latin typeface="Calibri" pitchFamily="34" charset="0"/>
                <a:ea typeface="Calibri" pitchFamily="34" charset="-122"/>
                <a:cs typeface="Calibri" pitchFamily="34" charset="-120"/>
              </a:rPr>
              <a:t>un jefe con su equipo, que a su vez tiene sub-equipos con sus propios jefes.</a:t>
            </a:r>
            <a:endParaRPr lang="en-US" sz="1150" dirty="0"/>
          </a:p>
        </p:txBody>
      </p:sp>
      <p:sp>
        <p:nvSpPr>
          <p:cNvPr id="32" name="Shape 30"/>
          <p:cNvSpPr/>
          <p:nvPr/>
        </p:nvSpPr>
        <p:spPr>
          <a:xfrm>
            <a:off x="6537960" y="4133088"/>
            <a:ext cx="457200" cy="457200"/>
          </a:xfrm>
          <a:prstGeom prst="ellipse">
            <a:avLst/>
          </a:prstGeom>
          <a:solidFill>
            <a:srgbClr val="E8A020"/>
          </a:solidFill>
          <a:ln/>
        </p:spPr>
      </p:sp>
      <p:sp>
        <p:nvSpPr>
          <p:cNvPr id="33" name="Text 31"/>
          <p:cNvSpPr txBox="1"/>
          <p:nvPr/>
        </p:nvSpPr>
        <p:spPr>
          <a:xfrm>
            <a:off x="6537960" y="4133088"/>
            <a:ext cx="457200" cy="457200"/>
          </a:xfrm>
          <a:prstGeom prst="rect">
            <a:avLst/>
          </a:prstGeom>
          <a:noFill/>
          <a:ln/>
        </p:spPr>
        <p:txBody>
          <a:bodyPr wrap="square" lIns="0" tIns="0" rIns="0" bIns="0" rtlCol="0" anchor="ctr"/>
          <a:lstStyle/>
          <a:p>
            <a:pPr algn="ctr" indent="0" marL="0">
              <a:buNone/>
            </a:pPr>
            <a:r>
              <a:rPr lang="en-US" sz="1600" b="1" dirty="0">
                <a:solidFill>
                  <a:srgbClr val="0E4525"/>
                </a:solidFill>
                <a:latin typeface="Calibri" pitchFamily="34" charset="0"/>
                <a:ea typeface="Calibri" pitchFamily="34" charset="-122"/>
                <a:cs typeface="Calibri" pitchFamily="34" charset="-120"/>
              </a:rPr>
              <a:t>3</a:t>
            </a:r>
            <a:endParaRPr lang="en-US" sz="1600" dirty="0"/>
          </a:p>
        </p:txBody>
      </p:sp>
      <p:sp>
        <p:nvSpPr>
          <p:cNvPr id="34" name="Text 32"/>
          <p:cNvSpPr txBox="1"/>
          <p:nvPr/>
        </p:nvSpPr>
        <p:spPr>
          <a:xfrm>
            <a:off x="7132320" y="4087368"/>
            <a:ext cx="4206240" cy="320040"/>
          </a:xfrm>
          <a:prstGeom prst="rect">
            <a:avLst/>
          </a:prstGeom>
          <a:noFill/>
          <a:ln/>
        </p:spPr>
        <p:txBody>
          <a:bodyPr wrap="square" lIns="0" tIns="0" rIns="0" bIns="0" rtlCol="0" anchor="ctr"/>
          <a:lstStyle/>
          <a:p>
            <a:pPr indent="0" marL="0">
              <a:buNone/>
            </a:pPr>
            <a:r>
              <a:rPr lang="en-US" sz="1350" b="1" dirty="0">
                <a:solidFill>
                  <a:srgbClr val="B07800"/>
                </a:solidFill>
                <a:latin typeface="Calibri" pitchFamily="34" charset="0"/>
                <a:ea typeface="Calibri" pitchFamily="34" charset="-122"/>
                <a:cs typeface="Calibri" pitchFamily="34" charset="-120"/>
              </a:rPr>
              <a:t>El lenguaje</a:t>
            </a:r>
            <a:endParaRPr lang="en-US" sz="1350" dirty="0"/>
          </a:p>
        </p:txBody>
      </p:sp>
      <p:sp>
        <p:nvSpPr>
          <p:cNvPr id="35" name="Text 33"/>
          <p:cNvSpPr txBox="1"/>
          <p:nvPr/>
        </p:nvSpPr>
        <p:spPr>
          <a:xfrm>
            <a:off x="7132320" y="4389120"/>
            <a:ext cx="4206240" cy="502920"/>
          </a:xfrm>
          <a:prstGeom prst="rect">
            <a:avLst/>
          </a:prstGeom>
          <a:noFill/>
          <a:ln/>
        </p:spPr>
        <p:txBody>
          <a:bodyPr wrap="square" lIns="0" tIns="0" rIns="0" bIns="0" rtlCol="0" anchor="ctr"/>
          <a:lstStyle/>
          <a:p>
            <a:pPr indent="0" marL="0">
              <a:lnSpc>
                <a:spcPct val="120000"/>
              </a:lnSpc>
              <a:buNone/>
            </a:pPr>
            <a:r>
              <a:rPr lang="en-US" sz="1150" dirty="0">
                <a:solidFill>
                  <a:srgbClr val="4A5568"/>
                </a:solidFill>
                <a:latin typeface="Calibri" pitchFamily="34" charset="0"/>
                <a:ea typeface="Calibri" pitchFamily="34" charset="-122"/>
                <a:cs typeface="Calibri" pitchFamily="34" charset="-120"/>
              </a:rPr>
              <a:t>un diccionario define palabras usando otras palabras del mismo diccionario.</a:t>
            </a:r>
            <a:endParaRPr lang="en-US" sz="1150" dirty="0"/>
          </a:p>
        </p:txBody>
      </p:sp>
      <p:sp>
        <p:nvSpPr>
          <p:cNvPr id="36" name="Shape 34"/>
          <p:cNvSpPr/>
          <p:nvPr/>
        </p:nvSpPr>
        <p:spPr>
          <a:xfrm>
            <a:off x="6537960" y="4974336"/>
            <a:ext cx="457200" cy="457200"/>
          </a:xfrm>
          <a:prstGeom prst="ellipse">
            <a:avLst/>
          </a:prstGeom>
          <a:solidFill>
            <a:srgbClr val="E8A020"/>
          </a:solidFill>
          <a:ln/>
        </p:spPr>
      </p:sp>
      <p:sp>
        <p:nvSpPr>
          <p:cNvPr id="37" name="Text 35"/>
          <p:cNvSpPr txBox="1"/>
          <p:nvPr/>
        </p:nvSpPr>
        <p:spPr>
          <a:xfrm>
            <a:off x="6537960" y="4974336"/>
            <a:ext cx="457200" cy="457200"/>
          </a:xfrm>
          <a:prstGeom prst="rect">
            <a:avLst/>
          </a:prstGeom>
          <a:noFill/>
          <a:ln/>
        </p:spPr>
        <p:txBody>
          <a:bodyPr wrap="square" lIns="0" tIns="0" rIns="0" bIns="0" rtlCol="0" anchor="ctr"/>
          <a:lstStyle/>
          <a:p>
            <a:pPr algn="ctr" indent="0" marL="0">
              <a:buNone/>
            </a:pPr>
            <a:r>
              <a:rPr lang="en-US" sz="1600" b="1" dirty="0">
                <a:solidFill>
                  <a:srgbClr val="0E4525"/>
                </a:solidFill>
                <a:latin typeface="Calibri" pitchFamily="34" charset="0"/>
                <a:ea typeface="Calibri" pitchFamily="34" charset="-122"/>
                <a:cs typeface="Calibri" pitchFamily="34" charset="-120"/>
              </a:rPr>
              <a:t>4</a:t>
            </a:r>
            <a:endParaRPr lang="en-US" sz="1600" dirty="0"/>
          </a:p>
        </p:txBody>
      </p:sp>
      <p:sp>
        <p:nvSpPr>
          <p:cNvPr id="38" name="Text 36"/>
          <p:cNvSpPr txBox="1"/>
          <p:nvPr/>
        </p:nvSpPr>
        <p:spPr>
          <a:xfrm>
            <a:off x="7132320" y="4928616"/>
            <a:ext cx="4206240" cy="320040"/>
          </a:xfrm>
          <a:prstGeom prst="rect">
            <a:avLst/>
          </a:prstGeom>
          <a:noFill/>
          <a:ln/>
        </p:spPr>
        <p:txBody>
          <a:bodyPr wrap="square" lIns="0" tIns="0" rIns="0" bIns="0" rtlCol="0" anchor="ctr"/>
          <a:lstStyle/>
          <a:p>
            <a:pPr indent="0" marL="0">
              <a:buNone/>
            </a:pPr>
            <a:r>
              <a:rPr lang="en-US" sz="1350" b="1" dirty="0">
                <a:solidFill>
                  <a:srgbClr val="B07800"/>
                </a:solidFill>
                <a:latin typeface="Calibri" pitchFamily="34" charset="0"/>
                <a:ea typeface="Calibri" pitchFamily="34" charset="-122"/>
                <a:cs typeface="Calibri" pitchFamily="34" charset="-120"/>
              </a:rPr>
              <a:t>El arte — efecto Droste</a:t>
            </a:r>
            <a:endParaRPr lang="en-US" sz="1350" dirty="0"/>
          </a:p>
        </p:txBody>
      </p:sp>
      <p:sp>
        <p:nvSpPr>
          <p:cNvPr id="39" name="Text 37"/>
          <p:cNvSpPr txBox="1"/>
          <p:nvPr/>
        </p:nvSpPr>
        <p:spPr>
          <a:xfrm>
            <a:off x="7132320" y="5230368"/>
            <a:ext cx="4206240" cy="502920"/>
          </a:xfrm>
          <a:prstGeom prst="rect">
            <a:avLst/>
          </a:prstGeom>
          <a:noFill/>
          <a:ln/>
        </p:spPr>
        <p:txBody>
          <a:bodyPr wrap="square" lIns="0" tIns="0" rIns="0" bIns="0" rtlCol="0" anchor="ctr"/>
          <a:lstStyle/>
          <a:p>
            <a:pPr indent="0" marL="0">
              <a:lnSpc>
                <a:spcPct val="120000"/>
              </a:lnSpc>
              <a:buNone/>
            </a:pPr>
            <a:r>
              <a:rPr lang="en-US" sz="1150" dirty="0">
                <a:solidFill>
                  <a:srgbClr val="4A5568"/>
                </a:solidFill>
                <a:latin typeface="Calibri" pitchFamily="34" charset="0"/>
                <a:ea typeface="Calibri" pitchFamily="34" charset="-122"/>
                <a:cs typeface="Calibri" pitchFamily="34" charset="-120"/>
              </a:rPr>
              <a:t>una imagen que se contiene a sí misma, como ciertas portadas y pinturas.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CUÁNDO USAR CADA UNA</a:t>
            </a:r>
            <a:endParaRPr lang="en-US" sz="1300" dirty="0"/>
          </a:p>
        </p:txBody>
      </p:sp>
      <p:sp>
        <p:nvSpPr>
          <p:cNvPr id="3" name="Text 1"/>
          <p:cNvSpPr txBox="1"/>
          <p:nvPr/>
        </p:nvSpPr>
        <p:spPr>
          <a:xfrm>
            <a:off x="640080" y="777240"/>
            <a:ext cx="10058400" cy="731520"/>
          </a:xfrm>
          <a:prstGeom prst="rect">
            <a:avLst/>
          </a:prstGeom>
          <a:noFill/>
          <a:ln/>
        </p:spPr>
        <p:txBody>
          <a:bodyPr wrap="square" lIns="0" tIns="0" rIns="0" bIns="0" rtlCol="0" anchor="ctr"/>
          <a:lstStyle/>
          <a:p>
            <a:pPr indent="0" marL="0">
              <a:buNone/>
            </a:pPr>
            <a:r>
              <a:rPr lang="en-US" sz="3000" b="1" dirty="0">
                <a:solidFill>
                  <a:srgbClr val="1A2723"/>
                </a:solidFill>
                <a:latin typeface="Cambria" pitchFamily="34" charset="0"/>
                <a:ea typeface="Cambria" pitchFamily="34" charset="-122"/>
                <a:cs typeface="Cambria" pitchFamily="34" charset="-120"/>
              </a:rPr>
              <a:t>Recursividad vs. iteración</a:t>
            </a:r>
            <a:endParaRPr lang="en-US" sz="3000" dirty="0"/>
          </a:p>
        </p:txBody>
      </p:sp>
      <p:sp>
        <p:nvSpPr>
          <p:cNvPr id="4" name="Shape 2"/>
          <p:cNvSpPr/>
          <p:nvPr/>
        </p:nvSpPr>
        <p:spPr>
          <a:xfrm>
            <a:off x="640080" y="1920240"/>
            <a:ext cx="5212080" cy="3931920"/>
          </a:xfrm>
          <a:prstGeom prst="roundRect">
            <a:avLst>
              <a:gd name="adj" fmla="val 2791"/>
            </a:avLst>
          </a:prstGeom>
          <a:solidFill>
            <a:srgbClr val="E8F5EE"/>
          </a:solidFill>
          <a:ln/>
        </p:spPr>
      </p:sp>
      <p:sp>
        <p:nvSpPr>
          <p:cNvPr id="5" name="Text 3"/>
          <p:cNvSpPr txBox="1"/>
          <p:nvPr/>
        </p:nvSpPr>
        <p:spPr>
          <a:xfrm>
            <a:off x="914400" y="2103120"/>
            <a:ext cx="4572000" cy="457200"/>
          </a:xfrm>
          <a:prstGeom prst="rect">
            <a:avLst/>
          </a:prstGeom>
          <a:noFill/>
          <a:ln/>
        </p:spPr>
        <p:txBody>
          <a:bodyPr wrap="square" lIns="0" tIns="0" rIns="0" bIns="0" rtlCol="0" anchor="ctr"/>
          <a:lstStyle/>
          <a:p>
            <a:pPr indent="0" marL="0">
              <a:buNone/>
            </a:pPr>
            <a:r>
              <a:rPr lang="en-US" sz="1800" b="1" dirty="0">
                <a:solidFill>
                  <a:srgbClr val="0E4525"/>
                </a:solidFill>
                <a:latin typeface="Cambria" pitchFamily="34" charset="0"/>
                <a:ea typeface="Cambria" pitchFamily="34" charset="-122"/>
                <a:cs typeface="Cambria" pitchFamily="34" charset="-120"/>
              </a:rPr>
              <a:t>Recursividad</a:t>
            </a:r>
            <a:endParaRPr lang="en-US" sz="1800" dirty="0"/>
          </a:p>
        </p:txBody>
      </p:sp>
      <p:sp>
        <p:nvSpPr>
          <p:cNvPr id="6" name="Text 4"/>
          <p:cNvSpPr txBox="1"/>
          <p:nvPr/>
        </p:nvSpPr>
        <p:spPr>
          <a:xfrm>
            <a:off x="914400" y="2606040"/>
            <a:ext cx="4663440" cy="3108960"/>
          </a:xfrm>
          <a:prstGeom prst="rect">
            <a:avLst/>
          </a:prstGeom>
          <a:noFill/>
          <a:ln/>
        </p:spPr>
        <p:txBody>
          <a:bodyPr wrap="square" lIns="0" tIns="0" rIns="0" bIns="0" rtlCol="0" anchor="ctr"/>
          <a:lstStyle/>
          <a:p>
            <a:pPr indent="0" marL="0">
              <a:lnSpc>
                <a:spcPct val="135000"/>
              </a:lnSpc>
              <a:buNone/>
            </a:pPr>
            <a:r>
              <a:rPr lang="en-US" sz="1400" dirty="0">
                <a:solidFill>
                  <a:srgbClr val="0E4525"/>
                </a:solidFill>
                <a:latin typeface="Calibri" pitchFamily="34" charset="0"/>
                <a:ea typeface="Calibri" pitchFamily="34" charset="-122"/>
                <a:cs typeface="Calibri" pitchFamily="34" charset="-120"/>
              </a:rPr>
              <a:t>✓ Ideal cuando el problema ya es "naturalmente" recursivo: árboles, carpetas, Hanói.</a:t>
            </a:r>
            <a:endParaRPr lang="en-US" sz="1400" dirty="0"/>
          </a:p>
          <a:p>
            <a:pPr indent="0" marL="0">
              <a:lnSpc>
                <a:spcPct val="135000"/>
              </a:lnSpc>
              <a:buNone/>
            </a:pPr>
            <a:r>
              <a:rPr lang="en-US" sz="1400" dirty="0">
                <a:solidFill>
                  <a:srgbClr val="0E4525"/>
                </a:solidFill>
                <a:latin typeface="Calibri" pitchFamily="34" charset="0"/>
                <a:ea typeface="Calibri" pitchFamily="34" charset="-122"/>
                <a:cs typeface="Calibri" pitchFamily="34" charset="-120"/>
              </a:rPr>
              <a:t>✓ El código suele quedar más corto y más parecido a la definición matemática.</a:t>
            </a:r>
            <a:endParaRPr lang="en-US" sz="1400" dirty="0"/>
          </a:p>
          <a:p>
            <a:pPr indent="0" marL="0">
              <a:lnSpc>
                <a:spcPct val="135000"/>
              </a:lnSpc>
              <a:buNone/>
            </a:pPr>
            <a:r>
              <a:rPr lang="en-US" sz="1400" dirty="0">
                <a:solidFill>
                  <a:srgbClr val="0E4525"/>
                </a:solidFill>
                <a:latin typeface="Calibri" pitchFamily="34" charset="0"/>
                <a:ea typeface="Calibri" pitchFamily="34" charset="-122"/>
                <a:cs typeface="Calibri" pitchFamily="34" charset="-120"/>
              </a:rPr>
              <a:t>✕ Usa más memoria — cada llamada ocupa un marco en la pila.</a:t>
            </a:r>
            <a:endParaRPr lang="en-US" sz="1400" dirty="0"/>
          </a:p>
          <a:p>
            <a:pPr indent="0" marL="0">
              <a:lnSpc>
                <a:spcPct val="135000"/>
              </a:lnSpc>
              <a:buNone/>
            </a:pPr>
            <a:r>
              <a:rPr lang="en-US" sz="1400" dirty="0">
                <a:solidFill>
                  <a:srgbClr val="0E4525"/>
                </a:solidFill>
                <a:latin typeface="Calibri" pitchFamily="34" charset="0"/>
                <a:ea typeface="Calibri" pitchFamily="34" charset="-122"/>
                <a:cs typeface="Calibri" pitchFamily="34" charset="-120"/>
              </a:rPr>
              <a:t>✕ Si no hay caso base claro, riesgo de stack overflow.</a:t>
            </a:r>
            <a:endParaRPr lang="en-US" sz="1400" dirty="0"/>
          </a:p>
        </p:txBody>
      </p:sp>
      <p:sp>
        <p:nvSpPr>
          <p:cNvPr id="7" name="Shape 5"/>
          <p:cNvSpPr/>
          <p:nvPr/>
        </p:nvSpPr>
        <p:spPr>
          <a:xfrm>
            <a:off x="6263640" y="1920240"/>
            <a:ext cx="5257800" cy="3931920"/>
          </a:xfrm>
          <a:prstGeom prst="roundRect">
            <a:avLst>
              <a:gd name="adj" fmla="val 2791"/>
            </a:avLst>
          </a:prstGeom>
          <a:solidFill>
            <a:srgbClr val="E8EAF6"/>
          </a:solidFill>
          <a:ln/>
        </p:spPr>
      </p:sp>
      <p:sp>
        <p:nvSpPr>
          <p:cNvPr id="8" name="Text 6"/>
          <p:cNvSpPr txBox="1"/>
          <p:nvPr/>
        </p:nvSpPr>
        <p:spPr>
          <a:xfrm>
            <a:off x="6537960" y="2103120"/>
            <a:ext cx="4572000" cy="457200"/>
          </a:xfrm>
          <a:prstGeom prst="rect">
            <a:avLst/>
          </a:prstGeom>
          <a:noFill/>
          <a:ln/>
        </p:spPr>
        <p:txBody>
          <a:bodyPr wrap="square" lIns="0" tIns="0" rIns="0" bIns="0" rtlCol="0" anchor="ctr"/>
          <a:lstStyle/>
          <a:p>
            <a:pPr indent="0" marL="0">
              <a:buNone/>
            </a:pPr>
            <a:r>
              <a:rPr lang="en-US" sz="1800" b="1" dirty="0">
                <a:solidFill>
                  <a:srgbClr val="283593"/>
                </a:solidFill>
                <a:latin typeface="Cambria" pitchFamily="34" charset="0"/>
                <a:ea typeface="Cambria" pitchFamily="34" charset="-122"/>
                <a:cs typeface="Cambria" pitchFamily="34" charset="-120"/>
              </a:rPr>
              <a:t>Iteración (ciclos)</a:t>
            </a:r>
            <a:endParaRPr lang="en-US" sz="1800" dirty="0"/>
          </a:p>
        </p:txBody>
      </p:sp>
      <p:sp>
        <p:nvSpPr>
          <p:cNvPr id="9" name="Text 7"/>
          <p:cNvSpPr txBox="1"/>
          <p:nvPr/>
        </p:nvSpPr>
        <p:spPr>
          <a:xfrm>
            <a:off x="6537960" y="2606040"/>
            <a:ext cx="4709160" cy="3108960"/>
          </a:xfrm>
          <a:prstGeom prst="rect">
            <a:avLst/>
          </a:prstGeom>
          <a:noFill/>
          <a:ln/>
        </p:spPr>
        <p:txBody>
          <a:bodyPr wrap="square" lIns="0" tIns="0" rIns="0" bIns="0" rtlCol="0" anchor="ctr"/>
          <a:lstStyle/>
          <a:p>
            <a:pPr indent="0" marL="0">
              <a:lnSpc>
                <a:spcPct val="135000"/>
              </a:lnSpc>
              <a:buNone/>
            </a:pPr>
            <a:r>
              <a:rPr lang="en-US" sz="1400" dirty="0">
                <a:solidFill>
                  <a:srgbClr val="283593"/>
                </a:solidFill>
                <a:latin typeface="Calibri" pitchFamily="34" charset="0"/>
                <a:ea typeface="Calibri" pitchFamily="34" charset="-122"/>
                <a:cs typeface="Calibri" pitchFamily="34" charset="-120"/>
              </a:rPr>
              <a:t>✓ Generalmente usa menos memoria — no acumula marcos de pila.</a:t>
            </a:r>
            <a:endParaRPr lang="en-US" sz="1400" dirty="0"/>
          </a:p>
          <a:p>
            <a:pPr indent="0" marL="0">
              <a:lnSpc>
                <a:spcPct val="135000"/>
              </a:lnSpc>
              <a:buNone/>
            </a:pPr>
            <a:r>
              <a:rPr lang="en-US" sz="1400" dirty="0">
                <a:solidFill>
                  <a:srgbClr val="283593"/>
                </a:solidFill>
                <a:latin typeface="Calibri" pitchFamily="34" charset="0"/>
                <a:ea typeface="Calibri" pitchFamily="34" charset="-122"/>
                <a:cs typeface="Calibri" pitchFamily="34" charset="-120"/>
              </a:rPr>
              <a:t>✓ Más directa para recorrer estructuras simples como un arreglo.</a:t>
            </a:r>
            <a:endParaRPr lang="en-US" sz="1400" dirty="0"/>
          </a:p>
          <a:p>
            <a:pPr indent="0" marL="0">
              <a:lnSpc>
                <a:spcPct val="135000"/>
              </a:lnSpc>
              <a:buNone/>
            </a:pPr>
            <a:r>
              <a:rPr lang="en-US" sz="1400" dirty="0">
                <a:solidFill>
                  <a:srgbClr val="283593"/>
                </a:solidFill>
                <a:latin typeface="Calibri" pitchFamily="34" charset="0"/>
                <a:ea typeface="Calibri" pitchFamily="34" charset="-122"/>
                <a:cs typeface="Calibri" pitchFamily="34" charset="-120"/>
              </a:rPr>
              <a:t>✕ El código puede ser menos parecido a la idea original del problema.</a:t>
            </a:r>
            <a:endParaRPr lang="en-US" sz="1400" dirty="0"/>
          </a:p>
          <a:p>
            <a:pPr indent="0" marL="0">
              <a:lnSpc>
                <a:spcPct val="135000"/>
              </a:lnSpc>
              <a:buNone/>
            </a:pPr>
            <a:r>
              <a:rPr lang="en-US" sz="1400" dirty="0">
                <a:solidFill>
                  <a:srgbClr val="283593"/>
                </a:solidFill>
                <a:latin typeface="Calibri" pitchFamily="34" charset="0"/>
                <a:ea typeface="Calibri" pitchFamily="34" charset="-122"/>
                <a:cs typeface="Calibri" pitchFamily="34" charset="-120"/>
              </a:rPr>
              <a:t>✕ Para problemas jerárquicos (árboles), suele ser más difícil de escribir.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PRÁCTICA RÁPIDA</a:t>
            </a:r>
            <a:endParaRPr lang="en-US" sz="1300" dirty="0"/>
          </a:p>
        </p:txBody>
      </p:sp>
      <p:sp>
        <p:nvSpPr>
          <p:cNvPr id="3" name="Text 1"/>
          <p:cNvSpPr txBox="1"/>
          <p:nvPr/>
        </p:nvSpPr>
        <p:spPr>
          <a:xfrm>
            <a:off x="640080" y="777240"/>
            <a:ext cx="10515600" cy="731520"/>
          </a:xfrm>
          <a:prstGeom prst="rect">
            <a:avLst/>
          </a:prstGeom>
          <a:noFill/>
          <a:ln/>
        </p:spPr>
        <p:txBody>
          <a:bodyPr wrap="square" lIns="0" tIns="0" rIns="0" bIns="0" rtlCol="0" anchor="ctr"/>
          <a:lstStyle/>
          <a:p>
            <a:pPr indent="0" marL="0">
              <a:buNone/>
            </a:pPr>
            <a:r>
              <a:rPr lang="en-US" sz="2800" b="1" dirty="0">
                <a:solidFill>
                  <a:srgbClr val="1A2723"/>
                </a:solidFill>
                <a:latin typeface="Cambria" pitchFamily="34" charset="0"/>
                <a:ea typeface="Cambria" pitchFamily="34" charset="-122"/>
                <a:cs typeface="Cambria" pitchFamily="34" charset="-120"/>
              </a:rPr>
              <a:t>Encuentra el caso base y el caso recursivo</a:t>
            </a:r>
            <a:endParaRPr lang="en-US" sz="2800" dirty="0"/>
          </a:p>
        </p:txBody>
      </p:sp>
      <p:sp>
        <p:nvSpPr>
          <p:cNvPr id="4" name="Shape 2"/>
          <p:cNvSpPr/>
          <p:nvPr/>
        </p:nvSpPr>
        <p:spPr>
          <a:xfrm>
            <a:off x="640080" y="1920240"/>
            <a:ext cx="5212080" cy="1783080"/>
          </a:xfrm>
          <a:prstGeom prst="roundRect">
            <a:avLst>
              <a:gd name="adj" fmla="val 6154"/>
            </a:avLst>
          </a:prstGeom>
          <a:solidFill>
            <a:srgbClr val="E8F5EE"/>
          </a:solidFill>
          <a:ln/>
        </p:spPr>
      </p:sp>
      <p:sp>
        <p:nvSpPr>
          <p:cNvPr id="5" name="Shape 3"/>
          <p:cNvSpPr/>
          <p:nvPr/>
        </p:nvSpPr>
        <p:spPr>
          <a:xfrm>
            <a:off x="914400" y="2194560"/>
            <a:ext cx="594360" cy="594360"/>
          </a:xfrm>
          <a:prstGeom prst="ellipse">
            <a:avLst/>
          </a:prstGeom>
          <a:solidFill>
            <a:srgbClr val="1A6B3C"/>
          </a:solidFill>
          <a:ln/>
        </p:spPr>
      </p:sp>
      <p:sp>
        <p:nvSpPr>
          <p:cNvPr id="6" name="Text 4"/>
          <p:cNvSpPr txBox="1"/>
          <p:nvPr/>
        </p:nvSpPr>
        <p:spPr>
          <a:xfrm>
            <a:off x="914400" y="21945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7" name="Text 5"/>
          <p:cNvSpPr txBox="1"/>
          <p:nvPr/>
        </p:nvSpPr>
        <p:spPr>
          <a:xfrm>
            <a:off x="1691640" y="2148840"/>
            <a:ext cx="3977640" cy="1325880"/>
          </a:xfrm>
          <a:prstGeom prst="rect">
            <a:avLst/>
          </a:prstGeom>
          <a:noFill/>
          <a:ln/>
        </p:spPr>
        <p:txBody>
          <a:bodyPr wrap="square" lIns="0" tIns="0" rIns="0" bIns="0" rtlCol="0" anchor="ctr"/>
          <a:lstStyle/>
          <a:p>
            <a:pPr indent="0" marL="0">
              <a:lnSpc>
                <a:spcPct val="125000"/>
              </a:lnSpc>
              <a:buNone/>
            </a:pPr>
            <a:r>
              <a:rPr lang="en-US" sz="1450" dirty="0">
                <a:solidFill>
                  <a:srgbClr val="1A2723"/>
                </a:solidFill>
                <a:latin typeface="Calibri" pitchFamily="34" charset="0"/>
                <a:ea typeface="Calibri" pitchFamily="34" charset="-122"/>
                <a:cs typeface="Calibri" pitchFamily="34" charset="-120"/>
              </a:rPr>
              <a:t>Sumar todos los números de 1 hasta n.</a:t>
            </a:r>
            <a:endParaRPr lang="en-US" sz="1450" dirty="0"/>
          </a:p>
        </p:txBody>
      </p:sp>
      <p:sp>
        <p:nvSpPr>
          <p:cNvPr id="8" name="Shape 6"/>
          <p:cNvSpPr/>
          <p:nvPr/>
        </p:nvSpPr>
        <p:spPr>
          <a:xfrm>
            <a:off x="6263640" y="1920240"/>
            <a:ext cx="5212080" cy="1783080"/>
          </a:xfrm>
          <a:prstGeom prst="roundRect">
            <a:avLst>
              <a:gd name="adj" fmla="val 6154"/>
            </a:avLst>
          </a:prstGeom>
          <a:solidFill>
            <a:srgbClr val="E8F5EE"/>
          </a:solidFill>
          <a:ln/>
        </p:spPr>
      </p:sp>
      <p:sp>
        <p:nvSpPr>
          <p:cNvPr id="9" name="Shape 7"/>
          <p:cNvSpPr/>
          <p:nvPr/>
        </p:nvSpPr>
        <p:spPr>
          <a:xfrm>
            <a:off x="6537960" y="2194560"/>
            <a:ext cx="594360" cy="594360"/>
          </a:xfrm>
          <a:prstGeom prst="ellipse">
            <a:avLst/>
          </a:prstGeom>
          <a:solidFill>
            <a:srgbClr val="1A6B3C"/>
          </a:solidFill>
          <a:ln/>
        </p:spPr>
      </p:sp>
      <p:sp>
        <p:nvSpPr>
          <p:cNvPr id="10" name="Text 8"/>
          <p:cNvSpPr txBox="1"/>
          <p:nvPr/>
        </p:nvSpPr>
        <p:spPr>
          <a:xfrm>
            <a:off x="6537960" y="21945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a:t>
            </a:r>
            <a:endParaRPr lang="en-US" sz="2200" dirty="0"/>
          </a:p>
        </p:txBody>
      </p:sp>
      <p:sp>
        <p:nvSpPr>
          <p:cNvPr id="11" name="Text 9"/>
          <p:cNvSpPr txBox="1"/>
          <p:nvPr/>
        </p:nvSpPr>
        <p:spPr>
          <a:xfrm>
            <a:off x="7315200" y="2148840"/>
            <a:ext cx="3977640" cy="1325880"/>
          </a:xfrm>
          <a:prstGeom prst="rect">
            <a:avLst/>
          </a:prstGeom>
          <a:noFill/>
          <a:ln/>
        </p:spPr>
        <p:txBody>
          <a:bodyPr wrap="square" lIns="0" tIns="0" rIns="0" bIns="0" rtlCol="0" anchor="ctr"/>
          <a:lstStyle/>
          <a:p>
            <a:pPr indent="0" marL="0">
              <a:lnSpc>
                <a:spcPct val="125000"/>
              </a:lnSpc>
              <a:buNone/>
            </a:pPr>
            <a:r>
              <a:rPr lang="en-US" sz="1450" dirty="0">
                <a:solidFill>
                  <a:srgbClr val="1A2723"/>
                </a:solidFill>
                <a:latin typeface="Calibri" pitchFamily="34" charset="0"/>
                <a:ea typeface="Calibri" pitchFamily="34" charset="-122"/>
                <a:cs typeface="Calibri" pitchFamily="34" charset="-120"/>
              </a:rPr>
              <a:t>Contar cuántos elementos tiene una fila de personas, quitando una a la vez.</a:t>
            </a:r>
            <a:endParaRPr lang="en-US" sz="1450" dirty="0"/>
          </a:p>
        </p:txBody>
      </p:sp>
      <p:sp>
        <p:nvSpPr>
          <p:cNvPr id="12" name="Shape 10"/>
          <p:cNvSpPr/>
          <p:nvPr/>
        </p:nvSpPr>
        <p:spPr>
          <a:xfrm>
            <a:off x="640080" y="3931920"/>
            <a:ext cx="5212080" cy="1783080"/>
          </a:xfrm>
          <a:prstGeom prst="roundRect">
            <a:avLst>
              <a:gd name="adj" fmla="val 6154"/>
            </a:avLst>
          </a:prstGeom>
          <a:solidFill>
            <a:srgbClr val="E8F5EE"/>
          </a:solidFill>
          <a:ln/>
        </p:spPr>
      </p:sp>
      <p:sp>
        <p:nvSpPr>
          <p:cNvPr id="13" name="Shape 11"/>
          <p:cNvSpPr/>
          <p:nvPr/>
        </p:nvSpPr>
        <p:spPr>
          <a:xfrm>
            <a:off x="914400" y="4206240"/>
            <a:ext cx="594360" cy="594360"/>
          </a:xfrm>
          <a:prstGeom prst="ellipse">
            <a:avLst/>
          </a:prstGeom>
          <a:solidFill>
            <a:srgbClr val="1A6B3C"/>
          </a:solidFill>
          <a:ln/>
        </p:spPr>
      </p:sp>
      <p:sp>
        <p:nvSpPr>
          <p:cNvPr id="14" name="Text 12"/>
          <p:cNvSpPr txBox="1"/>
          <p:nvPr/>
        </p:nvSpPr>
        <p:spPr>
          <a:xfrm>
            <a:off x="914400" y="42062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a:t>
            </a:r>
            <a:endParaRPr lang="en-US" sz="2200" dirty="0"/>
          </a:p>
        </p:txBody>
      </p:sp>
      <p:sp>
        <p:nvSpPr>
          <p:cNvPr id="15" name="Text 13"/>
          <p:cNvSpPr txBox="1"/>
          <p:nvPr/>
        </p:nvSpPr>
        <p:spPr>
          <a:xfrm>
            <a:off x="1691640" y="4160520"/>
            <a:ext cx="3977640" cy="1325880"/>
          </a:xfrm>
          <a:prstGeom prst="rect">
            <a:avLst/>
          </a:prstGeom>
          <a:noFill/>
          <a:ln/>
        </p:spPr>
        <p:txBody>
          <a:bodyPr wrap="square" lIns="0" tIns="0" rIns="0" bIns="0" rtlCol="0" anchor="ctr"/>
          <a:lstStyle/>
          <a:p>
            <a:pPr indent="0" marL="0">
              <a:lnSpc>
                <a:spcPct val="125000"/>
              </a:lnSpc>
              <a:buNone/>
            </a:pPr>
            <a:r>
              <a:rPr lang="en-US" sz="1450" dirty="0">
                <a:solidFill>
                  <a:srgbClr val="1A2723"/>
                </a:solidFill>
                <a:latin typeface="Calibri" pitchFamily="34" charset="0"/>
                <a:ea typeface="Calibri" pitchFamily="34" charset="-122"/>
                <a:cs typeface="Calibri" pitchFamily="34" charset="-120"/>
              </a:rPr>
              <a:t>Buscar la última muñeca de una matrioska, abriendo una por una.</a:t>
            </a:r>
            <a:endParaRPr lang="en-US" sz="1450" dirty="0"/>
          </a:p>
        </p:txBody>
      </p:sp>
      <p:sp>
        <p:nvSpPr>
          <p:cNvPr id="16" name="Shape 14"/>
          <p:cNvSpPr/>
          <p:nvPr/>
        </p:nvSpPr>
        <p:spPr>
          <a:xfrm>
            <a:off x="6263640" y="3931920"/>
            <a:ext cx="5212080" cy="1783080"/>
          </a:xfrm>
          <a:prstGeom prst="roundRect">
            <a:avLst>
              <a:gd name="adj" fmla="val 6154"/>
            </a:avLst>
          </a:prstGeom>
          <a:solidFill>
            <a:srgbClr val="E8F5EE"/>
          </a:solidFill>
          <a:ln/>
        </p:spPr>
      </p:sp>
      <p:sp>
        <p:nvSpPr>
          <p:cNvPr id="17" name="Shape 15"/>
          <p:cNvSpPr/>
          <p:nvPr/>
        </p:nvSpPr>
        <p:spPr>
          <a:xfrm>
            <a:off x="6537960" y="4206240"/>
            <a:ext cx="594360" cy="594360"/>
          </a:xfrm>
          <a:prstGeom prst="ellipse">
            <a:avLst/>
          </a:prstGeom>
          <a:solidFill>
            <a:srgbClr val="1A6B3C"/>
          </a:solidFill>
          <a:ln/>
        </p:spPr>
      </p:sp>
      <p:sp>
        <p:nvSpPr>
          <p:cNvPr id="18" name="Text 16"/>
          <p:cNvSpPr txBox="1"/>
          <p:nvPr/>
        </p:nvSpPr>
        <p:spPr>
          <a:xfrm>
            <a:off x="6537960" y="42062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a:t>
            </a:r>
            <a:endParaRPr lang="en-US" sz="2200" dirty="0"/>
          </a:p>
        </p:txBody>
      </p:sp>
      <p:sp>
        <p:nvSpPr>
          <p:cNvPr id="19" name="Text 17"/>
          <p:cNvSpPr txBox="1"/>
          <p:nvPr/>
        </p:nvSpPr>
        <p:spPr>
          <a:xfrm>
            <a:off x="7315200" y="4160520"/>
            <a:ext cx="3977640" cy="1325880"/>
          </a:xfrm>
          <a:prstGeom prst="rect">
            <a:avLst/>
          </a:prstGeom>
          <a:noFill/>
          <a:ln/>
        </p:spPr>
        <p:txBody>
          <a:bodyPr wrap="square" lIns="0" tIns="0" rIns="0" bIns="0" rtlCol="0" anchor="ctr"/>
          <a:lstStyle/>
          <a:p>
            <a:pPr indent="0" marL="0">
              <a:lnSpc>
                <a:spcPct val="125000"/>
              </a:lnSpc>
              <a:buNone/>
            </a:pPr>
            <a:r>
              <a:rPr lang="en-US" sz="1450" dirty="0">
                <a:solidFill>
                  <a:srgbClr val="1A2723"/>
                </a:solidFill>
                <a:latin typeface="Calibri" pitchFamily="34" charset="0"/>
                <a:ea typeface="Calibri" pitchFamily="34" charset="-122"/>
                <a:cs typeface="Calibri" pitchFamily="34" charset="-120"/>
              </a:rPr>
              <a:t>Calcular las potencias de 2: 2ⁿ = 2 × 2ⁿ⁻¹.</a:t>
            </a:r>
            <a:endParaRPr lang="en-US" sz="1450" dirty="0"/>
          </a:p>
        </p:txBody>
      </p:sp>
      <p:sp>
        <p:nvSpPr>
          <p:cNvPr id="20" name="Text 18"/>
          <p:cNvSpPr txBox="1"/>
          <p:nvPr/>
        </p:nvSpPr>
        <p:spPr>
          <a:xfrm>
            <a:off x="640080" y="5989320"/>
            <a:ext cx="10515600" cy="45720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Escribe en el chat: caso base y caso recursivo de una de las letras →</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365760"/>
          </a:xfrm>
          <a:prstGeom prst="rect">
            <a:avLst/>
          </a:prstGeom>
          <a:noFill/>
          <a:ln/>
        </p:spPr>
        <p:txBody>
          <a:bodyPr wrap="square" lIns="0" tIns="0" rIns="0" bIns="0" rtlCol="0" anchor="ctr"/>
          <a:lstStyle/>
          <a:p>
            <a:pPr indent="0" marL="0">
              <a:buNone/>
            </a:pPr>
            <a:r>
              <a:rPr lang="en-US" sz="1300" b="1" spc="150" kern="0" dirty="0">
                <a:solidFill>
                  <a:srgbClr val="E8A020"/>
                </a:solidFill>
                <a:latin typeface="Calibri" pitchFamily="34" charset="0"/>
                <a:ea typeface="Calibri" pitchFamily="34" charset="-122"/>
                <a:cs typeface="Calibri" pitchFamily="34" charset="-120"/>
              </a:rPr>
              <a:t>ANTES DE TERMINAR</a:t>
            </a:r>
            <a:endParaRPr lang="en-US" sz="1300" dirty="0"/>
          </a:p>
        </p:txBody>
      </p:sp>
      <p:sp>
        <p:nvSpPr>
          <p:cNvPr id="3" name="Text 1"/>
          <p:cNvSpPr txBox="1"/>
          <p:nvPr/>
        </p:nvSpPr>
        <p:spPr>
          <a:xfrm>
            <a:off x="640080" y="868680"/>
            <a:ext cx="73152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Qué sigue</a:t>
            </a:r>
            <a:endParaRPr lang="en-US" sz="3400" dirty="0"/>
          </a:p>
        </p:txBody>
      </p:sp>
      <p:sp>
        <p:nvSpPr>
          <p:cNvPr id="4" name="Shape 2"/>
          <p:cNvSpPr/>
          <p:nvPr/>
        </p:nvSpPr>
        <p:spPr>
          <a:xfrm>
            <a:off x="640080" y="1965960"/>
            <a:ext cx="10881360" cy="1234440"/>
          </a:xfrm>
          <a:prstGeom prst="roundRect">
            <a:avLst>
              <a:gd name="adj" fmla="val 8889"/>
            </a:avLst>
          </a:prstGeom>
          <a:solidFill>
            <a:srgbClr val="153E28"/>
          </a:solidFill>
          <a:ln/>
        </p:spPr>
      </p:sp>
      <p:sp>
        <p:nvSpPr>
          <p:cNvPr id="5" name="Shape 3"/>
          <p:cNvSpPr/>
          <p:nvPr/>
        </p:nvSpPr>
        <p:spPr>
          <a:xfrm>
            <a:off x="914400" y="2240280"/>
            <a:ext cx="685800" cy="685800"/>
          </a:xfrm>
          <a:prstGeom prst="ellipse">
            <a:avLst/>
          </a:prstGeom>
          <a:solidFill>
            <a:srgbClr val="E8A020"/>
          </a:solidFill>
          <a:ln/>
        </p:spPr>
      </p:sp>
      <p:sp>
        <p:nvSpPr>
          <p:cNvPr id="6" name="Text 4"/>
          <p:cNvSpPr txBox="1"/>
          <p:nvPr/>
        </p:nvSpPr>
        <p:spPr>
          <a:xfrm>
            <a:off x="914400" y="2240280"/>
            <a:ext cx="685800" cy="685800"/>
          </a:xfrm>
          <a:prstGeom prst="rect">
            <a:avLst/>
          </a:prstGeom>
          <a:noFill/>
          <a:ln/>
        </p:spPr>
        <p:txBody>
          <a:bodyPr wrap="square" lIns="0" tIns="0" rIns="0" bIns="0" rtlCol="0" anchor="ctr"/>
          <a:lstStyle/>
          <a:p>
            <a:pPr algn="ctr" indent="0" marL="0">
              <a:buNone/>
            </a:pPr>
            <a:r>
              <a:rPr lang="en-US" sz="2600" b="1" dirty="0">
                <a:solidFill>
                  <a:srgbClr val="0E4525"/>
                </a:solidFill>
                <a:latin typeface="Calibri" pitchFamily="34" charset="0"/>
                <a:ea typeface="Calibri" pitchFamily="34" charset="-122"/>
                <a:cs typeface="Calibri" pitchFamily="34" charset="-120"/>
              </a:rPr>
              <a:t>1</a:t>
            </a:r>
            <a:endParaRPr lang="en-US" sz="2600" dirty="0"/>
          </a:p>
        </p:txBody>
      </p:sp>
      <p:sp>
        <p:nvSpPr>
          <p:cNvPr id="7" name="Text 5"/>
          <p:cNvSpPr txBox="1"/>
          <p:nvPr/>
        </p:nvSpPr>
        <p:spPr>
          <a:xfrm>
            <a:off x="1874520" y="2103120"/>
            <a:ext cx="93268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Cierre de Unidad 1</a:t>
            </a:r>
            <a:endParaRPr lang="en-US" sz="1700" dirty="0"/>
          </a:p>
        </p:txBody>
      </p:sp>
      <p:sp>
        <p:nvSpPr>
          <p:cNvPr id="8" name="Text 6"/>
          <p:cNvSpPr txBox="1"/>
          <p:nvPr/>
        </p:nvSpPr>
        <p:spPr>
          <a:xfrm>
            <a:off x="1874520" y="2514600"/>
            <a:ext cx="9326880" cy="594360"/>
          </a:xfrm>
          <a:prstGeom prst="rect">
            <a:avLst/>
          </a:prstGeom>
          <a:noFill/>
          <a:ln/>
        </p:spPr>
        <p:txBody>
          <a:bodyPr wrap="square" lIns="0" tIns="0" rIns="0" bIns="0" rtlCol="0" anchor="ctr"/>
          <a:lstStyle/>
          <a:p>
            <a:pPr indent="0" marL="0">
              <a:lnSpc>
                <a:spcPct val="120000"/>
              </a:lnSpc>
              <a:buNone/>
            </a:pPr>
            <a:r>
              <a:rPr lang="en-US" sz="1300" dirty="0">
                <a:solidFill>
                  <a:srgbClr val="CFE8D8"/>
                </a:solidFill>
                <a:latin typeface="Calibri" pitchFamily="34" charset="0"/>
                <a:ea typeface="Calibri" pitchFamily="34" charset="-122"/>
                <a:cs typeface="Calibri" pitchFamily="34" charset="-120"/>
              </a:rPr>
              <a:t>Quiz conceptual (clasificación, Big O, arreglos, recursividad) + traza de recursividad — vale 30% del primer corte.</a:t>
            </a:r>
            <a:endParaRPr lang="en-US" sz="1300" dirty="0"/>
          </a:p>
        </p:txBody>
      </p:sp>
      <p:sp>
        <p:nvSpPr>
          <p:cNvPr id="9" name="Shape 7"/>
          <p:cNvSpPr/>
          <p:nvPr/>
        </p:nvSpPr>
        <p:spPr>
          <a:xfrm>
            <a:off x="640080" y="3383280"/>
            <a:ext cx="10881360" cy="1234440"/>
          </a:xfrm>
          <a:prstGeom prst="roundRect">
            <a:avLst>
              <a:gd name="adj" fmla="val 8889"/>
            </a:avLst>
          </a:prstGeom>
          <a:solidFill>
            <a:srgbClr val="153E28"/>
          </a:solidFill>
          <a:ln/>
        </p:spPr>
      </p:sp>
      <p:sp>
        <p:nvSpPr>
          <p:cNvPr id="10" name="Shape 8"/>
          <p:cNvSpPr/>
          <p:nvPr/>
        </p:nvSpPr>
        <p:spPr>
          <a:xfrm>
            <a:off x="914400" y="3657600"/>
            <a:ext cx="685800" cy="685800"/>
          </a:xfrm>
          <a:prstGeom prst="ellipse">
            <a:avLst/>
          </a:prstGeom>
          <a:solidFill>
            <a:srgbClr val="E8A020"/>
          </a:solidFill>
          <a:ln/>
        </p:spPr>
      </p:sp>
      <p:sp>
        <p:nvSpPr>
          <p:cNvPr id="11" name="Text 9"/>
          <p:cNvSpPr txBox="1"/>
          <p:nvPr/>
        </p:nvSpPr>
        <p:spPr>
          <a:xfrm>
            <a:off x="914400" y="3657600"/>
            <a:ext cx="685800" cy="685800"/>
          </a:xfrm>
          <a:prstGeom prst="rect">
            <a:avLst/>
          </a:prstGeom>
          <a:noFill/>
          <a:ln/>
        </p:spPr>
        <p:txBody>
          <a:bodyPr wrap="square" lIns="0" tIns="0" rIns="0" bIns="0" rtlCol="0" anchor="ctr"/>
          <a:lstStyle/>
          <a:p>
            <a:pPr algn="ctr" indent="0" marL="0">
              <a:buNone/>
            </a:pPr>
            <a:r>
              <a:rPr lang="en-US" sz="2600" b="1" dirty="0">
                <a:solidFill>
                  <a:srgbClr val="0E4525"/>
                </a:solidFill>
                <a:latin typeface="Calibri" pitchFamily="34" charset="0"/>
                <a:ea typeface="Calibri" pitchFamily="34" charset="-122"/>
                <a:cs typeface="Calibri" pitchFamily="34" charset="-120"/>
              </a:rPr>
              <a:t>2</a:t>
            </a:r>
            <a:endParaRPr lang="en-US" sz="2600" dirty="0"/>
          </a:p>
        </p:txBody>
      </p:sp>
      <p:sp>
        <p:nvSpPr>
          <p:cNvPr id="12" name="Text 10"/>
          <p:cNvSpPr txBox="1"/>
          <p:nvPr/>
        </p:nvSpPr>
        <p:spPr>
          <a:xfrm>
            <a:off x="1874520" y="3520440"/>
            <a:ext cx="93268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SICAU</a:t>
            </a:r>
            <a:endParaRPr lang="en-US" sz="1700" dirty="0"/>
          </a:p>
        </p:txBody>
      </p:sp>
      <p:sp>
        <p:nvSpPr>
          <p:cNvPr id="13" name="Text 11"/>
          <p:cNvSpPr txBox="1"/>
          <p:nvPr/>
        </p:nvSpPr>
        <p:spPr>
          <a:xfrm>
            <a:off x="1874520" y="3931920"/>
            <a:ext cx="9326880" cy="594360"/>
          </a:xfrm>
          <a:prstGeom prst="rect">
            <a:avLst/>
          </a:prstGeom>
          <a:noFill/>
          <a:ln/>
        </p:spPr>
        <p:txBody>
          <a:bodyPr wrap="square" lIns="0" tIns="0" rIns="0" bIns="0" rtlCol="0" anchor="ctr"/>
          <a:lstStyle/>
          <a:p>
            <a:pPr indent="0" marL="0">
              <a:lnSpc>
                <a:spcPct val="120000"/>
              </a:lnSpc>
              <a:buNone/>
            </a:pPr>
            <a:r>
              <a:rPr lang="en-US" sz="1300" dirty="0">
                <a:solidFill>
                  <a:srgbClr val="CFE8D8"/>
                </a:solidFill>
                <a:latin typeface="Calibri" pitchFamily="34" charset="0"/>
                <a:ea typeface="Calibri" pitchFamily="34" charset="-122"/>
                <a:cs typeface="Calibri" pitchFamily="34" charset="-120"/>
              </a:rPr>
              <a:t>Recuerda diligenciar la encuesta institucional del 8 al 12 de septiembre.</a:t>
            </a:r>
            <a:endParaRPr lang="en-US" sz="1300" dirty="0"/>
          </a:p>
        </p:txBody>
      </p:sp>
      <p:sp>
        <p:nvSpPr>
          <p:cNvPr id="14" name="Shape 12"/>
          <p:cNvSpPr/>
          <p:nvPr/>
        </p:nvSpPr>
        <p:spPr>
          <a:xfrm>
            <a:off x="640080" y="4800600"/>
            <a:ext cx="10881360" cy="1234440"/>
          </a:xfrm>
          <a:prstGeom prst="roundRect">
            <a:avLst>
              <a:gd name="adj" fmla="val 8889"/>
            </a:avLst>
          </a:prstGeom>
          <a:solidFill>
            <a:srgbClr val="153E28"/>
          </a:solidFill>
          <a:ln/>
        </p:spPr>
      </p:sp>
      <p:sp>
        <p:nvSpPr>
          <p:cNvPr id="15" name="Shape 13"/>
          <p:cNvSpPr/>
          <p:nvPr/>
        </p:nvSpPr>
        <p:spPr>
          <a:xfrm>
            <a:off x="914400" y="5074920"/>
            <a:ext cx="685800" cy="685800"/>
          </a:xfrm>
          <a:prstGeom prst="ellipse">
            <a:avLst/>
          </a:prstGeom>
          <a:solidFill>
            <a:srgbClr val="E8A020"/>
          </a:solidFill>
          <a:ln/>
        </p:spPr>
      </p:sp>
      <p:sp>
        <p:nvSpPr>
          <p:cNvPr id="16" name="Text 14"/>
          <p:cNvSpPr txBox="1"/>
          <p:nvPr/>
        </p:nvSpPr>
        <p:spPr>
          <a:xfrm>
            <a:off x="914400" y="5074920"/>
            <a:ext cx="685800" cy="685800"/>
          </a:xfrm>
          <a:prstGeom prst="rect">
            <a:avLst/>
          </a:prstGeom>
          <a:noFill/>
          <a:ln/>
        </p:spPr>
        <p:txBody>
          <a:bodyPr wrap="square" lIns="0" tIns="0" rIns="0" bIns="0" rtlCol="0" anchor="ctr"/>
          <a:lstStyle/>
          <a:p>
            <a:pPr algn="ctr" indent="0" marL="0">
              <a:buNone/>
            </a:pPr>
            <a:r>
              <a:rPr lang="en-US" sz="2600" b="1" dirty="0">
                <a:solidFill>
                  <a:srgbClr val="0E4525"/>
                </a:solidFill>
                <a:latin typeface="Calibri" pitchFamily="34" charset="0"/>
                <a:ea typeface="Calibri" pitchFamily="34" charset="-122"/>
                <a:cs typeface="Calibri" pitchFamily="34" charset="-120"/>
              </a:rPr>
              <a:t>3</a:t>
            </a:r>
            <a:endParaRPr lang="en-US" sz="2600" dirty="0"/>
          </a:p>
        </p:txBody>
      </p:sp>
      <p:sp>
        <p:nvSpPr>
          <p:cNvPr id="17" name="Text 15"/>
          <p:cNvSpPr txBox="1"/>
          <p:nvPr/>
        </p:nvSpPr>
        <p:spPr>
          <a:xfrm>
            <a:off x="1874520" y="4937760"/>
            <a:ext cx="93268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Próxima unidad: memoria dinámica</a:t>
            </a:r>
            <a:endParaRPr lang="en-US" sz="1700" dirty="0"/>
          </a:p>
        </p:txBody>
      </p:sp>
      <p:sp>
        <p:nvSpPr>
          <p:cNvPr id="18" name="Text 16"/>
          <p:cNvSpPr txBox="1"/>
          <p:nvPr/>
        </p:nvSpPr>
        <p:spPr>
          <a:xfrm>
            <a:off x="1874520" y="5349240"/>
            <a:ext cx="9326880" cy="594360"/>
          </a:xfrm>
          <a:prstGeom prst="rect">
            <a:avLst/>
          </a:prstGeom>
          <a:noFill/>
          <a:ln/>
        </p:spPr>
        <p:txBody>
          <a:bodyPr wrap="square" lIns="0" tIns="0" rIns="0" bIns="0" rtlCol="0" anchor="ctr"/>
          <a:lstStyle/>
          <a:p>
            <a:pPr indent="0" marL="0">
              <a:lnSpc>
                <a:spcPct val="120000"/>
              </a:lnSpc>
              <a:buNone/>
            </a:pPr>
            <a:r>
              <a:rPr lang="en-US" sz="1300" dirty="0">
                <a:solidFill>
                  <a:srgbClr val="CFE8D8"/>
                </a:solidFill>
                <a:latin typeface="Calibri" pitchFamily="34" charset="0"/>
                <a:ea typeface="Calibri" pitchFamily="34" charset="-122"/>
                <a:cs typeface="Calibri" pitchFamily="34" charset="-120"/>
              </a:rPr>
              <a:t>Empezamos Unidad 2 con listas enlazadas — y la "pila" que vimos hoy se vuelve una estructura de datos formal.</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2103120"/>
            <a:ext cx="91440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Gracias por
</a:t>
            </a:r>
            <a:endParaRPr lang="en-US" sz="4000" dirty="0"/>
          </a:p>
        </p:txBody>
      </p:sp>
      <p:sp>
        <p:nvSpPr>
          <p:cNvPr id="3" name="Text 1"/>
          <p:cNvSpPr txBox="1"/>
          <p:nvPr/>
        </p:nvSpPr>
        <p:spPr>
          <a:xfrm>
            <a:off x="640080" y="2880360"/>
            <a:ext cx="91440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pensar en </a:t>
            </a:r>
            <a:pPr indent="0" marL="0">
              <a:buNone/>
            </a:pPr>
            <a:r>
              <a:rPr lang="en-US" sz="4000" b="1" dirty="0">
                <a:solidFill>
                  <a:srgbClr val="E8A020"/>
                </a:solidFill>
                <a:latin typeface="Cambria" pitchFamily="34" charset="0"/>
                <a:ea typeface="Cambria" pitchFamily="34" charset="-122"/>
                <a:cs typeface="Cambria" pitchFamily="34" charset="-120"/>
              </a:rPr>
              <a:t>capas.</a:t>
            </a:r>
            <a:endParaRPr lang="en-US" sz="4000" dirty="0"/>
          </a:p>
        </p:txBody>
      </p:sp>
      <p:sp>
        <p:nvSpPr>
          <p:cNvPr id="4" name="Text 2"/>
          <p:cNvSpPr txBox="1"/>
          <p:nvPr/>
        </p:nvSpPr>
        <p:spPr>
          <a:xfrm>
            <a:off x="640080" y="6035040"/>
            <a:ext cx="9144000" cy="457200"/>
          </a:xfrm>
          <a:prstGeom prst="rect">
            <a:avLst/>
          </a:prstGeom>
          <a:noFill/>
          <a:ln/>
        </p:spPr>
        <p:txBody>
          <a:bodyPr wrap="square" lIns="0" tIns="0" rIns="0" bIns="0" rtlCol="0" anchor="ctr"/>
          <a:lstStyle/>
          <a:p>
            <a:pPr indent="0" marL="0">
              <a:buNone/>
            </a:pPr>
            <a:r>
              <a:rPr lang="en-US" sz="1300" dirty="0">
                <a:solidFill>
                  <a:srgbClr val="8FBFA0"/>
                </a:solidFill>
                <a:latin typeface="Calibri" pitchFamily="34" charset="0"/>
                <a:ea typeface="Calibri" pitchFamily="34" charset="-122"/>
                <a:cs typeface="Calibri" pitchFamily="34" charset="-120"/>
              </a:rPr>
              <a:t>I.U. Pascual Bravo · SD1004 Estructura de Datos · Juan Duque</a:t>
            </a:r>
            <a:endParaRPr lang="en-US" sz="1300" dirty="0"/>
          </a:p>
        </p:txBody>
      </p:sp>
      <p:sp>
        <p:nvSpPr>
          <p:cNvPr id="5" name="Shape 3"/>
          <p:cNvSpPr/>
          <p:nvPr/>
        </p:nvSpPr>
        <p:spPr>
          <a:xfrm>
            <a:off x="9509760" y="2377440"/>
            <a:ext cx="2011680" cy="2011680"/>
          </a:xfrm>
          <a:prstGeom prst="ellipse">
            <a:avLst/>
          </a:prstGeom>
          <a:solidFill>
            <a:srgbClr val="E8A020"/>
          </a:solidFill>
          <a:ln/>
        </p:spPr>
      </p:sp>
      <p:sp>
        <p:nvSpPr>
          <p:cNvPr id="6" name="Shape 4"/>
          <p:cNvSpPr/>
          <p:nvPr/>
        </p:nvSpPr>
        <p:spPr>
          <a:xfrm>
            <a:off x="9912096" y="2779776"/>
            <a:ext cx="1207008" cy="1207008"/>
          </a:xfrm>
          <a:prstGeom prst="star5">
            <a:avLst/>
          </a:prstGeom>
          <a:solidFill>
            <a:srgbClr val="0E4525"/>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2026-09-14T19:54:45Z</dcterms:created>
  <dcterms:modified xsi:type="dcterms:W3CDTF">2026-09-14T19:54:45Z</dcterms:modified>
</cp:coreProperties>
</file>