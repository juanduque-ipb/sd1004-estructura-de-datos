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61520" cy="6858000"/>
  <p:notesSz cx="6858000" cy="121615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Recordar que hoy también es la fecha límite de la misión draw.io + GitHub. Resolver dudas rápidas al inicio si hace falta.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ultra rápido — solo para tener el vocabulario fresco antes de aplicarlo a arreglos.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Dejar claro desde ya que hoy se construye el entregable — reduce la ansiedad de 'otra tarea más' porque ya la empiezan en clase.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Dejar que especulen antes de pasar de diapositiva. Cualquier respuesta razonable (lista, casillero) se acerca al concepto.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Conectar con lo que dijeron en el chat antes de seguir al concepto formal.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Dibujar esto mismo en vivo en draw.io mientras lo explicas, para que vean el proceso de construcción, no solo el resultado.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es EL error más común al empezar. Vale la pena repetirlo dos veces y volver a él cuando alguien se confunda más adelante.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Conexión directa con la analogía del libro de la clase de Big 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es el puente entre el diagrama de cajas y lo que realmente pasa en el computador. No hace falta profundizar en bytes/hexadecimal — la idea central es 'contiguo + mismo tamaño = se puede calcular'.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 del bloque de acceso: quien entendió esta fórmula entendió por qué el acceso a arreglos es tan rápido. No hace falta más profundidad matemática que esta.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Sembrar la próxima unidad (listas enlazadas) sin adelantarse demasiado — solo mencionar que existe una solución mejor para este problema específico.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Hacerlo en vivo compartiendo pantalla mientras ellos hacen el suyo en paralelo — 10-15 minutos reales de trabajo.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Aclarar que todavía no se sube nada a GitHub — eso pasa al final de la clase de 2D, el miércoles. Hoy solo se guarda el avance.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Cerrar mencionando que la próxima semana ya cierra la Unidad 1 — buen momento para revisar quién va atrasado con las entregas.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Cierre. Recordar canal de Google Chat para dudas del entregable.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4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SD1004 · ESTRUCTURA DE DATOS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10312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Arreglos </a:t>
            </a:r>
            <a:pPr indent="0" marL="0">
              <a:buNone/>
            </a:pPr>
            <a:r>
              <a:rPr lang="en-US" sz="5400" b="1" dirty="0">
                <a:solidFill>
                  <a:srgbClr val="E8A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1D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520440"/>
            <a:ext cx="8961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CF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estructura más simple de todas — y la base de casi todo lo que viene. (Los arreglos 2D los vemos en la próxima clase.)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138160" y="457200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153E28"/>
          </a:solidFill>
          <a:ln w="19050">
            <a:solidFill>
              <a:srgbClr val="E8A02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138160" y="45720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796528" y="457200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153E28"/>
          </a:solidFill>
          <a:ln w="19050">
            <a:solidFill>
              <a:srgbClr val="E8A02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796528" y="45720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9454896" y="457200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153E28"/>
          </a:solidFill>
          <a:ln w="19050">
            <a:solidFill>
              <a:srgbClr val="E8A02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454896" y="45720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0113264" y="457200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153E28"/>
          </a:solidFill>
          <a:ln w="19050">
            <a:solidFill>
              <a:srgbClr val="E8A02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113264" y="45720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172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3 · Semana 4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seguir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7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nos quedó de Big O?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2606040" cy="3383280"/>
          </a:xfrm>
          <a:prstGeom prst="roundRect">
            <a:avLst>
              <a:gd name="adj" fmla="val 4211"/>
            </a:avLst>
          </a:prstGeom>
          <a:solidFill>
            <a:srgbClr val="E8EBE8"/>
          </a:solidFill>
          <a:ln/>
        </p:spPr>
      </p:sp>
      <p:sp>
        <p:nvSpPr>
          <p:cNvPr id="5" name="Shape 3"/>
          <p:cNvSpPr/>
          <p:nvPr/>
        </p:nvSpPr>
        <p:spPr>
          <a:xfrm>
            <a:off x="1074420" y="2240280"/>
            <a:ext cx="1737360" cy="17373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74420" y="224028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416052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importa el tamaño — un solo paso.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429000" y="1920240"/>
            <a:ext cx="2606040" cy="3383280"/>
          </a:xfrm>
          <a:prstGeom prst="roundRect">
            <a:avLst>
              <a:gd name="adj" fmla="val 4211"/>
            </a:avLst>
          </a:prstGeom>
          <a:solidFill>
            <a:srgbClr val="E8EBE8"/>
          </a:solidFill>
          <a:ln/>
        </p:spPr>
      </p:sp>
      <p:sp>
        <p:nvSpPr>
          <p:cNvPr id="9" name="Shape 7"/>
          <p:cNvSpPr/>
          <p:nvPr/>
        </p:nvSpPr>
        <p:spPr>
          <a:xfrm>
            <a:off x="3863340" y="2240280"/>
            <a:ext cx="1737360" cy="17373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863340" y="224028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94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O(log n)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3657600" y="416052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Partir a la mitad cada vez — casi no crece.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17920" y="1920240"/>
            <a:ext cx="2606040" cy="3383280"/>
          </a:xfrm>
          <a:prstGeom prst="roundRect">
            <a:avLst>
              <a:gd name="adj" fmla="val 4211"/>
            </a:avLst>
          </a:prstGeom>
          <a:solidFill>
            <a:srgbClr val="E8EBE8"/>
          </a:solidFill>
          <a:ln/>
        </p:spPr>
      </p:sp>
      <p:sp>
        <p:nvSpPr>
          <p:cNvPr id="13" name="Shape 11"/>
          <p:cNvSpPr/>
          <p:nvPr/>
        </p:nvSpPr>
        <p:spPr>
          <a:xfrm>
            <a:off x="6652260" y="2240280"/>
            <a:ext cx="1737360" cy="17373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652260" y="224028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6446520" y="416052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Crece al mismo ritmo que el problema.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006840" y="1920240"/>
            <a:ext cx="2606040" cy="3383280"/>
          </a:xfrm>
          <a:prstGeom prst="roundRect">
            <a:avLst>
              <a:gd name="adj" fmla="val 4211"/>
            </a:avLst>
          </a:prstGeom>
          <a:solidFill>
            <a:srgbClr val="E8EBE8"/>
          </a:solidFill>
          <a:ln/>
        </p:spPr>
      </p:sp>
      <p:sp>
        <p:nvSpPr>
          <p:cNvPr id="17" name="Shape 15"/>
          <p:cNvSpPr/>
          <p:nvPr/>
        </p:nvSpPr>
        <p:spPr>
          <a:xfrm>
            <a:off x="9441180" y="2240280"/>
            <a:ext cx="1737360" cy="17373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441180" y="224028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O(n²)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9235440" y="416052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dispara — comparar todo contra todo.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55778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E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vas a usar todo esto para entender por qué un arreglo es rápido para unas cosas y lento para otras.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4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822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7772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Dibujar un arreglo y</a:t>
            </a:r>
            <a:endParaRPr lang="en-US" sz="3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explicar cada operación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2004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i="1" dirty="0">
                <a:solidFill>
                  <a:srgbClr val="CF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empiezas tu entregable de la semana — lo terminas en la próxima clase con 2D.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4114800"/>
            <a:ext cx="7498080" cy="594360"/>
          </a:xfrm>
          <a:prstGeom prst="roundRect">
            <a:avLst>
              <a:gd name="adj" fmla="val 15385"/>
            </a:avLst>
          </a:prstGeom>
          <a:solidFill>
            <a:srgbClr val="153E28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4114800"/>
            <a:ext cx="7040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Acceso, búsqueda e inserción — con diagramas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4892040"/>
            <a:ext cx="7498080" cy="594360"/>
          </a:xfrm>
          <a:prstGeom prst="roundRect">
            <a:avLst>
              <a:gd name="adj" fmla="val 15385"/>
            </a:avLst>
          </a:prstGeom>
          <a:solidFill>
            <a:srgbClr val="153E28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4892040"/>
            <a:ext cx="7040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Cómo vive un arreglo en la memoria real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5669280"/>
            <a:ext cx="7498080" cy="594360"/>
          </a:xfrm>
          <a:prstGeom prst="roundRect">
            <a:avLst>
              <a:gd name="adj" fmla="val 15385"/>
            </a:avLst>
          </a:prstGeom>
          <a:solidFill>
            <a:srgbClr val="153E28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5669280"/>
            <a:ext cx="7040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El entregable final vale 12% del primer corte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PENSAR ANTES DE EXPLICAR NADA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71600"/>
            <a:ext cx="7772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1A27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¿Cuál creen que es la</a:t>
            </a:r>
            <a:endParaRPr lang="en-US" sz="3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1A27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estructura de datos más</a:t>
            </a:r>
            <a:endParaRPr lang="en-US" sz="3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1A27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 de todas?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840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Escríbelo en el chat / levanta la mano →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412480" y="2468880"/>
            <a:ext cx="621792" cy="621792"/>
          </a:xfrm>
          <a:prstGeom prst="roundRect">
            <a:avLst>
              <a:gd name="adj" fmla="val 8824"/>
            </a:avLst>
          </a:prstGeom>
          <a:solidFill>
            <a:srgbClr val="E8F5EE"/>
          </a:solidFill>
          <a:ln w="19050">
            <a:solidFill>
              <a:srgbClr val="1A6B3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412480" y="246888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9125712" y="2468880"/>
            <a:ext cx="621792" cy="621792"/>
          </a:xfrm>
          <a:prstGeom prst="roundRect">
            <a:avLst>
              <a:gd name="adj" fmla="val 8824"/>
            </a:avLst>
          </a:prstGeom>
          <a:solidFill>
            <a:srgbClr val="E8F5EE"/>
          </a:solidFill>
          <a:ln w="19050">
            <a:solidFill>
              <a:srgbClr val="1A6B3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25712" y="246888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9838944" y="2468880"/>
            <a:ext cx="621792" cy="621792"/>
          </a:xfrm>
          <a:prstGeom prst="roundRect">
            <a:avLst>
              <a:gd name="adj" fmla="val 8824"/>
            </a:avLst>
          </a:prstGeom>
          <a:solidFill>
            <a:srgbClr val="E8F5EE"/>
          </a:solidFill>
          <a:ln w="19050">
            <a:solidFill>
              <a:srgbClr val="1A6B3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838944" y="246888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8412480" y="146304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A6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4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286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RESPUESTA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651760"/>
            <a:ext cx="10881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E45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</a:t>
            </a:r>
            <a:pPr indent="0" marL="0">
              <a:buNone/>
            </a:pPr>
            <a:r>
              <a:rPr lang="en-US" sz="4400" b="1" dirty="0">
                <a:solidFill>
                  <a:srgbClr val="0E45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arreglo.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0233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0E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ya lo usas todos los días sin saberlo — casilleros, estantes, filas de Excel.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CONCEPTO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7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arreglo es un casillero numerado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002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casilla guarda un valor. Cada casilla tiene un número (índice) que la identifica. Nada más — así de simple.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914400" y="2743200"/>
            <a:ext cx="1051560" cy="1051560"/>
          </a:xfrm>
          <a:prstGeom prst="roundRect">
            <a:avLst>
              <a:gd name="adj" fmla="val 5217"/>
            </a:avLst>
          </a:prstGeom>
          <a:solidFill>
            <a:srgbClr val="E8F5EE"/>
          </a:solidFill>
          <a:ln w="19050">
            <a:solidFill>
              <a:srgbClr val="1A6B3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274320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84048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130552" y="2743200"/>
            <a:ext cx="1051560" cy="1051560"/>
          </a:xfrm>
          <a:prstGeom prst="roundRect">
            <a:avLst>
              <a:gd name="adj" fmla="val 5217"/>
            </a:avLst>
          </a:prstGeom>
          <a:solidFill>
            <a:srgbClr val="E8F5EE"/>
          </a:solidFill>
          <a:ln w="19050">
            <a:solidFill>
              <a:srgbClr val="1A6B3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130552" y="274320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2130552" y="384048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46704" y="2743200"/>
            <a:ext cx="1051560" cy="1051560"/>
          </a:xfrm>
          <a:prstGeom prst="roundRect">
            <a:avLst>
              <a:gd name="adj" fmla="val 5217"/>
            </a:avLst>
          </a:prstGeom>
          <a:solidFill>
            <a:srgbClr val="E8F5EE"/>
          </a:solidFill>
          <a:ln w="19050">
            <a:solidFill>
              <a:srgbClr val="1A6B3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346704" y="274320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3346704" y="384048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62856" y="2743200"/>
            <a:ext cx="1051560" cy="1051560"/>
          </a:xfrm>
          <a:prstGeom prst="roundRect">
            <a:avLst>
              <a:gd name="adj" fmla="val 5217"/>
            </a:avLst>
          </a:prstGeom>
          <a:solidFill>
            <a:srgbClr val="E8F5EE"/>
          </a:solidFill>
          <a:ln w="19050">
            <a:solidFill>
              <a:srgbClr val="1A6B3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62856" y="274320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4562856" y="384048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779008" y="2743200"/>
            <a:ext cx="1051560" cy="1051560"/>
          </a:xfrm>
          <a:prstGeom prst="roundRect">
            <a:avLst>
              <a:gd name="adj" fmla="val 5217"/>
            </a:avLst>
          </a:prstGeom>
          <a:solidFill>
            <a:srgbClr val="E8F5EE"/>
          </a:solidFill>
          <a:ln w="19050">
            <a:solidFill>
              <a:srgbClr val="1A6B3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779008" y="274320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5779008" y="384048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995160" y="2743200"/>
            <a:ext cx="1051560" cy="1051560"/>
          </a:xfrm>
          <a:prstGeom prst="roundRect">
            <a:avLst>
              <a:gd name="adj" fmla="val 5217"/>
            </a:avLst>
          </a:prstGeom>
          <a:solidFill>
            <a:srgbClr val="E8F5EE"/>
          </a:solidFill>
          <a:ln w="19050">
            <a:solidFill>
              <a:srgbClr val="1A6B3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995160" y="274320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6995160" y="384048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914400" y="44348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números grandes son los valores guardados. Los números pequeños de abajo son el índice — la posición de cada casilla.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0080" y="5120640"/>
            <a:ext cx="10881360" cy="1280160"/>
          </a:xfrm>
          <a:prstGeom prst="roundRect">
            <a:avLst>
              <a:gd name="adj" fmla="val 8571"/>
            </a:avLst>
          </a:prstGeom>
          <a:solidFill>
            <a:srgbClr val="FFF8EC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14400" y="5120640"/>
            <a:ext cx="10332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B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código esto se ve como arr[3] — "dame lo que está en la casilla 3". Nosotros lo dibujamos: es exactamente lo mismo, sin sintaxis.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EC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2743200" cy="457200"/>
          </a:xfrm>
          <a:prstGeom prst="roundRect">
            <a:avLst>
              <a:gd name="adj" fmla="val 50000"/>
            </a:avLst>
          </a:prstGeom>
          <a:solidFill>
            <a:srgbClr val="C6282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486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OJO CON ESTO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801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7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índice empieza en 0, no en 1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9659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el primer choque cultural — y confunde a todo el mundo la primera vez, no solo a ti.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97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Así contamos normalmente: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3108960"/>
            <a:ext cx="777240" cy="777240"/>
          </a:xfrm>
          <a:prstGeom prst="roundRect">
            <a:avLst>
              <a:gd name="adj" fmla="val 7059"/>
            </a:avLst>
          </a:prstGeom>
          <a:solidFill>
            <a:srgbClr val="E8EBE8"/>
          </a:solidFill>
          <a:ln w="19050">
            <a:solidFill>
              <a:srgbClr val="B0B8B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31089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93192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527048" y="3108960"/>
            <a:ext cx="777240" cy="777240"/>
          </a:xfrm>
          <a:prstGeom prst="roundRect">
            <a:avLst>
              <a:gd name="adj" fmla="val 7059"/>
            </a:avLst>
          </a:prstGeom>
          <a:solidFill>
            <a:srgbClr val="E8EBE8"/>
          </a:solidFill>
          <a:ln w="19050">
            <a:solidFill>
              <a:srgbClr val="B0B8B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527048" y="31089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527048" y="393192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414016" y="3108960"/>
            <a:ext cx="777240" cy="777240"/>
          </a:xfrm>
          <a:prstGeom prst="roundRect">
            <a:avLst>
              <a:gd name="adj" fmla="val 7059"/>
            </a:avLst>
          </a:prstGeom>
          <a:solidFill>
            <a:srgbClr val="E8EBE8"/>
          </a:solidFill>
          <a:ln w="19050">
            <a:solidFill>
              <a:srgbClr val="B0B8B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414016" y="31089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2414016" y="393192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300984" y="3108960"/>
            <a:ext cx="777240" cy="777240"/>
          </a:xfrm>
          <a:prstGeom prst="roundRect">
            <a:avLst>
              <a:gd name="adj" fmla="val 7059"/>
            </a:avLst>
          </a:prstGeom>
          <a:solidFill>
            <a:srgbClr val="E8EBE8"/>
          </a:solidFill>
          <a:ln w="19050">
            <a:solidFill>
              <a:srgbClr val="B0B8B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300984" y="31089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3300984" y="393192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187952" y="3108960"/>
            <a:ext cx="777240" cy="777240"/>
          </a:xfrm>
          <a:prstGeom prst="roundRect">
            <a:avLst>
              <a:gd name="adj" fmla="val 7059"/>
            </a:avLst>
          </a:prstGeom>
          <a:solidFill>
            <a:srgbClr val="E8EBE8"/>
          </a:solidFill>
          <a:ln w="19050">
            <a:solidFill>
              <a:srgbClr val="B0B8B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187952" y="31089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4187952" y="393192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44348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Así lo hace un arreglo: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" y="4846320"/>
            <a:ext cx="777240" cy="777240"/>
          </a:xfrm>
          <a:prstGeom prst="roundRect">
            <a:avLst>
              <a:gd name="adj" fmla="val 7059"/>
            </a:avLst>
          </a:prstGeom>
          <a:solidFill>
            <a:srgbClr val="E8F5EE"/>
          </a:solidFill>
          <a:ln w="19050">
            <a:solidFill>
              <a:srgbClr val="1A6B3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0080" y="48463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566928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1527048" y="4846320"/>
            <a:ext cx="777240" cy="777240"/>
          </a:xfrm>
          <a:prstGeom prst="roundRect">
            <a:avLst>
              <a:gd name="adj" fmla="val 7059"/>
            </a:avLst>
          </a:prstGeom>
          <a:solidFill>
            <a:srgbClr val="E8F5EE"/>
          </a:solidFill>
          <a:ln w="19050">
            <a:solidFill>
              <a:srgbClr val="1A6B3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527048" y="48463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1527048" y="566928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414016" y="4846320"/>
            <a:ext cx="777240" cy="777240"/>
          </a:xfrm>
          <a:prstGeom prst="roundRect">
            <a:avLst>
              <a:gd name="adj" fmla="val 7059"/>
            </a:avLst>
          </a:prstGeom>
          <a:solidFill>
            <a:srgbClr val="E8F5EE"/>
          </a:solidFill>
          <a:ln w="19050">
            <a:solidFill>
              <a:srgbClr val="1A6B3C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2414016" y="48463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31" name="Text 29"/>
          <p:cNvSpPr txBox="1"/>
          <p:nvPr/>
        </p:nvSpPr>
        <p:spPr>
          <a:xfrm>
            <a:off x="2414016" y="566928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300984" y="4846320"/>
            <a:ext cx="777240" cy="777240"/>
          </a:xfrm>
          <a:prstGeom prst="roundRect">
            <a:avLst>
              <a:gd name="adj" fmla="val 7059"/>
            </a:avLst>
          </a:prstGeom>
          <a:solidFill>
            <a:srgbClr val="E8F5EE"/>
          </a:solidFill>
          <a:ln w="19050">
            <a:solidFill>
              <a:srgbClr val="1A6B3C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300984" y="48463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000" dirty="0"/>
          </a:p>
        </p:txBody>
      </p:sp>
      <p:sp>
        <p:nvSpPr>
          <p:cNvPr id="34" name="Text 32"/>
          <p:cNvSpPr txBox="1"/>
          <p:nvPr/>
        </p:nvSpPr>
        <p:spPr>
          <a:xfrm>
            <a:off x="3300984" y="566928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187952" y="4846320"/>
            <a:ext cx="777240" cy="777240"/>
          </a:xfrm>
          <a:prstGeom prst="roundRect">
            <a:avLst>
              <a:gd name="adj" fmla="val 7059"/>
            </a:avLst>
          </a:prstGeom>
          <a:solidFill>
            <a:srgbClr val="E8F5EE"/>
          </a:solidFill>
          <a:ln w="19050">
            <a:solidFill>
              <a:srgbClr val="1A6B3C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187952" y="48463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2000" dirty="0"/>
          </a:p>
        </p:txBody>
      </p:sp>
      <p:sp>
        <p:nvSpPr>
          <p:cNvPr id="37" name="Text 35"/>
          <p:cNvSpPr txBox="1"/>
          <p:nvPr/>
        </p:nvSpPr>
        <p:spPr>
          <a:xfrm>
            <a:off x="4187952" y="566928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5760720" y="4892040"/>
            <a:ext cx="5669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0E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primera casilla siempre es la posición 0. La última de un arreglo de tamaño n es la posición n−1.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920240" cy="457200"/>
          </a:xfrm>
          <a:prstGeom prst="roundRect">
            <a:avLst>
              <a:gd name="adj" fmla="val 50000"/>
            </a:avLst>
          </a:prstGeom>
          <a:solidFill>
            <a:srgbClr val="1A6B3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972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7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Acceso directo — ir a una posición conocida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914400" y="1920240"/>
            <a:ext cx="9144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A6B3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19202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8803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965960" y="1920240"/>
            <a:ext cx="9144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A6B3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965960" y="19202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965960" y="28803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017520" y="1920240"/>
            <a:ext cx="9144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A6B3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017520" y="19202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3017520" y="28803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069080" y="1920240"/>
            <a:ext cx="914400" cy="914400"/>
          </a:xfrm>
          <a:prstGeom prst="roundRect">
            <a:avLst>
              <a:gd name="adj" fmla="val 6000"/>
            </a:avLst>
          </a:prstGeom>
          <a:solidFill>
            <a:srgbClr val="1A6B3C"/>
          </a:solidFill>
          <a:ln w="19050">
            <a:solidFill>
              <a:srgbClr val="1A6B3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069080" y="19202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4069080" y="28803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120640" y="1920240"/>
            <a:ext cx="9144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A6B3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120640" y="19202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5120640" y="28803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72200" y="1920240"/>
            <a:ext cx="9144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A6B3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172200" y="19202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6172200" y="28803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949440" y="21488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6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arr[3] → 63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640080" y="4297680"/>
            <a:ext cx="1088136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9050">
            <a:solidFill>
              <a:srgbClr val="1A6B3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60120" y="4297680"/>
            <a:ext cx="10241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A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ya sabes el índice, saltas directo a esa casilla — no importa si el arreglo tiene 6 elementos o 6 millones. Un solo paso.</a:t>
            </a:r>
            <a:endParaRPr lang="en-US" sz="145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57607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 es exactamente O(1), como abrir el libro en la página que ya sabes.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834640" cy="457200"/>
          </a:xfrm>
          <a:prstGeom prst="roundRect">
            <a:avLst>
              <a:gd name="adj" fmla="val 50000"/>
            </a:avLst>
          </a:prstGeom>
          <a:solidFill>
            <a:srgbClr val="3949A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DEBAJO DEL DIAGRAMA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9728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7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Así vive un arreglo en la memoria RAM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373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magia — es un bloque de memoria contiguo, casilla justo después de casilla, sin huecos.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914400" y="2560320"/>
            <a:ext cx="914400" cy="9144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19050">
            <a:solidFill>
              <a:srgbClr val="1A6B3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25603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965960" y="2560320"/>
            <a:ext cx="914400" cy="9144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19050">
            <a:solidFill>
              <a:srgbClr val="1A6B3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965960" y="25603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017520" y="2560320"/>
            <a:ext cx="914400" cy="9144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19050">
            <a:solidFill>
              <a:srgbClr val="1A6B3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017520" y="25603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069080" y="2560320"/>
            <a:ext cx="914400" cy="914400"/>
          </a:xfrm>
          <a:prstGeom prst="roundRect">
            <a:avLst>
              <a:gd name="adj" fmla="val 6000"/>
            </a:avLst>
          </a:prstGeom>
          <a:solidFill>
            <a:srgbClr val="3949AB"/>
          </a:solidFill>
          <a:ln w="19050">
            <a:solidFill>
              <a:srgbClr val="1A6B3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069080" y="25603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120640" y="2560320"/>
            <a:ext cx="914400" cy="9144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19050">
            <a:solidFill>
              <a:srgbClr val="1A6B3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120640" y="25603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172200" y="2560320"/>
            <a:ext cx="914400" cy="9144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19050">
            <a:solidFill>
              <a:srgbClr val="1A6B3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172200" y="25603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914400" y="354787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0x3e8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1965960" y="354787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0x3ec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3017520" y="354787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0x3f0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4069080" y="354787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94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0x3f4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5120640" y="354787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0x3f8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6172200" y="354787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0x3fc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914400" y="39319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dirección de memoria de cada casilla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0080" y="5029200"/>
            <a:ext cx="10881360" cy="1371600"/>
          </a:xfrm>
          <a:prstGeom prst="roundRect">
            <a:avLst>
              <a:gd name="adj" fmla="val 8000"/>
            </a:avLst>
          </a:prstGeom>
          <a:solidFill>
            <a:srgbClr val="E8EAF6"/>
          </a:solidFill>
          <a:ln w="19050">
            <a:solidFill>
              <a:srgbClr val="3949A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14400" y="5029200"/>
            <a:ext cx="10332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A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casilla ocupa el mismo tamaño </a:t>
            </a:r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394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(aquí, 4 bytes)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A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Por eso la máquina no necesita buscar nada: solo hace una cuenta para saber exactamente dónde está cada casilla.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4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FLUJO COMPLETO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la máquina resuelve arr[3]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7863840" cy="777240"/>
          </a:xfrm>
          <a:prstGeom prst="roundRect">
            <a:avLst>
              <a:gd name="adj" fmla="val 14118"/>
            </a:avLst>
          </a:prstGeom>
          <a:solidFill>
            <a:srgbClr val="153E28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737360"/>
            <a:ext cx="502920" cy="502920"/>
          </a:xfrm>
          <a:prstGeom prst="ellipse">
            <a:avLst/>
          </a:prstGeom>
          <a:solidFill>
            <a:srgbClr val="E8A02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645920" y="1655064"/>
            <a:ext cx="6675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programa pide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645920" y="1984248"/>
            <a:ext cx="6675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arr[3]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359152"/>
            <a:ext cx="78638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2514600"/>
            <a:ext cx="7863840" cy="777240"/>
          </a:xfrm>
          <a:prstGeom prst="roundRect">
            <a:avLst>
              <a:gd name="adj" fmla="val 14118"/>
            </a:avLst>
          </a:prstGeom>
          <a:solidFill>
            <a:srgbClr val="153E28"/>
          </a:solidFill>
          <a:ln/>
        </p:spPr>
      </p:sp>
      <p:sp>
        <p:nvSpPr>
          <p:cNvPr id="11" name="Shape 9"/>
          <p:cNvSpPr/>
          <p:nvPr/>
        </p:nvSpPr>
        <p:spPr>
          <a:xfrm>
            <a:off x="914400" y="2651760"/>
            <a:ext cx="502920" cy="502920"/>
          </a:xfrm>
          <a:prstGeom prst="ellipse">
            <a:avLst/>
          </a:prstGeom>
          <a:solidFill>
            <a:srgbClr val="E8A02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14400" y="2651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645920" y="2569464"/>
            <a:ext cx="6675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máquina calcula la dirección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645920" y="2898648"/>
            <a:ext cx="6675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 + (3 × 4) = 1012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3273552"/>
            <a:ext cx="78638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3429000"/>
            <a:ext cx="7863840" cy="777240"/>
          </a:xfrm>
          <a:prstGeom prst="roundRect">
            <a:avLst>
              <a:gd name="adj" fmla="val 14118"/>
            </a:avLst>
          </a:prstGeom>
          <a:solidFill>
            <a:srgbClr val="153E28"/>
          </a:solidFill>
          <a:ln/>
        </p:spPr>
      </p:sp>
      <p:sp>
        <p:nvSpPr>
          <p:cNvPr id="17" name="Shape 15"/>
          <p:cNvSpPr/>
          <p:nvPr/>
        </p:nvSpPr>
        <p:spPr>
          <a:xfrm>
            <a:off x="914400" y="3566160"/>
            <a:ext cx="502920" cy="502920"/>
          </a:xfrm>
          <a:prstGeom prst="ellipse">
            <a:avLst/>
          </a:prstGeom>
          <a:solidFill>
            <a:srgbClr val="E8A02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14400" y="3566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1645920" y="3483864"/>
            <a:ext cx="6675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 directo a esa dirección en RAM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645920" y="3813048"/>
            <a:ext cx="6675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 un paso más, ni uno menos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4187952"/>
            <a:ext cx="78638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40080" y="4343400"/>
            <a:ext cx="7863840" cy="777240"/>
          </a:xfrm>
          <a:prstGeom prst="roundRect">
            <a:avLst>
              <a:gd name="adj" fmla="val 14118"/>
            </a:avLst>
          </a:prstGeom>
          <a:solidFill>
            <a:srgbClr val="153E28"/>
          </a:solidFill>
          <a:ln/>
        </p:spPr>
      </p:sp>
      <p:sp>
        <p:nvSpPr>
          <p:cNvPr id="23" name="Shape 21"/>
          <p:cNvSpPr/>
          <p:nvPr/>
        </p:nvSpPr>
        <p:spPr>
          <a:xfrm>
            <a:off x="914400" y="4480560"/>
            <a:ext cx="502920" cy="502920"/>
          </a:xfrm>
          <a:prstGeom prst="ellipse">
            <a:avLst/>
          </a:prstGeom>
          <a:solidFill>
            <a:srgbClr val="E8A020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14400" y="4480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1645920" y="4398264"/>
            <a:ext cx="6675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 el valor y lo devuelve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645920" y="4727448"/>
            <a:ext cx="6675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778240" y="1988820"/>
            <a:ext cx="2743200" cy="2743200"/>
          </a:xfrm>
          <a:prstGeom prst="roundRect">
            <a:avLst>
              <a:gd name="adj" fmla="val 4000"/>
            </a:avLst>
          </a:prstGeom>
          <a:solidFill>
            <a:srgbClr val="E8A020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778240" y="22174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0E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FÓRMULA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8915400" y="2674620"/>
            <a:ext cx="2468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0E45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dirección</a:t>
            </a:r>
            <a:endParaRPr lang="en-US" sz="17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0E45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</a:t>
            </a:r>
            <a:endParaRPr lang="en-US" sz="17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0E45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 + (i × tamaño)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640080" y="5806440"/>
            <a:ext cx="10881360" cy="731520"/>
          </a:xfrm>
          <a:prstGeom prst="roundRect">
            <a:avLst>
              <a:gd name="adj" fmla="val 12500"/>
            </a:avLst>
          </a:prstGeom>
          <a:solidFill>
            <a:srgbClr val="153E28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40080" y="58064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esto arr[i] es O(1): es una multiplicación y una suma — no una búsqueda.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8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920240" cy="457200"/>
          </a:xfrm>
          <a:prstGeom prst="roundRect">
            <a:avLst>
              <a:gd name="adj" fmla="val 50000"/>
            </a:avLst>
          </a:prstGeom>
          <a:solidFill>
            <a:srgbClr val="B078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972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7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Búsqueda lineal — cuando no sabes dónde está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914400" y="1920240"/>
            <a:ext cx="914400" cy="914400"/>
          </a:xfrm>
          <a:prstGeom prst="roundRect">
            <a:avLst>
              <a:gd name="adj" fmla="val 6000"/>
            </a:avLst>
          </a:prstGeom>
          <a:solidFill>
            <a:srgbClr val="B07800"/>
          </a:solidFill>
          <a:ln w="19050">
            <a:solidFill>
              <a:srgbClr val="B078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19202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8803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965960" y="1920240"/>
            <a:ext cx="914400" cy="914400"/>
          </a:xfrm>
          <a:prstGeom prst="roundRect">
            <a:avLst>
              <a:gd name="adj" fmla="val 6000"/>
            </a:avLst>
          </a:prstGeom>
          <a:solidFill>
            <a:srgbClr val="B07800"/>
          </a:solidFill>
          <a:ln w="19050">
            <a:solidFill>
              <a:srgbClr val="B0780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965960" y="19202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965960" y="28803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017520" y="1920240"/>
            <a:ext cx="914400" cy="914400"/>
          </a:xfrm>
          <a:prstGeom prst="roundRect">
            <a:avLst>
              <a:gd name="adj" fmla="val 6000"/>
            </a:avLst>
          </a:prstGeom>
          <a:solidFill>
            <a:srgbClr val="B07800"/>
          </a:solidFill>
          <a:ln w="19050">
            <a:solidFill>
              <a:srgbClr val="B0780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017520" y="19202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3017520" y="28803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069080" y="1920240"/>
            <a:ext cx="914400" cy="914400"/>
          </a:xfrm>
          <a:prstGeom prst="roundRect">
            <a:avLst>
              <a:gd name="adj" fmla="val 6000"/>
            </a:avLst>
          </a:prstGeom>
          <a:solidFill>
            <a:srgbClr val="B07800"/>
          </a:solidFill>
          <a:ln w="19050">
            <a:solidFill>
              <a:srgbClr val="B0780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069080" y="19202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4069080" y="28803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120640" y="1920240"/>
            <a:ext cx="9144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B0780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120640" y="19202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5120640" y="28803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72200" y="1920240"/>
            <a:ext cx="9144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B0780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172200" y="19202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6172200" y="28803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949440" y="214884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B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Buscando el 63 → revisas 0, 1, 2, 3...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40080" y="4297680"/>
            <a:ext cx="1088136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9050">
            <a:solidFill>
              <a:srgbClr val="B0780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60120" y="4297680"/>
            <a:ext cx="10241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A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pistas, revisas casilla por casilla desde el inicio hasta encontrarlo (o hasta terminar el arreglo). En el peor caso, revisas todas.</a:t>
            </a:r>
            <a:endParaRPr lang="en-US" sz="145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57607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B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 es O(n) — el mismo mazo de cartas desordenado de la clase pasada.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8E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920240" cy="457200"/>
          </a:xfrm>
          <a:prstGeom prst="roundRect">
            <a:avLst>
              <a:gd name="adj" fmla="val 50000"/>
            </a:avLst>
          </a:prstGeom>
          <a:solidFill>
            <a:srgbClr val="3949A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O(log n)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972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7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Búsqueda binaria — si el arreglo está ordenado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914400" y="1920240"/>
            <a:ext cx="7772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9050">
            <a:solidFill>
              <a:srgbClr val="3949A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19202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74320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783080" y="1920240"/>
            <a:ext cx="7772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9050">
            <a:solidFill>
              <a:srgbClr val="3949A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783080" y="19202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783080" y="274320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651760" y="1920240"/>
            <a:ext cx="7772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9050">
            <a:solidFill>
              <a:srgbClr val="3949A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651760" y="19202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2651760" y="274320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520440" y="1920240"/>
            <a:ext cx="7772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9050">
            <a:solidFill>
              <a:srgbClr val="3949A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520440" y="19202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3520440" y="274320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389120" y="1920240"/>
            <a:ext cx="777240" cy="777240"/>
          </a:xfrm>
          <a:prstGeom prst="roundRect">
            <a:avLst>
              <a:gd name="adj" fmla="val 7059"/>
            </a:avLst>
          </a:prstGeom>
          <a:solidFill>
            <a:srgbClr val="3949AB"/>
          </a:solidFill>
          <a:ln w="19050">
            <a:solidFill>
              <a:srgbClr val="3949A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389120" y="19202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4389120" y="274320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257800" y="1920240"/>
            <a:ext cx="7772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9050">
            <a:solidFill>
              <a:srgbClr val="3949A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257800" y="19202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5257800" y="274320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126480" y="1920240"/>
            <a:ext cx="7772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9050">
            <a:solidFill>
              <a:srgbClr val="3949A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126480" y="19202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6126480" y="274320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995160" y="1920240"/>
            <a:ext cx="7772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9050">
            <a:solidFill>
              <a:srgbClr val="3949A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995160" y="19202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6995160" y="274320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7406640" y="201168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394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Buscando el 47: partes por la mitad y descartas la mitad que no sirve.</a:t>
            </a:r>
            <a:endParaRPr lang="en-US" sz="1450" dirty="0"/>
          </a:p>
        </p:txBody>
      </p:sp>
      <p:sp>
        <p:nvSpPr>
          <p:cNvPr id="30" name="Shape 28"/>
          <p:cNvSpPr/>
          <p:nvPr/>
        </p:nvSpPr>
        <p:spPr>
          <a:xfrm>
            <a:off x="640080" y="4297680"/>
            <a:ext cx="1088136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9050">
            <a:solidFill>
              <a:srgbClr val="3949A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60120" y="4297680"/>
            <a:ext cx="10241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A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Igual que el juego de "adivina el número": si el arreglo está ordenado, cada intento descarta la mitad de lo que queda.</a:t>
            </a:r>
            <a:endParaRPr lang="en-US" sz="1450" dirty="0"/>
          </a:p>
        </p:txBody>
      </p:sp>
      <p:sp>
        <p:nvSpPr>
          <p:cNvPr id="32" name="Text 30"/>
          <p:cNvSpPr txBox="1"/>
          <p:nvPr/>
        </p:nvSpPr>
        <p:spPr>
          <a:xfrm>
            <a:off x="640080" y="57607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394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8 elementos: máximo 3 intentos. Con 1,000: máximo 10. Eso es O(log n).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COSTO OCULTO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Insertar no siempre cuesta lo mismo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212080" cy="2286000"/>
          </a:xfrm>
          <a:prstGeom prst="roundRect">
            <a:avLst>
              <a:gd name="adj" fmla="val 4800"/>
            </a:avLst>
          </a:prstGeom>
          <a:solidFill>
            <a:srgbClr val="E8F5E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920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45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Insertar al final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246888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9050">
            <a:solidFill>
              <a:srgbClr val="1A6B3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24688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081528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554480" y="246888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9050">
            <a:solidFill>
              <a:srgbClr val="1A6B3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554480" y="24688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3081528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194560" y="246888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9050">
            <a:solidFill>
              <a:srgbClr val="1A6B3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194560" y="24688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2194560" y="3081528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834640" y="246888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9050">
            <a:solidFill>
              <a:srgbClr val="1A6B3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834640" y="24688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2834640" y="3081528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977640" y="246888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1A6B3C"/>
          </a:solidFill>
          <a:ln w="19050">
            <a:solidFill>
              <a:srgbClr val="1A6B3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977640" y="24688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914400" y="33832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Nada se mueve — solo se agrega. O(1).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263640" y="1737360"/>
            <a:ext cx="5212080" cy="2286000"/>
          </a:xfrm>
          <a:prstGeom prst="roundRect">
            <a:avLst>
              <a:gd name="adj" fmla="val 4800"/>
            </a:avLst>
          </a:prstGeom>
          <a:solidFill>
            <a:srgbClr val="FDECE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537960" y="1920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7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Insertar en la mitad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537960" y="2468880"/>
            <a:ext cx="530352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9050">
            <a:solidFill>
              <a:srgbClr val="C6282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537960" y="246888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7123176" y="2468880"/>
            <a:ext cx="530352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9050">
            <a:solidFill>
              <a:srgbClr val="C6282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123176" y="246888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7708392" y="2468880"/>
            <a:ext cx="530352" cy="530352"/>
          </a:xfrm>
          <a:prstGeom prst="roundRect">
            <a:avLst>
              <a:gd name="adj" fmla="val 10345"/>
            </a:avLst>
          </a:prstGeom>
          <a:solidFill>
            <a:srgbClr val="C62828"/>
          </a:solidFill>
          <a:ln w="19050">
            <a:solidFill>
              <a:srgbClr val="C6282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708392" y="246888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8293608" y="2468880"/>
            <a:ext cx="530352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9050">
            <a:solidFill>
              <a:srgbClr val="C6282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293608" y="246888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8878824" y="2468880"/>
            <a:ext cx="530352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9050">
            <a:solidFill>
              <a:srgbClr val="C6282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878824" y="246888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</a:t>
            </a:r>
            <a:endParaRPr lang="en-US" sz="2000" dirty="0"/>
          </a:p>
        </p:txBody>
      </p:sp>
      <p:sp>
        <p:nvSpPr>
          <p:cNvPr id="33" name="Text 31"/>
          <p:cNvSpPr txBox="1"/>
          <p:nvPr/>
        </p:nvSpPr>
        <p:spPr>
          <a:xfrm>
            <a:off x="6537960" y="33832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lo que está después se debe correr un puesto. O(n).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40080" y="4343400"/>
            <a:ext cx="10881360" cy="1371600"/>
          </a:xfrm>
          <a:prstGeom prst="roundRect">
            <a:avLst>
              <a:gd name="adj" fmla="val 8000"/>
            </a:avLst>
          </a:prstGeom>
          <a:solidFill>
            <a:srgbClr val="FFF8EC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914400" y="4343400"/>
            <a:ext cx="10332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B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eso elegir la estructura correcta importa: si vas a insertar mucho en medio, un arreglo no es la mejor opción — más adelante vas a conocer una que sí lo resuelve bien (lista enlazada).</a:t>
            </a:r>
            <a:endParaRPr lang="en-US" sz="14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8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 EN VIVO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7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Construyamos tu primer diagrama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66928" cy="566928"/>
          </a:xfrm>
          <a:prstGeom prst="ellipse">
            <a:avLst/>
          </a:prstGeom>
          <a:solidFill>
            <a:srgbClr val="1A6B3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920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901952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Abre draw.io o Excalidraw — el mismo que usaste en la misión anterior.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40080" y="2724912"/>
            <a:ext cx="566928" cy="566928"/>
          </a:xfrm>
          <a:prstGeom prst="ellipse">
            <a:avLst/>
          </a:prstGeom>
          <a:solidFill>
            <a:srgbClr val="1A6B3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2724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2706624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Dibuja un arreglo de 6 casillas con valores que tú elijas.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640080" y="3529584"/>
            <a:ext cx="566928" cy="566928"/>
          </a:xfrm>
          <a:prstGeom prst="ellipse">
            <a:avLst/>
          </a:prstGeom>
          <a:solidFill>
            <a:srgbClr val="1A6B3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352958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417320" y="3511296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 en color una casilla y escribe al lado "acceso directo — O(1)".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640080" y="4334256"/>
            <a:ext cx="566928" cy="566928"/>
          </a:xfrm>
          <a:prstGeom prst="ellipse">
            <a:avLst/>
          </a:prstGeom>
          <a:solidFill>
            <a:srgbClr val="1A6B3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33425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417320" y="4315968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Dibuja las flechas de una búsqueda lineal, paso a paso, hasta encontrar un valor.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640080" y="5138928"/>
            <a:ext cx="566928" cy="566928"/>
          </a:xfrm>
          <a:prstGeom prst="ellipse">
            <a:avLst/>
          </a:prstGeom>
          <a:solidFill>
            <a:srgbClr val="1A6B3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5138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1417320" y="512064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Guárdalo — es la base de tu entregable de hoy.</a:t>
            </a:r>
            <a:endParaRPr lang="en-US" sz="15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8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2651760" cy="457200"/>
          </a:xfrm>
          <a:prstGeom prst="roundRect">
            <a:avLst>
              <a:gd name="adj" fmla="val 50000"/>
            </a:avLst>
          </a:prstGeom>
          <a:solidFill>
            <a:srgbClr val="B078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486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DE HOY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344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7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 tienes la mitad de tu entregable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457200" cy="457200"/>
          </a:xfrm>
          <a:prstGeom prst="ellipse">
            <a:avLst/>
          </a:prstGeom>
          <a:solidFill>
            <a:srgbClr val="B0780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2240280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arreglo 1D dibujado con al menos 6 casillas y valores.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640080" y="2971800"/>
            <a:ext cx="457200" cy="457200"/>
          </a:xfrm>
          <a:prstGeom prst="ellipse">
            <a:avLst/>
          </a:prstGeom>
          <a:solidFill>
            <a:srgbClr val="B0780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971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926080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3 operaciones marcadas: acceso, búsqueda e inserción.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640080" y="3657600"/>
            <a:ext cx="457200" cy="457200"/>
          </a:xfrm>
          <a:prstGeom prst="ellipse">
            <a:avLst/>
          </a:prstGeom>
          <a:solidFill>
            <a:srgbClr val="B0780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3611880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Pseudocódigo (en español, sin sintaxis de ningún lenguaje) de UNA de esas operaciones.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640080" y="4663440"/>
            <a:ext cx="1088136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B0780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663440"/>
            <a:ext cx="10332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1A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 este diagrama — en la próxima clase (</a:t>
            </a:r>
            <a:pPr indent="0" marL="0">
              <a:lnSpc>
                <a:spcPct val="130000"/>
              </a:lnSpc>
              <a:buNone/>
            </a:pPr>
            <a:r>
              <a:rPr lang="en-US" sz="1550" b="1" dirty="0">
                <a:solidFill>
                  <a:srgbClr val="B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Mié 2 Sep</a:t>
            </a:r>
            <a:pPr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1A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agregas la parte 2D y ahí sí subes todo junto a GitHub. El entregable completo vale </a:t>
            </a:r>
            <a:pPr indent="0" marL="0">
              <a:lnSpc>
                <a:spcPct val="130000"/>
              </a:lnSpc>
              <a:buNone/>
            </a:pPr>
            <a:r>
              <a:rPr lang="en-US" sz="1550" b="1" dirty="0">
                <a:solidFill>
                  <a:srgbClr val="B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 del primer corte.</a:t>
            </a:r>
            <a:endParaRPr lang="en-US" sz="15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E4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TERMINAR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sigue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881360" cy="1234440"/>
          </a:xfrm>
          <a:prstGeom prst="roundRect">
            <a:avLst>
              <a:gd name="adj" fmla="val 8889"/>
            </a:avLst>
          </a:prstGeom>
          <a:solidFill>
            <a:srgbClr val="153E28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240280"/>
            <a:ext cx="685800" cy="685800"/>
          </a:xfrm>
          <a:prstGeom prst="ellipse">
            <a:avLst/>
          </a:prstGeom>
          <a:solidFill>
            <a:srgbClr val="E8A02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2402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E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1874520" y="2103120"/>
            <a:ext cx="9326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Próxima clase: Arreglos 2D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874520" y="2514600"/>
            <a:ext cx="9326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F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Mié 2 Sep — filas, columnas, y cómo se guardan en la memoria. Traes tu diagrama de hoy.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383280"/>
            <a:ext cx="10881360" cy="1234440"/>
          </a:xfrm>
          <a:prstGeom prst="roundRect">
            <a:avLst>
              <a:gd name="adj" fmla="val 8889"/>
            </a:avLst>
          </a:prstGeom>
          <a:solidFill>
            <a:srgbClr val="153E28"/>
          </a:solidFill>
          <a:ln/>
        </p:spPr>
      </p:sp>
      <p:sp>
        <p:nvSpPr>
          <p:cNvPr id="10" name="Shape 8"/>
          <p:cNvSpPr/>
          <p:nvPr/>
        </p:nvSpPr>
        <p:spPr>
          <a:xfrm>
            <a:off x="914400" y="3657600"/>
            <a:ext cx="685800" cy="685800"/>
          </a:xfrm>
          <a:prstGeom prst="ellipse">
            <a:avLst/>
          </a:prstGeom>
          <a:solidFill>
            <a:srgbClr val="E8A02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14400" y="36576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E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1874520" y="3520440"/>
            <a:ext cx="9326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Entregable completo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1874520" y="3931920"/>
            <a:ext cx="9326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F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 del primer corte — diagrama 1D + 2D + pseudocódigo, todo en tu repo de GitHub. Se sube al terminar la clase del miércoles.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800600"/>
            <a:ext cx="10881360" cy="1234440"/>
          </a:xfrm>
          <a:prstGeom prst="roundRect">
            <a:avLst>
              <a:gd name="adj" fmla="val 8889"/>
            </a:avLst>
          </a:prstGeom>
          <a:solidFill>
            <a:srgbClr val="153E28"/>
          </a:solidFill>
          <a:ln/>
        </p:spPr>
      </p:sp>
      <p:sp>
        <p:nvSpPr>
          <p:cNvPr id="15" name="Shape 13"/>
          <p:cNvSpPr/>
          <p:nvPr/>
        </p:nvSpPr>
        <p:spPr>
          <a:xfrm>
            <a:off x="914400" y="5074920"/>
            <a:ext cx="685800" cy="685800"/>
          </a:xfrm>
          <a:prstGeom prst="ellipse">
            <a:avLst/>
          </a:prstGeom>
          <a:solidFill>
            <a:srgbClr val="E8A02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4400" y="50749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E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1874520" y="4937760"/>
            <a:ext cx="9326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SICAU — Semana 5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874520" y="5349240"/>
            <a:ext cx="9326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F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al 12 de septiembre: quiz de cierre de la Unidad 1 (30% del corte).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E4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10312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 por
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88036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construir hoy en </a:t>
            </a:r>
            <a:pPr indent="0" marL="0">
              <a:buNone/>
            </a:pPr>
            <a:r>
              <a:rPr lang="en-US" sz="4000" b="1" dirty="0">
                <a:solidFill>
                  <a:srgbClr val="E8A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casillas.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0350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I.U. Pascual Bravo · SD1004 Estructura de Datos · Juan Duque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503920" y="2834640"/>
            <a:ext cx="658368" cy="658368"/>
          </a:xfrm>
          <a:prstGeom prst="roundRect">
            <a:avLst>
              <a:gd name="adj" fmla="val 8333"/>
            </a:avLst>
          </a:prstGeom>
          <a:solidFill>
            <a:srgbClr val="E8A020"/>
          </a:solidFill>
          <a:ln w="19050">
            <a:solidFill>
              <a:srgbClr val="E8A02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503920" y="283464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9253728" y="2834640"/>
            <a:ext cx="658368" cy="658368"/>
          </a:xfrm>
          <a:prstGeom prst="roundRect">
            <a:avLst>
              <a:gd name="adj" fmla="val 8333"/>
            </a:avLst>
          </a:prstGeom>
          <a:solidFill>
            <a:srgbClr val="E8A020"/>
          </a:solidFill>
          <a:ln w="19050">
            <a:solidFill>
              <a:srgbClr val="E8A02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253728" y="283464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10003536" y="2834640"/>
            <a:ext cx="658368" cy="658368"/>
          </a:xfrm>
          <a:prstGeom prst="roundRect">
            <a:avLst>
              <a:gd name="adj" fmla="val 8333"/>
            </a:avLst>
          </a:prstGeom>
          <a:solidFill>
            <a:srgbClr val="E8A020"/>
          </a:solidFill>
          <a:ln w="19050">
            <a:solidFill>
              <a:srgbClr val="E8A02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003536" y="283464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2026-08-31T19:50:09Z</dcterms:created>
  <dcterms:modified xsi:type="dcterms:W3CDTF">2026-08-31T19:50:09Z</dcterms:modified>
</cp:coreProperties>
</file>