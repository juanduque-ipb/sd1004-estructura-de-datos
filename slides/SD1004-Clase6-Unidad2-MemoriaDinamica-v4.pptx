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jtkcd786BwBcDjH97mgrW5xuf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HelveticaNeue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customschemas.google.com/relationships/presentationmetadata" Target="metadata"/><Relationship Id="rId27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Ilustración generada para esta presentación. Contenido basado en el plan académico SD1004.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Conexión entre Unidad 1 y Unidad 2.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Objetivos construidos desde la descripción de la Unidad 2 en README.md.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Conceptos introductorios para contextualizar estructuras dinámicas.</a:t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Ejemplos cotidianos para motivar estructuras de tamaño variable.</a:t>
            </a:r>
            <a:endParaRPr/>
          </a:p>
        </p:txBody>
      </p:sp>
      <p:sp>
        <p:nvSpPr>
          <p:cNvPr id="91" name="Google Shape;91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Esquema conceptual: no se introduce sintaxis de un lenguaje en esta clase.</a:t>
            </a:r>
            <a:endParaRPr/>
          </a:p>
        </p:txBody>
      </p:sp>
      <p:sp>
        <p:nvSpPr>
          <p:cNvPr id="119" name="Google Shape;11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Representación editable de una lista simplemente enlazada.</a:t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Operaciones básicas que se desarrollarán en las siguientes clases.</a:t>
            </a:r>
            <a:endParaRPr/>
          </a:p>
        </p:txBody>
      </p:sp>
      <p:sp>
        <p:nvSpPr>
          <p:cNvPr id="177" name="Google Shape;17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Panorama de variantes. Cada tipo se aborda con ejemplos posteriores.</a:t>
            </a:r>
            <a:endParaRPr/>
          </a:p>
        </p:txBody>
      </p:sp>
      <p:sp>
        <p:nvSpPr>
          <p:cNvPr id="201" name="Google Shape;201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Principio LIFO y operaciones básicas de una pila.</a:t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Principio FIFO y vocabulario de frente/final.</a:t>
            </a:r>
            <a:endParaRPr/>
          </a:p>
        </p:txBody>
      </p:sp>
      <p:sp>
        <p:nvSpPr>
          <p:cNvPr id="248" name="Google Shape;24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Ejemplo conceptual de cola de prioridad en atención de pacientes.</a:t>
            </a:r>
            <a:endParaRPr/>
          </a:p>
        </p:txBody>
      </p:sp>
      <p:sp>
        <p:nvSpPr>
          <p:cNvPr id="274" name="Google Shape;27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Mapa de decisión inicial, para discutir elección de estructura.</a:t>
            </a:r>
            <a:endParaRPr/>
          </a:p>
        </p:txBody>
      </p:sp>
      <p:sp>
        <p:nvSpPr>
          <p:cNvPr id="296" name="Google Shape;296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Guía docente: Presenta el estado inicial. Pide a los estudiantes anticipar cuál referencia deben cambiar primero.</a:t>
            </a:r>
            <a:endParaRPr/>
          </a:p>
        </p:txBody>
      </p:sp>
      <p:sp>
        <p:nvSpPr>
          <p:cNvPr id="328" name="Google Shape;328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1" name="Google Shape;36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Guía docente: Subraya que el paso 1 conserva la ruta hacia C antes de modificar A.</a:t>
            </a:r>
            <a:endParaRPr/>
          </a:p>
        </p:txBody>
      </p:sp>
      <p:sp>
        <p:nvSpPr>
          <p:cNvPr id="362" name="Google Shape;36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Guía docente: Cierra la demostración. Lee los dos pasos en orden y señala los enlaces que cambian.</a:t>
            </a:r>
            <a:endParaRPr/>
          </a:p>
        </p:txBody>
      </p:sp>
      <p:sp>
        <p:nvSpPr>
          <p:cNvPr id="394" name="Google Shape;39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7" name="Google Shape;42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Guía docente: Actividad de cierre: los estudiantes dibujan A.siguiente = B.siguiente y luego muestran A → C.</a:t>
            </a:r>
            <a:endParaRPr/>
          </a:p>
        </p:txBody>
      </p:sp>
      <p:sp>
        <p:nvSpPr>
          <p:cNvPr id="428" name="Google Shape;42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9" name="Google Shape;459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Ruta basada en la calendarización de la Unidad 2 del README del curso.</a:t>
            </a:r>
            <a:endParaRPr/>
          </a:p>
        </p:txBody>
      </p:sp>
      <p:sp>
        <p:nvSpPr>
          <p:cNvPr id="460" name="Google Shape;460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Fuente y nota docente: Actividad diagnóstica de 8 a 10 minutos para cerrar la introducción.</a:t>
            </a:r>
            <a:endParaRPr/>
          </a:p>
        </p:txBody>
      </p:sp>
      <p:sp>
        <p:nvSpPr>
          <p:cNvPr id="491" name="Google Shape;491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452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0" y="0"/>
            <a:ext cx="6191250" cy="6858000"/>
          </a:xfrm>
          <a:prstGeom prst="rect">
            <a:avLst/>
          </a:prstGeom>
          <a:solidFill>
            <a:srgbClr val="0E4525">
              <a:alpha val="92157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62000" y="10668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E8A0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· ESTRUCTURA DE DATOS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62000" y="1695450"/>
            <a:ext cx="47625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5"/>
              <a:buFont typeface="Helvetica Neue"/>
              <a:buNone/>
            </a:pPr>
            <a:r>
              <a:rPr b="1" lang="en-US" sz="2835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Unidad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35"/>
              <a:buFont typeface="Helvetica Neue"/>
              <a:buNone/>
            </a:pPr>
            <a:r>
              <a:rPr b="1" lang="en-US" sz="2835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Gestionando eficientemente la memoria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81050" y="3543300"/>
            <a:ext cx="3905250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EADD"/>
              </a:buClr>
              <a:buSzPts val="1875"/>
              <a:buFont typeface="Helvetica Neue"/>
              <a:buNone/>
            </a:pPr>
            <a:r>
              <a:rPr b="0" lang="en-US" sz="1875">
                <a:solidFill>
                  <a:srgbClr val="D8EAD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 dinámica, listas enlazadas, pilas y colas</a:t>
            </a:r>
            <a:endParaRPr/>
          </a:p>
        </p:txBody>
      </p:sp>
      <p:cxnSp>
        <p:nvCxnSpPr>
          <p:cNvPr id="21" name="Google Shape;21;p1"/>
          <p:cNvCxnSpPr/>
          <p:nvPr/>
        </p:nvCxnSpPr>
        <p:spPr>
          <a:xfrm>
            <a:off x="781050" y="4572000"/>
            <a:ext cx="1143000" cy="0"/>
          </a:xfrm>
          <a:prstGeom prst="straightConnector1">
            <a:avLst/>
          </a:prstGeom>
          <a:noFill/>
          <a:ln cap="flat" cmpd="sng" w="4762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781050" y="48768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Helvetica Neue"/>
              <a:buNone/>
            </a:pPr>
            <a:r>
              <a:rPr b="0" lang="en-US"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Clase 6 · Introducción a la Unidad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 acceso directo a la memoria flexible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02</a:t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666750" y="144780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75"/>
              <a:buFont typeface="Helvetica Neue"/>
              <a:buNone/>
            </a:pPr>
            <a:r>
              <a:rPr b="1" lang="en-US" sz="1575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Unidad 1 nos dio una base: arreglos, índices y complejidad.</a:t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666750" y="2266950"/>
            <a:ext cx="476250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725"/>
              <a:buFont typeface="Helvetica Neue"/>
              <a:buNone/>
            </a:pPr>
            <a:r>
              <a:rPr b="0" lang="en-US" sz="17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arreglos son rápidos para acceder por índice. Pero su tamaño suele definirse antes de usarlos y las inserciones en el medio pueden requerir desplazamientos.</a:t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667500" y="1809750"/>
            <a:ext cx="1143000" cy="857250"/>
          </a:xfrm>
          <a:prstGeom prst="roundRect">
            <a:avLst>
              <a:gd fmla="val 200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838950" y="2000250"/>
            <a:ext cx="800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arreglo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200"/>
              <a:buFont typeface="Helvetica Neue"/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[0..n]</a:t>
            </a:r>
            <a:endParaRPr/>
          </a:p>
        </p:txBody>
      </p:sp>
      <p:cxnSp>
        <p:nvCxnSpPr>
          <p:cNvPr id="38" name="Google Shape;38;p2"/>
          <p:cNvCxnSpPr/>
          <p:nvPr/>
        </p:nvCxnSpPr>
        <p:spPr>
          <a:xfrm>
            <a:off x="7905750" y="2238375"/>
            <a:ext cx="952500" cy="0"/>
          </a:xfrm>
          <a:prstGeom prst="straightConnector1">
            <a:avLst/>
          </a:prstGeom>
          <a:noFill/>
          <a:ln cap="flat" cmpd="sng" w="4762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2"/>
          <p:cNvSpPr/>
          <p:nvPr/>
        </p:nvSpPr>
        <p:spPr>
          <a:xfrm>
            <a:off x="9048750" y="1809750"/>
            <a:ext cx="1047750" cy="857250"/>
          </a:xfrm>
          <a:prstGeom prst="roundRect">
            <a:avLst>
              <a:gd fmla="val 20000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9201150" y="200025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930"/>
              <a:buFont typeface="Helvetica Neue"/>
              <a:buNone/>
            </a:pPr>
            <a:r>
              <a:rPr b="1" lang="en-US" sz="931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datos 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930"/>
              <a:buFont typeface="Helvetica Neue"/>
              <a:buNone/>
            </a:pPr>
            <a:r>
              <a:rPr b="1" lang="en-US" sz="931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cambian</a:t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667500" y="3114675"/>
            <a:ext cx="33337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382"/>
              <a:buFont typeface="Helvetica Neue"/>
              <a:buNone/>
            </a:pPr>
            <a:r>
              <a:rPr b="1" lang="en-US" sz="1383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Pregunta de la unidad: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382"/>
              <a:buFont typeface="Helvetica Neue"/>
              <a:buNone/>
            </a:pPr>
            <a:r>
              <a:rPr b="1" lang="en-US" sz="1383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¿cómo organizamos datos cuyo tamaño cambia durante la ejecución?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Propósitos de aprendizaje</a:t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03</a:t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66750" y="1409700"/>
            <a:ext cx="9144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91"/>
              <a:buFont typeface="Helvetica Neue"/>
              <a:buNone/>
            </a:pPr>
            <a:r>
              <a:rPr b="0" lang="en-US" sz="1492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 cerrar la Unidad 2 podrás explicar y elegir estructuras que crecen, se reducen y organizan operaciones.</a:t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819150" y="2266950"/>
            <a:ext cx="495300" cy="495300"/>
          </a:xfrm>
          <a:prstGeom prst="roundRect">
            <a:avLst>
              <a:gd fmla="val 26923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971550" y="2343150"/>
            <a:ext cx="20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370"/>
              <a:buFont typeface="Helvetica Neue"/>
              <a:buNone/>
            </a:pPr>
            <a:r>
              <a:rPr b="1" lang="en-US" sz="20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r>
              <a:rPr b="1" lang="en-US" sz="37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1619250" y="2238375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</a:t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3714750" y="2247900"/>
            <a:ext cx="6572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650"/>
              <a:buFont typeface="Helvetica Neue"/>
              <a:buNone/>
            </a:pPr>
            <a:r>
              <a:rPr b="0" lang="en-US" sz="165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Diferenciar memoria estática y dinámica.</a:t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819150" y="3162300"/>
            <a:ext cx="495300" cy="495300"/>
          </a:xfrm>
          <a:prstGeom prst="roundRect">
            <a:avLst>
              <a:gd fmla="val 26923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971550" y="3238500"/>
            <a:ext cx="20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370"/>
              <a:buFont typeface="Helvetica Neue"/>
              <a:buNone/>
            </a:pPr>
            <a:r>
              <a:rPr b="1" lang="en-US" sz="20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2000"/>
          </a:p>
        </p:txBody>
      </p:sp>
      <p:sp>
        <p:nvSpPr>
          <p:cNvPr id="60" name="Google Shape;60;p3"/>
          <p:cNvSpPr/>
          <p:nvPr/>
        </p:nvSpPr>
        <p:spPr>
          <a:xfrm>
            <a:off x="1619250" y="3133725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Listas</a:t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3714750" y="3143250"/>
            <a:ext cx="6572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650"/>
              <a:buFont typeface="Helvetica Neue"/>
              <a:buNone/>
            </a:pPr>
            <a:r>
              <a:rPr b="0" lang="en-US" sz="165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Modelar nodos y enlaces en listas simples, dobles y circulares.</a:t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819150" y="4057650"/>
            <a:ext cx="495300" cy="495300"/>
          </a:xfrm>
          <a:prstGeom prst="roundRect">
            <a:avLst>
              <a:gd fmla="val 26923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971550" y="4133850"/>
            <a:ext cx="20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370"/>
              <a:buFont typeface="Helvetica Neue"/>
              <a:buNone/>
            </a:pPr>
            <a:r>
              <a:rPr b="1" lang="en-US" sz="20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2000"/>
          </a:p>
        </p:txBody>
      </p:sp>
      <p:sp>
        <p:nvSpPr>
          <p:cNvPr id="64" name="Google Shape;64;p3"/>
          <p:cNvSpPr/>
          <p:nvPr/>
        </p:nvSpPr>
        <p:spPr>
          <a:xfrm>
            <a:off x="1619250" y="4029075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Pilas</a:t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3714750" y="4038600"/>
            <a:ext cx="6572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650"/>
              <a:buFont typeface="Helvetica Neue"/>
              <a:buNone/>
            </a:pPr>
            <a:r>
              <a:rPr b="0" lang="en-US" sz="165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Resolver problemas con el principio LIFO.</a:t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19150" y="4953000"/>
            <a:ext cx="495300" cy="495300"/>
          </a:xfrm>
          <a:prstGeom prst="roundRect">
            <a:avLst>
              <a:gd fmla="val 26923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971550" y="5029200"/>
            <a:ext cx="2095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370"/>
              <a:buFont typeface="Helvetica Neue"/>
              <a:buNone/>
            </a:pPr>
            <a:r>
              <a:rPr b="1" lang="en-US" sz="20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sz="2000"/>
          </a:p>
        </p:txBody>
      </p:sp>
      <p:sp>
        <p:nvSpPr>
          <p:cNvPr id="68" name="Google Shape;68;p3"/>
          <p:cNvSpPr/>
          <p:nvPr/>
        </p:nvSpPr>
        <p:spPr>
          <a:xfrm>
            <a:off x="1619250" y="4924425"/>
            <a:ext cx="1905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400"/>
              <a:buFont typeface="Helvetica Neue"/>
              <a:buNone/>
            </a:pPr>
            <a:r>
              <a:rPr b="1" lang="en-US" sz="14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Colas</a:t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714750" y="4933950"/>
            <a:ext cx="65722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650"/>
              <a:buFont typeface="Helvetica Neue"/>
              <a:buNone/>
            </a:pPr>
            <a:r>
              <a:rPr b="0" lang="en-US" sz="165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Resolver problemas con el principio FIFO y prioridades.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 estática y memoria dinámica</a:t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04</a:t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666750" y="1381125"/>
            <a:ext cx="10858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25"/>
              <a:buFont typeface="Helvetica Neue"/>
              <a:buNone/>
            </a:pPr>
            <a:r>
              <a:rPr b="0" lang="en-US" sz="15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programa necesita reservar espacio para guardar datos. La diferencia clave está en cuándo y cómo cambia ese espacio.</a:t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666750" y="2266950"/>
            <a:ext cx="5048250" cy="2952750"/>
          </a:xfrm>
          <a:prstGeom prst="roundRect">
            <a:avLst>
              <a:gd fmla="val 8387" name="adj"/>
            </a:avLst>
          </a:prstGeom>
          <a:solidFill>
            <a:srgbClr val="E8F5EE"/>
          </a:solidFill>
          <a:ln cap="flat" cmpd="sng" w="9525">
            <a:solidFill>
              <a:srgbClr val="B9D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009650" y="2647950"/>
            <a:ext cx="400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150"/>
              <a:buFont typeface="Helvetica Neue"/>
              <a:buNone/>
            </a:pPr>
            <a:r>
              <a:rPr b="1" lang="en-US" sz="21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 estática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009650" y="3381375"/>
            <a:ext cx="40481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800"/>
              <a:buFont typeface="Helvetica Neue"/>
              <a:buNone/>
            </a:pPr>
            <a:r>
              <a:rPr b="0" lang="en-US" sz="180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tamaño se conoce o se fija antes de ejecutar.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>
              <a:solidFill>
                <a:srgbClr val="1A272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800"/>
              <a:buFont typeface="Helvetica Neue"/>
              <a:buNone/>
            </a:pPr>
            <a:r>
              <a:rPr b="0" lang="en-US" sz="180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Ejemplo: un arreglo con 30 notas.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286500" y="2266950"/>
            <a:ext cx="5048250" cy="2952750"/>
          </a:xfrm>
          <a:prstGeom prst="roundRect">
            <a:avLst>
              <a:gd fmla="val 8387" name="adj"/>
            </a:avLst>
          </a:prstGeom>
          <a:solidFill>
            <a:srgbClr val="FFF8EC"/>
          </a:solidFill>
          <a:ln cap="flat" cmpd="sng" w="9525">
            <a:solidFill>
              <a:srgbClr val="B9DC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6629400" y="2647950"/>
            <a:ext cx="4000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150"/>
              <a:buFont typeface="Helvetica Neue"/>
              <a:buNone/>
            </a:pPr>
            <a:r>
              <a:rPr b="1" lang="en-US" sz="21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 dinámica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629400" y="3381375"/>
            <a:ext cx="4048125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04"/>
              <a:buFont typeface="Helvetica Neue"/>
              <a:buNone/>
            </a:pPr>
            <a:r>
              <a:rPr b="0" lang="en-US" sz="1505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programa solicita y libera espacio mientras se ejecuta.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505">
              <a:solidFill>
                <a:srgbClr val="1A272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04"/>
              <a:buFont typeface="Helvetica Neue"/>
              <a:buNone/>
            </a:pPr>
            <a:r>
              <a:rPr b="0" lang="en-US" sz="1505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Ejemplo: una lista de pedidos que cambia durante el día.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5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Cuando un tamaño fijo deja de servir</a:t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05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666750" y="1371600"/>
            <a:ext cx="7620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74"/>
              <a:buFont typeface="Helvetica Neue"/>
              <a:buNone/>
            </a:pPr>
            <a:r>
              <a:rPr b="0" lang="en-US" sz="107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 arreglo funciona muy bien si conocemos cuántos datos habrá. Pero muchos problemas reales no dan ese dato al inicio.</a:t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666750" y="2476500"/>
            <a:ext cx="3095625" cy="2190750"/>
          </a:xfrm>
          <a:prstGeom prst="roundRect">
            <a:avLst>
              <a:gd fmla="val 9565" name="adj"/>
            </a:avLst>
          </a:prstGeom>
          <a:solidFill>
            <a:srgbClr val="FFFFFF"/>
          </a:solidFill>
          <a:ln cap="flat" cmpd="sng" w="9525">
            <a:solidFill>
              <a:srgbClr val="D9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933450" y="2724150"/>
            <a:ext cx="571500" cy="571500"/>
          </a:xfrm>
          <a:prstGeom prst="roundRect">
            <a:avLst>
              <a:gd fmla="val 26667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095375" y="2828925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640"/>
              <a:buFont typeface="Helvetica Neue"/>
              <a:buNone/>
            </a:pPr>
            <a:r>
              <a:rPr b="1" lang="en-US" sz="20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sz="2000"/>
          </a:p>
        </p:txBody>
      </p:sp>
      <p:sp>
        <p:nvSpPr>
          <p:cNvPr id="103" name="Google Shape;103;p5"/>
          <p:cNvSpPr/>
          <p:nvPr/>
        </p:nvSpPr>
        <p:spPr>
          <a:xfrm>
            <a:off x="933450" y="3562350"/>
            <a:ext cx="2476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696"/>
              <a:buFont typeface="Helvetica Neue"/>
              <a:buNone/>
            </a:pPr>
            <a:r>
              <a:rPr b="1" lang="en-US" sz="1696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Atención en urgencias</a:t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933450" y="4152900"/>
            <a:ext cx="2476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12"/>
              <a:buFont typeface="Helvetica Neue"/>
              <a:buNone/>
            </a:pPr>
            <a:r>
              <a:rPr b="0" lang="en-US" sz="1013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Los pacientes llegan en momentos distintos.</a:t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4286250" y="2476500"/>
            <a:ext cx="3095625" cy="2190750"/>
          </a:xfrm>
          <a:prstGeom prst="roundRect">
            <a:avLst>
              <a:gd fmla="val 9565" name="adj"/>
            </a:avLst>
          </a:prstGeom>
          <a:solidFill>
            <a:srgbClr val="FFFFFF"/>
          </a:solidFill>
          <a:ln cap="flat" cmpd="sng" w="9525">
            <a:solidFill>
              <a:srgbClr val="D9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4552950" y="2724150"/>
            <a:ext cx="571500" cy="571500"/>
          </a:xfrm>
          <a:prstGeom prst="roundRect">
            <a:avLst>
              <a:gd fmla="val 26667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4714875" y="2828925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640"/>
              <a:buFont typeface="Helvetica Neue"/>
              <a:buNone/>
            </a:pPr>
            <a:r>
              <a:rPr b="1" lang="en-US" sz="20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sz="2000"/>
          </a:p>
        </p:txBody>
      </p:sp>
      <p:sp>
        <p:nvSpPr>
          <p:cNvPr id="108" name="Google Shape;108;p5"/>
          <p:cNvSpPr/>
          <p:nvPr/>
        </p:nvSpPr>
        <p:spPr>
          <a:xfrm>
            <a:off x="4552950" y="3562350"/>
            <a:ext cx="2476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25"/>
              <a:buFont typeface="Helvetica Neue"/>
              <a:buNone/>
            </a:pPr>
            <a:r>
              <a:rPr b="1" lang="en-US" sz="17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Carrito de compras</a:t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4552950" y="4152900"/>
            <a:ext cx="2476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12"/>
              <a:buFont typeface="Helvetica Neue"/>
              <a:buNone/>
            </a:pPr>
            <a:r>
              <a:rPr b="0" lang="en-US" sz="1013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cantidad de productos cambia durante la sesión.</a:t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7905750" y="2476500"/>
            <a:ext cx="3095625" cy="2190750"/>
          </a:xfrm>
          <a:prstGeom prst="roundRect">
            <a:avLst>
              <a:gd fmla="val 9565" name="adj"/>
            </a:avLst>
          </a:prstGeom>
          <a:solidFill>
            <a:srgbClr val="FFFFFF"/>
          </a:solidFill>
          <a:ln cap="flat" cmpd="sng" w="9525">
            <a:solidFill>
              <a:srgbClr val="D9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8172450" y="2724150"/>
            <a:ext cx="571500" cy="571500"/>
          </a:xfrm>
          <a:prstGeom prst="roundRect">
            <a:avLst>
              <a:gd fmla="val 26667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334375" y="2828925"/>
            <a:ext cx="2286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640"/>
              <a:buFont typeface="Helvetica Neue"/>
              <a:buNone/>
            </a:pPr>
            <a:r>
              <a:rPr b="1" lang="en-US" sz="20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sz="2000"/>
          </a:p>
        </p:txBody>
      </p:sp>
      <p:sp>
        <p:nvSpPr>
          <p:cNvPr id="113" name="Google Shape;113;p5"/>
          <p:cNvSpPr/>
          <p:nvPr/>
        </p:nvSpPr>
        <p:spPr>
          <a:xfrm>
            <a:off x="8172450" y="3562350"/>
            <a:ext cx="2476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612"/>
              <a:buFont typeface="Helvetica Neue"/>
              <a:buNone/>
            </a:pPr>
            <a:r>
              <a:rPr b="1" lang="en-US" sz="1612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Historial de navegación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8172450" y="4152900"/>
            <a:ext cx="2476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12"/>
              <a:buFont typeface="Helvetica Neue"/>
              <a:buNone/>
            </a:pPr>
            <a:r>
              <a:rPr b="0" lang="en-US" sz="1013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acción agrega una nueva entrada.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666750" y="5295900"/>
            <a:ext cx="10191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18"/>
              <a:buFont typeface="Helvetica Neue"/>
              <a:buNone/>
            </a:pPr>
            <a:r>
              <a:rPr b="1" lang="en-US" sz="1718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estructura adecuada depende de las operaciones que necesitas hacer con mayor frecuencia.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Reserva y liberación de memoria</a:t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06</a:t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666750" y="1381125"/>
            <a:ext cx="8572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61"/>
              <a:buFont typeface="Helvetica Neue"/>
              <a:buNone/>
            </a:pPr>
            <a:r>
              <a:rPr b="0" lang="en-US" sz="1461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Durante la ejecución, el programa puede pedir espacio, usarlo y devolverlo cuando ya no lo necesita.</a:t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857250" y="2571750"/>
            <a:ext cx="2619375" cy="2095500"/>
          </a:xfrm>
          <a:prstGeom prst="roundRect">
            <a:avLst>
              <a:gd fmla="val 100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104900" y="2781300"/>
            <a:ext cx="438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900"/>
              <a:buFont typeface="Helvetica Neue"/>
              <a:buNone/>
            </a:pPr>
            <a:r>
              <a:rPr b="1" lang="en-US" sz="19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1143000" y="3362325"/>
            <a:ext cx="1952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587"/>
              <a:buFont typeface="Helvetica Neue"/>
              <a:buNone/>
            </a:pPr>
            <a:r>
              <a:rPr b="1" lang="en-US" sz="1587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Solicitar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1143000" y="3876675"/>
            <a:ext cx="20478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151"/>
              <a:buFont typeface="Helvetica Neue"/>
              <a:buNone/>
            </a:pPr>
            <a:r>
              <a:rPr b="0" lang="en-US" sz="1151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programa requiere espacio para un nuevo dato.</a:t>
            </a:r>
            <a:endParaRPr/>
          </a:p>
        </p:txBody>
      </p:sp>
      <p:cxnSp>
        <p:nvCxnSpPr>
          <p:cNvPr id="132" name="Google Shape;132;p6"/>
          <p:cNvCxnSpPr/>
          <p:nvPr/>
        </p:nvCxnSpPr>
        <p:spPr>
          <a:xfrm>
            <a:off x="3571875" y="3609975"/>
            <a:ext cx="55245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6"/>
          <p:cNvSpPr/>
          <p:nvPr/>
        </p:nvSpPr>
        <p:spPr>
          <a:xfrm>
            <a:off x="4429125" y="2571750"/>
            <a:ext cx="2619375" cy="2095500"/>
          </a:xfrm>
          <a:prstGeom prst="roundRect">
            <a:avLst>
              <a:gd fmla="val 10000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4676775" y="2781300"/>
            <a:ext cx="438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900"/>
              <a:buFont typeface="Helvetica Neue"/>
              <a:buNone/>
            </a:pPr>
            <a:r>
              <a:rPr b="1" lang="en-US" sz="19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714875" y="3362325"/>
            <a:ext cx="1952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587"/>
              <a:buFont typeface="Helvetica Neue"/>
              <a:buNone/>
            </a:pPr>
            <a:r>
              <a:rPr b="1" lang="en-US" sz="1587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Usar</a:t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4714875" y="3876675"/>
            <a:ext cx="20478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068"/>
              <a:buFont typeface="Helvetica Neue"/>
              <a:buNone/>
            </a:pPr>
            <a:r>
              <a:rPr b="0" lang="en-US" sz="1068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Guarda el dato y conserva una referencia para encontrarlo.</a:t>
            </a:r>
            <a:endParaRPr/>
          </a:p>
        </p:txBody>
      </p:sp>
      <p:cxnSp>
        <p:nvCxnSpPr>
          <p:cNvPr id="137" name="Google Shape;137;p6"/>
          <p:cNvCxnSpPr/>
          <p:nvPr/>
        </p:nvCxnSpPr>
        <p:spPr>
          <a:xfrm>
            <a:off x="7143750" y="3609975"/>
            <a:ext cx="55245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6"/>
          <p:cNvSpPr/>
          <p:nvPr/>
        </p:nvSpPr>
        <p:spPr>
          <a:xfrm>
            <a:off x="8001000" y="2571750"/>
            <a:ext cx="2619375" cy="2095500"/>
          </a:xfrm>
          <a:prstGeom prst="roundRect">
            <a:avLst>
              <a:gd fmla="val 100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8248650" y="2781300"/>
            <a:ext cx="4381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900"/>
              <a:buFont typeface="Helvetica Neue"/>
              <a:buNone/>
            </a:pPr>
            <a:r>
              <a:rPr b="1" lang="en-US" sz="19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8286750" y="3362325"/>
            <a:ext cx="19526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587"/>
              <a:buFont typeface="Helvetica Neue"/>
              <a:buNone/>
            </a:pPr>
            <a:r>
              <a:rPr b="1" lang="en-US" sz="1587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Liberar</a:t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8286750" y="3876675"/>
            <a:ext cx="20478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989"/>
              <a:buFont typeface="Helvetica Neue"/>
              <a:buNone/>
            </a:pPr>
            <a:r>
              <a:rPr b="0" lang="en-US" sz="99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Cuando deja de servir, el espacio puede volver a estar disponible.</a:t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666750" y="5314950"/>
            <a:ext cx="9525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18"/>
              <a:buFont typeface="Helvetica Neue"/>
              <a:buNone/>
            </a:pPr>
            <a:r>
              <a:rPr b="1" lang="en-US" sz="1718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referencia no guarda el dato completo: guarda la ubicación necesaria para llegar a él.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idea de una lista enlazada</a:t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07</a:t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666750" y="1381125"/>
            <a:ext cx="9048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48"/>
              <a:buFont typeface="Helvetica Neue"/>
              <a:buNone/>
            </a:pPr>
            <a:r>
              <a:rPr b="0" lang="en-US" sz="1548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lista enlazada guarda cada dato dentro de un nodo. Cada nodo conoce cómo llegar al siguiente.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1381125" y="2952750"/>
            <a:ext cx="2095500" cy="1000125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476375" y="3048000"/>
            <a:ext cx="1047750" cy="809625"/>
          </a:xfrm>
          <a:prstGeom prst="roundRect">
            <a:avLst>
              <a:gd fmla="val 11765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2571750" y="3048000"/>
            <a:ext cx="809625" cy="809625"/>
          </a:xfrm>
          <a:prstGeom prst="roundRect">
            <a:avLst>
              <a:gd fmla="val 11765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619250" y="326707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274"/>
              <a:buFont typeface="Helvetica Neue"/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2676525" y="3219450"/>
            <a:ext cx="6000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350"/>
              <a:buFont typeface="Helvetica Neue"/>
              <a:buNone/>
            </a:pPr>
            <a:r>
              <a:rPr b="1" lang="en-US" sz="13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ref.</a:t>
            </a:r>
            <a:endParaRPr/>
          </a:p>
        </p:txBody>
      </p:sp>
      <p:cxnSp>
        <p:nvCxnSpPr>
          <p:cNvPr id="160" name="Google Shape;160;p7"/>
          <p:cNvCxnSpPr/>
          <p:nvPr/>
        </p:nvCxnSpPr>
        <p:spPr>
          <a:xfrm>
            <a:off x="3524250" y="3448050"/>
            <a:ext cx="66675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p7"/>
          <p:cNvSpPr/>
          <p:nvPr/>
        </p:nvSpPr>
        <p:spPr>
          <a:xfrm>
            <a:off x="4238625" y="2952750"/>
            <a:ext cx="2095500" cy="1000125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333875" y="3048000"/>
            <a:ext cx="1047750" cy="809625"/>
          </a:xfrm>
          <a:prstGeom prst="roundRect">
            <a:avLst>
              <a:gd fmla="val 11765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429250" y="3048000"/>
            <a:ext cx="809625" cy="809625"/>
          </a:xfrm>
          <a:prstGeom prst="roundRect">
            <a:avLst>
              <a:gd fmla="val 11765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4476750" y="326707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274"/>
              <a:buFont typeface="Helvetica Neue"/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Bruno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5534025" y="3219450"/>
            <a:ext cx="6000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350"/>
              <a:buFont typeface="Helvetica Neue"/>
              <a:buNone/>
            </a:pPr>
            <a:r>
              <a:rPr b="1" lang="en-US" sz="13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ref.</a:t>
            </a:r>
            <a:endParaRPr/>
          </a:p>
        </p:txBody>
      </p:sp>
      <p:cxnSp>
        <p:nvCxnSpPr>
          <p:cNvPr id="166" name="Google Shape;166;p7"/>
          <p:cNvCxnSpPr/>
          <p:nvPr/>
        </p:nvCxnSpPr>
        <p:spPr>
          <a:xfrm>
            <a:off x="6381750" y="3448050"/>
            <a:ext cx="66675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p7"/>
          <p:cNvSpPr/>
          <p:nvPr/>
        </p:nvSpPr>
        <p:spPr>
          <a:xfrm>
            <a:off x="7096125" y="2952750"/>
            <a:ext cx="2095500" cy="1000125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7191375" y="3048000"/>
            <a:ext cx="1047750" cy="809625"/>
          </a:xfrm>
          <a:prstGeom prst="roundRect">
            <a:avLst>
              <a:gd fmla="val 11765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286750" y="3048000"/>
            <a:ext cx="809625" cy="809625"/>
          </a:xfrm>
          <a:prstGeom prst="roundRect">
            <a:avLst>
              <a:gd fmla="val 11765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7334250" y="326707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274"/>
              <a:buFont typeface="Helvetica Neue"/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Carla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8391525" y="3219450"/>
            <a:ext cx="6000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350"/>
              <a:buFont typeface="Helvetica Neue"/>
              <a:buNone/>
            </a:pPr>
            <a:r>
              <a:rPr b="1" lang="en-US" sz="13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∅</a:t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1381125" y="4362450"/>
            <a:ext cx="79057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25"/>
              <a:buFont typeface="Helvetica Neue"/>
              <a:buNone/>
            </a:pPr>
            <a:r>
              <a:rPr b="1" lang="en-US" sz="17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dato + referencia al siguiente nodo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66750" y="5381625"/>
            <a:ext cx="10477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800"/>
              <a:buFont typeface="Helvetica Neue"/>
              <a:buNone/>
            </a:pPr>
            <a:r>
              <a:rPr b="0" lang="en-US" sz="180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diferencia de un arreglo, los nodos no necesitan ocupar posiciones contiguas en memoria.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en una lista enlazada</a:t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08</a:t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857250" y="1666875"/>
            <a:ext cx="1714500" cy="876300"/>
          </a:xfrm>
          <a:prstGeom prst="roundRect">
            <a:avLst>
              <a:gd fmla="val 19565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1047750" y="1895475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524"/>
              <a:buFont typeface="Helvetica Neue"/>
              <a:buNone/>
            </a:pPr>
            <a:r>
              <a:rPr b="1" lang="en-US" sz="15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Recorrer</a:t>
            </a:r>
            <a:endParaRPr/>
          </a:p>
        </p:txBody>
      </p:sp>
      <p:cxnSp>
        <p:nvCxnSpPr>
          <p:cNvPr id="187" name="Google Shape;187;p8"/>
          <p:cNvCxnSpPr/>
          <p:nvPr/>
        </p:nvCxnSpPr>
        <p:spPr>
          <a:xfrm>
            <a:off x="2800350" y="2105025"/>
            <a:ext cx="60960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8"/>
          <p:cNvSpPr/>
          <p:nvPr/>
        </p:nvSpPr>
        <p:spPr>
          <a:xfrm>
            <a:off x="3714750" y="1714500"/>
            <a:ext cx="647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650"/>
              <a:buFont typeface="Helvetica Neue"/>
              <a:buNone/>
            </a:pPr>
            <a:r>
              <a:rPr b="0" lang="en-US" sz="165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Seguir referencias desde el primer nodo hasta encontrar el dato o llegar al final.</a:t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857250" y="3019425"/>
            <a:ext cx="1714500" cy="876300"/>
          </a:xfrm>
          <a:prstGeom prst="roundRect">
            <a:avLst>
              <a:gd fmla="val 19565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1047750" y="3248025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524"/>
              <a:buFont typeface="Helvetica Neue"/>
              <a:buNone/>
            </a:pPr>
            <a:r>
              <a:rPr b="1" lang="en-US" sz="15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Insertar</a:t>
            </a:r>
            <a:endParaRPr/>
          </a:p>
        </p:txBody>
      </p:sp>
      <p:cxnSp>
        <p:nvCxnSpPr>
          <p:cNvPr id="191" name="Google Shape;191;p8"/>
          <p:cNvCxnSpPr/>
          <p:nvPr/>
        </p:nvCxnSpPr>
        <p:spPr>
          <a:xfrm>
            <a:off x="2800350" y="3457575"/>
            <a:ext cx="60960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8"/>
          <p:cNvSpPr/>
          <p:nvPr/>
        </p:nvSpPr>
        <p:spPr>
          <a:xfrm>
            <a:off x="3714750" y="3067050"/>
            <a:ext cx="647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650"/>
              <a:buFont typeface="Helvetica Neue"/>
              <a:buNone/>
            </a:pPr>
            <a:r>
              <a:rPr b="0" lang="en-US" sz="165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Crear un nodo y ajustar las referencias de los nodos vecinos.</a:t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57250" y="4371975"/>
            <a:ext cx="1714500" cy="876300"/>
          </a:xfrm>
          <a:prstGeom prst="roundRect">
            <a:avLst>
              <a:gd fmla="val 19565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1047750" y="4600575"/>
            <a:ext cx="1333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524"/>
              <a:buFont typeface="Helvetica Neue"/>
              <a:buNone/>
            </a:pPr>
            <a:r>
              <a:rPr b="1" lang="en-US" sz="15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Eliminar</a:t>
            </a:r>
            <a:endParaRPr/>
          </a:p>
        </p:txBody>
      </p:sp>
      <p:cxnSp>
        <p:nvCxnSpPr>
          <p:cNvPr id="195" name="Google Shape;195;p8"/>
          <p:cNvCxnSpPr/>
          <p:nvPr/>
        </p:nvCxnSpPr>
        <p:spPr>
          <a:xfrm>
            <a:off x="2800350" y="4810125"/>
            <a:ext cx="60960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8"/>
          <p:cNvSpPr/>
          <p:nvPr/>
        </p:nvSpPr>
        <p:spPr>
          <a:xfrm>
            <a:off x="3714750" y="4419600"/>
            <a:ext cx="6477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650"/>
              <a:buFont typeface="Helvetica Neue"/>
              <a:buNone/>
            </a:pPr>
            <a:r>
              <a:rPr b="0" lang="en-US" sz="165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Conectar el nodo anterior con el siguiente y retirar la referencia al nodo eliminado.</a:t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857250" y="5810250"/>
            <a:ext cx="9620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25"/>
              <a:buFont typeface="Helvetica Neue"/>
              <a:buNone/>
            </a:pPr>
            <a:r>
              <a:rPr b="1" lang="en-US" sz="17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Pregunta guía: ¿necesito acceso rápido por índice o cambios frecuentes entre elementos?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Variantes de listas enlazadas</a:t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09</a:t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666750" y="1952625"/>
            <a:ext cx="3238500" cy="295275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9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971550" y="2333625"/>
            <a:ext cx="247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74"/>
              <a:buFont typeface="Helvetica Neue"/>
              <a:buNone/>
            </a:pPr>
            <a:r>
              <a:rPr b="1" lang="en-US" sz="17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</a:t>
            </a:r>
            <a:endParaRPr/>
          </a:p>
        </p:txBody>
      </p:sp>
      <p:cxnSp>
        <p:nvCxnSpPr>
          <p:cNvPr id="211" name="Google Shape;211;p9"/>
          <p:cNvCxnSpPr/>
          <p:nvPr/>
        </p:nvCxnSpPr>
        <p:spPr>
          <a:xfrm>
            <a:off x="1714500" y="2952750"/>
            <a:ext cx="114300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9"/>
          <p:cNvSpPr/>
          <p:nvPr/>
        </p:nvSpPr>
        <p:spPr>
          <a:xfrm>
            <a:off x="1047750" y="3390900"/>
            <a:ext cx="23812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5"/>
              <a:buFont typeface="Helvetica Neue"/>
              <a:buNone/>
            </a:pPr>
            <a:r>
              <a:rPr b="0" lang="en-US" sz="140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nodo apunta al siguiente.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05"/>
              <a:buFont typeface="Helvetica Neue"/>
              <a:buNone/>
            </a:pPr>
            <a:r>
              <a:rPr b="0" lang="en-US" sz="140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Recorrido en una dirección.</a:t>
            </a:r>
            <a:endParaRPr/>
          </a:p>
        </p:txBody>
      </p:sp>
      <p:sp>
        <p:nvSpPr>
          <p:cNvPr id="213" name="Google Shape;213;p9"/>
          <p:cNvSpPr/>
          <p:nvPr/>
        </p:nvSpPr>
        <p:spPr>
          <a:xfrm>
            <a:off x="4381500" y="1952625"/>
            <a:ext cx="3238500" cy="295275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9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4686300" y="2333625"/>
            <a:ext cx="247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74"/>
              <a:buFont typeface="Helvetica Neue"/>
              <a:buNone/>
            </a:pPr>
            <a:r>
              <a:rPr b="1" lang="en-US" sz="17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Doble</a:t>
            </a:r>
            <a:endParaRPr/>
          </a:p>
        </p:txBody>
      </p:sp>
      <p:cxnSp>
        <p:nvCxnSpPr>
          <p:cNvPr id="215" name="Google Shape;215;p9"/>
          <p:cNvCxnSpPr/>
          <p:nvPr/>
        </p:nvCxnSpPr>
        <p:spPr>
          <a:xfrm>
            <a:off x="5429250" y="2952750"/>
            <a:ext cx="1143000" cy="0"/>
          </a:xfrm>
          <a:prstGeom prst="straightConnector1">
            <a:avLst/>
          </a:prstGeom>
          <a:noFill/>
          <a:ln cap="flat" cmpd="sng" w="38100">
            <a:solidFill>
              <a:srgbClr val="65D4D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9"/>
          <p:cNvSpPr/>
          <p:nvPr/>
        </p:nvSpPr>
        <p:spPr>
          <a:xfrm>
            <a:off x="4762500" y="3390900"/>
            <a:ext cx="23812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8"/>
              <a:buFont typeface="Helvetica Neue"/>
              <a:buNone/>
            </a:pPr>
            <a:r>
              <a:rPr b="0" lang="en-US" sz="1508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nodo apunta al anterior y al siguiente.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8"/>
              <a:buFont typeface="Helvetica Neue"/>
              <a:buNone/>
            </a:pPr>
            <a:r>
              <a:rPr b="0" lang="en-US" sz="1508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Permite volver.</a:t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8096250" y="1952625"/>
            <a:ext cx="3238500" cy="2952750"/>
          </a:xfrm>
          <a:prstGeom prst="roundRect">
            <a:avLst>
              <a:gd fmla="val 7742" name="adj"/>
            </a:avLst>
          </a:prstGeom>
          <a:solidFill>
            <a:srgbClr val="FFFFFF"/>
          </a:solidFill>
          <a:ln cap="flat" cmpd="sng" w="9525">
            <a:solidFill>
              <a:srgbClr val="D9E2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8401050" y="2333625"/>
            <a:ext cx="24765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74"/>
              <a:buFont typeface="Helvetica Neue"/>
              <a:buNone/>
            </a:pPr>
            <a:r>
              <a:rPr b="1" lang="en-US" sz="17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Circular</a:t>
            </a:r>
            <a:endParaRPr/>
          </a:p>
        </p:txBody>
      </p:sp>
      <p:cxnSp>
        <p:nvCxnSpPr>
          <p:cNvPr id="219" name="Google Shape;219;p9"/>
          <p:cNvCxnSpPr/>
          <p:nvPr/>
        </p:nvCxnSpPr>
        <p:spPr>
          <a:xfrm>
            <a:off x="9144000" y="2952750"/>
            <a:ext cx="114300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0" name="Google Shape;220;p9"/>
          <p:cNvSpPr/>
          <p:nvPr/>
        </p:nvSpPr>
        <p:spPr>
          <a:xfrm>
            <a:off x="8477250" y="3390900"/>
            <a:ext cx="23812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8"/>
              <a:buFont typeface="Helvetica Neue"/>
              <a:buNone/>
            </a:pPr>
            <a:r>
              <a:rPr b="0" lang="en-US" sz="1508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 último nodo apunta al primero.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08"/>
              <a:buFont typeface="Helvetica Neue"/>
              <a:buNone/>
            </a:pPr>
            <a:r>
              <a:rPr b="0" lang="en-US" sz="1508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hay un final nulo.</a:t>
            </a:r>
            <a:endParaRPr/>
          </a:p>
        </p:txBody>
      </p:sp>
      <p:sp>
        <p:nvSpPr>
          <p:cNvPr id="221" name="Google Shape;221;p9"/>
          <p:cNvSpPr/>
          <p:nvPr/>
        </p:nvSpPr>
        <p:spPr>
          <a:xfrm>
            <a:off x="666750" y="5429250"/>
            <a:ext cx="104775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664"/>
              <a:buFont typeface="Helvetica Neue"/>
              <a:buNone/>
            </a:pPr>
            <a:r>
              <a:rPr b="1" lang="en-US" sz="1664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Elegimos la variante según las operaciones necesarias y el costo de mantener referencias adicionales.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Pilas: último en entrar, primero en salir</a:t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10</a:t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>
            <a:off x="666750" y="1381125"/>
            <a:ext cx="5334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20"/>
              <a:buFont typeface="Helvetica Neue"/>
              <a:buNone/>
            </a:pPr>
            <a:r>
              <a:rPr b="1" lang="en-US" sz="172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pila sigue el principio LIFO: Last In, First Out.</a:t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1047750" y="3905250"/>
            <a:ext cx="3048000" cy="571500"/>
          </a:xfrm>
          <a:prstGeom prst="roundRect">
            <a:avLst>
              <a:gd fmla="val 23333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1314450" y="4029075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150"/>
              <a:buFont typeface="Helvetica Neue"/>
              <a:buNone/>
            </a:pPr>
            <a:r>
              <a:rPr b="1" lang="en-US" sz="11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Inicio</a:t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1047750" y="3190875"/>
            <a:ext cx="3048000" cy="571500"/>
          </a:xfrm>
          <a:prstGeom prst="roundRect">
            <a:avLst>
              <a:gd fmla="val 23333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1314450" y="3314700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150"/>
              <a:buFont typeface="Helvetica Neue"/>
              <a:buNone/>
            </a:pPr>
            <a:r>
              <a:rPr b="1" lang="en-US" sz="11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Página anterior</a:t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1047750" y="2476500"/>
            <a:ext cx="3048000" cy="571500"/>
          </a:xfrm>
          <a:prstGeom prst="roundRect">
            <a:avLst>
              <a:gd fmla="val 23333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1314450" y="2600325"/>
            <a:ext cx="2476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150"/>
              <a:buFont typeface="Helvetica Neue"/>
              <a:buNone/>
            </a:pPr>
            <a:r>
              <a:rPr b="1" lang="en-US" sz="11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Página actual</a:t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1047750" y="2000250"/>
            <a:ext cx="304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275"/>
              <a:buFont typeface="Helvetica Neue"/>
              <a:buNone/>
            </a:pPr>
            <a:r>
              <a:rPr b="1" lang="en-US" sz="1275">
                <a:solidFill>
                  <a:srgbClr val="E8A0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TOPE DE LA PILA</a:t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6286500" y="2333625"/>
            <a:ext cx="4095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175"/>
              <a:buFont typeface="Helvetica Neue"/>
              <a:buNone/>
            </a:pPr>
            <a:r>
              <a:rPr b="1" lang="en-US" sz="21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Operaciones principales</a:t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6572250" y="3209925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800"/>
              <a:buFont typeface="Helvetica Neue"/>
              <a:buNone/>
            </a:pPr>
            <a:r>
              <a:rPr b="0" lang="en-US" sz="180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push: agregar al tope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6572250" y="3886200"/>
            <a:ext cx="33337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800"/>
              <a:buFont typeface="Helvetica Neue"/>
              <a:buNone/>
            </a:pPr>
            <a:r>
              <a:rPr b="0" lang="en-US" sz="180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pop: retirar del tope</a:t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6286500" y="4953000"/>
            <a:ext cx="40005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575"/>
              <a:buFont typeface="Helvetica Neue"/>
              <a:buNone/>
            </a:pPr>
            <a:r>
              <a:rPr b="0" lang="en-US" sz="157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Ejemplos: deshacer acciones, historial de navegación y llamadas de funciones.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Colas: primero en entrar, primero en salir</a:t>
            </a:r>
            <a:endParaRPr/>
          </a:p>
        </p:txBody>
      </p:sp>
      <p:sp>
        <p:nvSpPr>
          <p:cNvPr id="253" name="Google Shape;253;p11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11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256" name="Google Shape;256;p11"/>
          <p:cNvSpPr/>
          <p:nvPr/>
        </p:nvSpPr>
        <p:spPr>
          <a:xfrm>
            <a:off x="666750" y="1381125"/>
            <a:ext cx="5810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849"/>
              <a:buFont typeface="Helvetica Neue"/>
              <a:buNone/>
            </a:pPr>
            <a:r>
              <a:rPr b="1" lang="en-US" sz="18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Una cola sigue el principio FIFO: First In, First Out.</a:t>
            </a:r>
            <a:endParaRPr/>
          </a:p>
        </p:txBody>
      </p:sp>
      <p:sp>
        <p:nvSpPr>
          <p:cNvPr id="257" name="Google Shape;257;p11"/>
          <p:cNvSpPr/>
          <p:nvPr/>
        </p:nvSpPr>
        <p:spPr>
          <a:xfrm>
            <a:off x="2381250" y="3000375"/>
            <a:ext cx="1000125" cy="1000125"/>
          </a:xfrm>
          <a:prstGeom prst="roundRect">
            <a:avLst>
              <a:gd fmla="val 17143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/>
          <p:nvPr/>
        </p:nvSpPr>
        <p:spPr>
          <a:xfrm>
            <a:off x="2657475" y="3295650"/>
            <a:ext cx="457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75"/>
              <a:buFont typeface="Helvetica Neue"/>
              <a:buNone/>
            </a:pPr>
            <a:r>
              <a:rPr b="1" lang="en-US" sz="17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259" name="Google Shape;259;p11"/>
          <p:cNvSpPr/>
          <p:nvPr/>
        </p:nvSpPr>
        <p:spPr>
          <a:xfrm>
            <a:off x="3762375" y="3000375"/>
            <a:ext cx="1000125" cy="1000125"/>
          </a:xfrm>
          <a:prstGeom prst="roundRect">
            <a:avLst>
              <a:gd fmla="val 17143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4038600" y="3295650"/>
            <a:ext cx="457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75"/>
              <a:buFont typeface="Helvetica Neue"/>
              <a:buNone/>
            </a:pPr>
            <a:r>
              <a:rPr b="1" lang="en-US" sz="17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>
            <a:off x="5143500" y="3000375"/>
            <a:ext cx="1000125" cy="1000125"/>
          </a:xfrm>
          <a:prstGeom prst="roundRect">
            <a:avLst>
              <a:gd fmla="val 17143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>
            <a:off x="5419725" y="3295650"/>
            <a:ext cx="457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75"/>
              <a:buFont typeface="Helvetica Neue"/>
              <a:buNone/>
            </a:pPr>
            <a:r>
              <a:rPr b="1" lang="en-US" sz="17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>
            <a:off x="6524625" y="3000375"/>
            <a:ext cx="1000125" cy="1000125"/>
          </a:xfrm>
          <a:prstGeom prst="roundRect">
            <a:avLst>
              <a:gd fmla="val 17143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6800850" y="3295650"/>
            <a:ext cx="4572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775"/>
              <a:buFont typeface="Helvetica Neue"/>
              <a:buNone/>
            </a:pPr>
            <a:r>
              <a:rPr b="1" lang="en-US" sz="17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</a:t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952500" y="3238500"/>
            <a:ext cx="1047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350"/>
              <a:buFont typeface="Helvetica Neue"/>
              <a:buNone/>
            </a:pPr>
            <a:r>
              <a:rPr b="1" lang="en-US" sz="1350">
                <a:solidFill>
                  <a:srgbClr val="E8A0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SALE</a:t>
            </a:r>
            <a:endParaRPr/>
          </a:p>
        </p:txBody>
      </p:sp>
      <p:cxnSp>
        <p:nvCxnSpPr>
          <p:cNvPr id="266" name="Google Shape;266;p11"/>
          <p:cNvCxnSpPr/>
          <p:nvPr/>
        </p:nvCxnSpPr>
        <p:spPr>
          <a:xfrm>
            <a:off x="2028825" y="3495675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7" name="Google Shape;267;p11"/>
          <p:cNvSpPr/>
          <p:nvPr/>
        </p:nvSpPr>
        <p:spPr>
          <a:xfrm>
            <a:off x="8096250" y="3238500"/>
            <a:ext cx="14287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020"/>
              </a:buClr>
              <a:buSzPts val="1350"/>
              <a:buFont typeface="Helvetica Neue"/>
              <a:buNone/>
            </a:pPr>
            <a:r>
              <a:rPr b="1" lang="en-US" sz="1350">
                <a:solidFill>
                  <a:srgbClr val="E8A02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ENTRA</a:t>
            </a:r>
            <a:endParaRPr/>
          </a:p>
        </p:txBody>
      </p:sp>
      <p:cxnSp>
        <p:nvCxnSpPr>
          <p:cNvPr id="268" name="Google Shape;268;p11"/>
          <p:cNvCxnSpPr/>
          <p:nvPr/>
        </p:nvCxnSpPr>
        <p:spPr>
          <a:xfrm>
            <a:off x="7810500" y="3495675"/>
            <a:ext cx="266700" cy="0"/>
          </a:xfrm>
          <a:prstGeom prst="straightConnector1">
            <a:avLst/>
          </a:prstGeom>
          <a:noFill/>
          <a:ln cap="flat" cmpd="sng" w="38100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1"/>
          <p:cNvSpPr/>
          <p:nvPr/>
        </p:nvSpPr>
        <p:spPr>
          <a:xfrm>
            <a:off x="2476500" y="4524375"/>
            <a:ext cx="5429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650"/>
              <a:buFont typeface="Helvetica Neue"/>
              <a:buNone/>
            </a:pPr>
            <a:r>
              <a:rPr b="0" lang="en-US" sz="1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frente ←  A   B   C   D  ← final</a:t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1714500" y="5429250"/>
            <a:ext cx="80962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70"/>
              <a:buFont typeface="Helvetica Neue"/>
              <a:buNone/>
            </a:pPr>
            <a:r>
              <a:rPr b="0" lang="en-US" sz="1570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Ejemplos: turnos de atención, impresión de documentos y procesamiento de solicitudes.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Colas de prioridad</a:t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12</a:t>
            </a:r>
            <a:endParaRPr/>
          </a:p>
        </p:txBody>
      </p:sp>
      <p:sp>
        <p:nvSpPr>
          <p:cNvPr id="281" name="Google Shape;281;p12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666750" y="1381125"/>
            <a:ext cx="8667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461"/>
              <a:buFont typeface="Helvetica Neue"/>
              <a:buNone/>
            </a:pPr>
            <a:r>
              <a:rPr b="0" lang="en-US" sz="1461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una cola de prioridad, la salida depende de una regla de importancia, no solo del orden de llegada.</a:t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1714500" y="2381250"/>
            <a:ext cx="1809750" cy="533400"/>
          </a:xfrm>
          <a:prstGeom prst="roundRect">
            <a:avLst>
              <a:gd fmla="val 25000" name="adj"/>
            </a:avLst>
          </a:prstGeom>
          <a:solidFill>
            <a:srgbClr val="B7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1857375" y="2505075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24"/>
              <a:buFont typeface="Helvetica Neue"/>
              <a:buNone/>
            </a:pPr>
            <a:r>
              <a:rPr b="1" lang="en-US" sz="1025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Crítica</a:t>
            </a:r>
            <a:endParaRPr/>
          </a:p>
        </p:txBody>
      </p:sp>
      <p:sp>
        <p:nvSpPr>
          <p:cNvPr id="285" name="Google Shape;285;p12"/>
          <p:cNvSpPr/>
          <p:nvPr/>
        </p:nvSpPr>
        <p:spPr>
          <a:xfrm>
            <a:off x="4095750" y="2457450"/>
            <a:ext cx="3810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87"/>
              <a:buFont typeface="Helvetica Neue"/>
              <a:buNone/>
            </a:pPr>
            <a:r>
              <a:rPr b="0" lang="en-US" sz="1588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Paciente con emergencia</a:t>
            </a:r>
            <a:endParaRPr/>
          </a:p>
        </p:txBody>
      </p:sp>
      <p:sp>
        <p:nvSpPr>
          <p:cNvPr id="286" name="Google Shape;286;p12"/>
          <p:cNvSpPr/>
          <p:nvPr/>
        </p:nvSpPr>
        <p:spPr>
          <a:xfrm>
            <a:off x="1714500" y="3238500"/>
            <a:ext cx="1809750" cy="533400"/>
          </a:xfrm>
          <a:prstGeom prst="roundRect">
            <a:avLst>
              <a:gd fmla="val 25000" name="adj"/>
            </a:avLst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2"/>
          <p:cNvSpPr/>
          <p:nvPr/>
        </p:nvSpPr>
        <p:spPr>
          <a:xfrm>
            <a:off x="1857375" y="3362325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024"/>
              <a:buFont typeface="Helvetica Neue"/>
              <a:buNone/>
            </a:pPr>
            <a:r>
              <a:rPr b="1" lang="en-US" sz="10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Alta</a:t>
            </a:r>
            <a:endParaRPr/>
          </a:p>
        </p:txBody>
      </p:sp>
      <p:sp>
        <p:nvSpPr>
          <p:cNvPr id="288" name="Google Shape;288;p12"/>
          <p:cNvSpPr/>
          <p:nvPr/>
        </p:nvSpPr>
        <p:spPr>
          <a:xfrm>
            <a:off x="4095750" y="3314700"/>
            <a:ext cx="3810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87"/>
              <a:buFont typeface="Helvetica Neue"/>
              <a:buNone/>
            </a:pPr>
            <a:r>
              <a:rPr b="0" lang="en-US" sz="1588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Paciente con dolor intenso</a:t>
            </a:r>
            <a:endParaRPr/>
          </a:p>
        </p:txBody>
      </p:sp>
      <p:sp>
        <p:nvSpPr>
          <p:cNvPr id="289" name="Google Shape;289;p12"/>
          <p:cNvSpPr/>
          <p:nvPr/>
        </p:nvSpPr>
        <p:spPr>
          <a:xfrm>
            <a:off x="1714500" y="4095750"/>
            <a:ext cx="1809750" cy="533400"/>
          </a:xfrm>
          <a:prstGeom prst="roundRect">
            <a:avLst>
              <a:gd fmla="val 250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1857375" y="4219575"/>
            <a:ext cx="1524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024"/>
              <a:buFont typeface="Helvetica Neue"/>
              <a:buNone/>
            </a:pPr>
            <a:r>
              <a:rPr b="1" lang="en-US" sz="10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</a:t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4095750" y="4171950"/>
            <a:ext cx="3810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87"/>
              <a:buFont typeface="Helvetica Neue"/>
              <a:buNone/>
            </a:pPr>
            <a:r>
              <a:rPr b="0" lang="en-US" sz="1588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Control programado</a:t>
            </a:r>
            <a:endParaRPr/>
          </a:p>
        </p:txBody>
      </p:sp>
      <p:sp>
        <p:nvSpPr>
          <p:cNvPr id="292" name="Google Shape;292;p12"/>
          <p:cNvSpPr/>
          <p:nvPr/>
        </p:nvSpPr>
        <p:spPr>
          <a:xfrm>
            <a:off x="1714500" y="5238750"/>
            <a:ext cx="80010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523"/>
              <a:buFont typeface="Helvetica Neue"/>
              <a:buNone/>
            </a:pPr>
            <a:r>
              <a:rPr b="1" lang="en-US" sz="1524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prioridad representa una decisión del problema real y debe definirse con claridad.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¿Qué estructura conviene usar?</a:t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13</a:t>
            </a:r>
            <a:endParaRPr/>
          </a:p>
        </p:txBody>
      </p:sp>
      <p:sp>
        <p:nvSpPr>
          <p:cNvPr id="303" name="Google Shape;303;p13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666750" y="1352550"/>
            <a:ext cx="95250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025"/>
              <a:buFont typeface="Helvetica Neue"/>
              <a:buNone/>
            </a:pPr>
            <a:r>
              <a:rPr b="1" lang="en-US" sz="20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elección empieza por la operación que domina el problema.</a:t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952500" y="2143125"/>
            <a:ext cx="5238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87"/>
              <a:buFont typeface="Helvetica Neue"/>
              <a:buNone/>
            </a:pPr>
            <a:r>
              <a:rPr b="0" lang="en-US" sz="1587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¿Necesitas acceso por índice?</a:t>
            </a:r>
            <a:endParaRPr/>
          </a:p>
        </p:txBody>
      </p:sp>
      <p:cxnSp>
        <p:nvCxnSpPr>
          <p:cNvPr id="306" name="Google Shape;306;p13"/>
          <p:cNvCxnSpPr/>
          <p:nvPr/>
        </p:nvCxnSpPr>
        <p:spPr>
          <a:xfrm>
            <a:off x="6334125" y="2305050"/>
            <a:ext cx="619125" cy="0"/>
          </a:xfrm>
          <a:prstGeom prst="straightConnector1">
            <a:avLst/>
          </a:prstGeom>
          <a:noFill/>
          <a:ln cap="flat" cmpd="sng" w="2857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13"/>
          <p:cNvSpPr/>
          <p:nvPr/>
        </p:nvSpPr>
        <p:spPr>
          <a:xfrm>
            <a:off x="7191375" y="2095500"/>
            <a:ext cx="2857500" cy="438150"/>
          </a:xfrm>
          <a:prstGeom prst="roundRect">
            <a:avLst>
              <a:gd fmla="val 30435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3"/>
          <p:cNvSpPr/>
          <p:nvPr/>
        </p:nvSpPr>
        <p:spPr>
          <a:xfrm>
            <a:off x="7334250" y="2171700"/>
            <a:ext cx="257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087"/>
              <a:buFont typeface="Helvetica Neue"/>
              <a:buNone/>
            </a:pPr>
            <a:r>
              <a:rPr b="1" lang="en-US" sz="1088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Arreglo</a:t>
            </a:r>
            <a:endParaRPr/>
          </a:p>
        </p:txBody>
      </p:sp>
      <p:sp>
        <p:nvSpPr>
          <p:cNvPr id="309" name="Google Shape;309;p13"/>
          <p:cNvSpPr/>
          <p:nvPr/>
        </p:nvSpPr>
        <p:spPr>
          <a:xfrm>
            <a:off x="952500" y="2857500"/>
            <a:ext cx="5238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87"/>
              <a:buFont typeface="Helvetica Neue"/>
              <a:buNone/>
            </a:pPr>
            <a:r>
              <a:rPr b="0" lang="en-US" sz="1587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¿Cambias nodos con frecuencia?</a:t>
            </a:r>
            <a:endParaRPr/>
          </a:p>
        </p:txBody>
      </p:sp>
      <p:cxnSp>
        <p:nvCxnSpPr>
          <p:cNvPr id="310" name="Google Shape;310;p13"/>
          <p:cNvCxnSpPr/>
          <p:nvPr/>
        </p:nvCxnSpPr>
        <p:spPr>
          <a:xfrm>
            <a:off x="6334125" y="3019425"/>
            <a:ext cx="619125" cy="0"/>
          </a:xfrm>
          <a:prstGeom prst="straightConnector1">
            <a:avLst/>
          </a:prstGeom>
          <a:noFill/>
          <a:ln cap="flat" cmpd="sng" w="2857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1" name="Google Shape;311;p13"/>
          <p:cNvSpPr/>
          <p:nvPr/>
        </p:nvSpPr>
        <p:spPr>
          <a:xfrm>
            <a:off x="7191375" y="2809875"/>
            <a:ext cx="2857500" cy="438150"/>
          </a:xfrm>
          <a:prstGeom prst="roundRect">
            <a:avLst>
              <a:gd fmla="val 30435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/>
          <p:nvPr/>
        </p:nvSpPr>
        <p:spPr>
          <a:xfrm>
            <a:off x="7334250" y="2886075"/>
            <a:ext cx="257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087"/>
              <a:buFont typeface="Helvetica Neue"/>
              <a:buNone/>
            </a:pPr>
            <a:r>
              <a:rPr b="1" lang="en-US" sz="1088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Lista enlazada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952500" y="3571875"/>
            <a:ext cx="5238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87"/>
              <a:buFont typeface="Helvetica Neue"/>
              <a:buNone/>
            </a:pPr>
            <a:r>
              <a:rPr b="0" lang="en-US" sz="1587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¿Debe salir primero lo último agregado?</a:t>
            </a:r>
            <a:endParaRPr/>
          </a:p>
        </p:txBody>
      </p:sp>
      <p:cxnSp>
        <p:nvCxnSpPr>
          <p:cNvPr id="314" name="Google Shape;314;p13"/>
          <p:cNvCxnSpPr/>
          <p:nvPr/>
        </p:nvCxnSpPr>
        <p:spPr>
          <a:xfrm>
            <a:off x="6334125" y="3733800"/>
            <a:ext cx="619125" cy="0"/>
          </a:xfrm>
          <a:prstGeom prst="straightConnector1">
            <a:avLst/>
          </a:prstGeom>
          <a:noFill/>
          <a:ln cap="flat" cmpd="sng" w="2857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5" name="Google Shape;315;p13"/>
          <p:cNvSpPr/>
          <p:nvPr/>
        </p:nvSpPr>
        <p:spPr>
          <a:xfrm>
            <a:off x="7191375" y="3524250"/>
            <a:ext cx="2857500" cy="438150"/>
          </a:xfrm>
          <a:prstGeom prst="roundRect">
            <a:avLst>
              <a:gd fmla="val 30435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7334250" y="3600450"/>
            <a:ext cx="257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087"/>
              <a:buFont typeface="Helvetica Neue"/>
              <a:buNone/>
            </a:pPr>
            <a:r>
              <a:rPr b="1" lang="en-US" sz="1088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Pila</a:t>
            </a:r>
            <a:endParaRPr/>
          </a:p>
        </p:txBody>
      </p:sp>
      <p:sp>
        <p:nvSpPr>
          <p:cNvPr id="317" name="Google Shape;317;p13"/>
          <p:cNvSpPr/>
          <p:nvPr/>
        </p:nvSpPr>
        <p:spPr>
          <a:xfrm>
            <a:off x="952500" y="4286250"/>
            <a:ext cx="5238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87"/>
              <a:buFont typeface="Helvetica Neue"/>
              <a:buNone/>
            </a:pPr>
            <a:r>
              <a:rPr b="0" lang="en-US" sz="1587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¿Debe salir primero quien llegó primero?</a:t>
            </a:r>
            <a:endParaRPr/>
          </a:p>
        </p:txBody>
      </p:sp>
      <p:cxnSp>
        <p:nvCxnSpPr>
          <p:cNvPr id="318" name="Google Shape;318;p13"/>
          <p:cNvCxnSpPr/>
          <p:nvPr/>
        </p:nvCxnSpPr>
        <p:spPr>
          <a:xfrm>
            <a:off x="6334125" y="4448175"/>
            <a:ext cx="619125" cy="0"/>
          </a:xfrm>
          <a:prstGeom prst="straightConnector1">
            <a:avLst/>
          </a:prstGeom>
          <a:noFill/>
          <a:ln cap="flat" cmpd="sng" w="2857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3"/>
          <p:cNvSpPr/>
          <p:nvPr/>
        </p:nvSpPr>
        <p:spPr>
          <a:xfrm>
            <a:off x="7191375" y="4238625"/>
            <a:ext cx="2857500" cy="438150"/>
          </a:xfrm>
          <a:prstGeom prst="roundRect">
            <a:avLst>
              <a:gd fmla="val 30435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3"/>
          <p:cNvSpPr/>
          <p:nvPr/>
        </p:nvSpPr>
        <p:spPr>
          <a:xfrm>
            <a:off x="7334250" y="4314825"/>
            <a:ext cx="257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087"/>
              <a:buFont typeface="Helvetica Neue"/>
              <a:buNone/>
            </a:pPr>
            <a:r>
              <a:rPr b="1" lang="en-US" sz="1088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Cola</a:t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952500" y="5000625"/>
            <a:ext cx="52387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87"/>
              <a:buFont typeface="Helvetica Neue"/>
              <a:buNone/>
            </a:pPr>
            <a:r>
              <a:rPr b="0" lang="en-US" sz="1587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¿Debe salir primero quien tiene mayor importancia?</a:t>
            </a:r>
            <a:endParaRPr/>
          </a:p>
        </p:txBody>
      </p:sp>
      <p:cxnSp>
        <p:nvCxnSpPr>
          <p:cNvPr id="322" name="Google Shape;322;p13"/>
          <p:cNvCxnSpPr/>
          <p:nvPr/>
        </p:nvCxnSpPr>
        <p:spPr>
          <a:xfrm>
            <a:off x="6334125" y="5162550"/>
            <a:ext cx="619125" cy="0"/>
          </a:xfrm>
          <a:prstGeom prst="straightConnector1">
            <a:avLst/>
          </a:prstGeom>
          <a:noFill/>
          <a:ln cap="flat" cmpd="sng" w="2857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3" name="Google Shape;323;p13"/>
          <p:cNvSpPr/>
          <p:nvPr/>
        </p:nvSpPr>
        <p:spPr>
          <a:xfrm>
            <a:off x="7191375" y="4953000"/>
            <a:ext cx="2857500" cy="438150"/>
          </a:xfrm>
          <a:prstGeom prst="roundRect">
            <a:avLst>
              <a:gd fmla="val 30435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3"/>
          <p:cNvSpPr/>
          <p:nvPr/>
        </p:nvSpPr>
        <p:spPr>
          <a:xfrm>
            <a:off x="7334250" y="5029200"/>
            <a:ext cx="25717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087"/>
              <a:buFont typeface="Helvetica Neue"/>
              <a:buNone/>
            </a:pPr>
            <a:r>
              <a:rPr b="1" lang="en-US" sz="1088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Cola de prioridad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666750" y="400050"/>
            <a:ext cx="952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Insertar un nodo en una lista simple</a:t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16</a:t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666750" y="1362075"/>
            <a:ext cx="1028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Objetivo: insertar el nodo B entre A y C sin perder la referencia al nodo C.</a:t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1028700" y="2209800"/>
            <a:ext cx="2524125" cy="400050"/>
          </a:xfrm>
          <a:prstGeom prst="roundRect">
            <a:avLst>
              <a:gd fmla="val 28571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6"/>
          <p:cNvSpPr/>
          <p:nvPr/>
        </p:nvSpPr>
        <p:spPr>
          <a:xfrm>
            <a:off x="1123950" y="2276475"/>
            <a:ext cx="2333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Lista antes de insertar</a:t>
            </a:r>
            <a:endParaRPr/>
          </a:p>
        </p:txBody>
      </p:sp>
      <p:sp>
        <p:nvSpPr>
          <p:cNvPr id="339" name="Google Shape;339;p16"/>
          <p:cNvSpPr/>
          <p:nvPr/>
        </p:nvSpPr>
        <p:spPr>
          <a:xfrm>
            <a:off x="1524000" y="314325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1619250" y="323850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2686050" y="323850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6"/>
          <p:cNvSpPr/>
          <p:nvPr/>
        </p:nvSpPr>
        <p:spPr>
          <a:xfrm>
            <a:off x="1733550" y="342900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43" name="Google Shape;343;p16"/>
          <p:cNvSpPr/>
          <p:nvPr/>
        </p:nvSpPr>
        <p:spPr>
          <a:xfrm>
            <a:off x="2781300" y="340995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sig.</a:t>
            </a:r>
            <a:endParaRPr/>
          </a:p>
        </p:txBody>
      </p:sp>
      <p:sp>
        <p:nvSpPr>
          <p:cNvPr id="344" name="Google Shape;344;p16"/>
          <p:cNvSpPr/>
          <p:nvPr/>
        </p:nvSpPr>
        <p:spPr>
          <a:xfrm>
            <a:off x="7239000" y="314325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7334250" y="323850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8401050" y="323850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"/>
          <p:cNvSpPr/>
          <p:nvPr/>
        </p:nvSpPr>
        <p:spPr>
          <a:xfrm>
            <a:off x="7448550" y="342900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48" name="Google Shape;348;p16"/>
          <p:cNvSpPr/>
          <p:nvPr/>
        </p:nvSpPr>
        <p:spPr>
          <a:xfrm>
            <a:off x="8496300" y="340995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∅</a:t>
            </a:r>
            <a:endParaRPr/>
          </a:p>
        </p:txBody>
      </p:sp>
      <p:cxnSp>
        <p:nvCxnSpPr>
          <p:cNvPr id="349" name="Google Shape;349;p16"/>
          <p:cNvCxnSpPr/>
          <p:nvPr/>
        </p:nvCxnSpPr>
        <p:spPr>
          <a:xfrm>
            <a:off x="3524250" y="3609975"/>
            <a:ext cx="3429000" cy="0"/>
          </a:xfrm>
          <a:prstGeom prst="straightConnector1">
            <a:avLst/>
          </a:prstGeom>
          <a:noFill/>
          <a:ln cap="flat" cmpd="sng" w="4762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0" name="Google Shape;350;p16"/>
          <p:cNvSpPr/>
          <p:nvPr/>
        </p:nvSpPr>
        <p:spPr>
          <a:xfrm>
            <a:off x="4095750" y="3314700"/>
            <a:ext cx="2143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apunta a C</a:t>
            </a:r>
            <a:endParaRPr/>
          </a:p>
        </p:txBody>
      </p:sp>
      <p:sp>
        <p:nvSpPr>
          <p:cNvPr id="351" name="Google Shape;351;p16"/>
          <p:cNvSpPr/>
          <p:nvPr/>
        </p:nvSpPr>
        <p:spPr>
          <a:xfrm>
            <a:off x="4495800" y="4048125"/>
            <a:ext cx="2524125" cy="400050"/>
          </a:xfrm>
          <a:prstGeom prst="roundRect">
            <a:avLst>
              <a:gd fmla="val 2857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6"/>
          <p:cNvSpPr/>
          <p:nvPr/>
        </p:nvSpPr>
        <p:spPr>
          <a:xfrm>
            <a:off x="4591050" y="4114800"/>
            <a:ext cx="2333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Nodo nuevo: B</a:t>
            </a:r>
            <a:endParaRPr/>
          </a:p>
        </p:txBody>
      </p:sp>
      <p:sp>
        <p:nvSpPr>
          <p:cNvPr id="353" name="Google Shape;353;p16"/>
          <p:cNvSpPr/>
          <p:nvPr/>
        </p:nvSpPr>
        <p:spPr>
          <a:xfrm>
            <a:off x="5143500" y="457200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6"/>
          <p:cNvSpPr/>
          <p:nvPr/>
        </p:nvSpPr>
        <p:spPr>
          <a:xfrm>
            <a:off x="5238750" y="466725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6"/>
          <p:cNvSpPr/>
          <p:nvPr/>
        </p:nvSpPr>
        <p:spPr>
          <a:xfrm>
            <a:off x="6305550" y="466725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6"/>
          <p:cNvSpPr/>
          <p:nvPr/>
        </p:nvSpPr>
        <p:spPr>
          <a:xfrm>
            <a:off x="5353050" y="485775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57" name="Google Shape;357;p16"/>
          <p:cNvSpPr/>
          <p:nvPr/>
        </p:nvSpPr>
        <p:spPr>
          <a:xfrm>
            <a:off x="6400800" y="483870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/>
          </a:p>
        </p:txBody>
      </p:sp>
      <p:sp>
        <p:nvSpPr>
          <p:cNvPr id="358" name="Google Shape;358;p16"/>
          <p:cNvSpPr/>
          <p:nvPr/>
        </p:nvSpPr>
        <p:spPr>
          <a:xfrm>
            <a:off x="666750" y="5810250"/>
            <a:ext cx="10668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 pregunta es sencilla: ¿qué referencia debemos actualizar primero para no desconectar a C?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"/>
          <p:cNvSpPr/>
          <p:nvPr/>
        </p:nvSpPr>
        <p:spPr>
          <a:xfrm>
            <a:off x="666750" y="400050"/>
            <a:ext cx="952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Paso 1: conectar el nuevo nodo con el siguiente</a:t>
            </a:r>
            <a:endParaRPr/>
          </a:p>
        </p:txBody>
      </p:sp>
      <p:sp>
        <p:nvSpPr>
          <p:cNvPr id="367" name="Google Shape;367;p17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7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17</a:t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370" name="Google Shape;370;p17"/>
          <p:cNvSpPr/>
          <p:nvPr/>
        </p:nvSpPr>
        <p:spPr>
          <a:xfrm>
            <a:off x="666750" y="1352550"/>
            <a:ext cx="108585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Primero hacemos que B apunte a lo mismo que apuntaba A.</a:t>
            </a:r>
            <a:endParaRPr/>
          </a:p>
        </p:txBody>
      </p:sp>
      <p:sp>
        <p:nvSpPr>
          <p:cNvPr id="371" name="Google Shape;371;p17"/>
          <p:cNvSpPr/>
          <p:nvPr/>
        </p:nvSpPr>
        <p:spPr>
          <a:xfrm>
            <a:off x="666750" y="2095500"/>
            <a:ext cx="2524125" cy="400050"/>
          </a:xfrm>
          <a:prstGeom prst="roundRect">
            <a:avLst>
              <a:gd fmla="val 28571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7"/>
          <p:cNvSpPr/>
          <p:nvPr/>
        </p:nvSpPr>
        <p:spPr>
          <a:xfrm>
            <a:off x="762000" y="2162175"/>
            <a:ext cx="2333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B.siguiente = A.siguiente</a:t>
            </a:r>
            <a:endParaRPr/>
          </a:p>
        </p:txBody>
      </p:sp>
      <p:sp>
        <p:nvSpPr>
          <p:cNvPr id="373" name="Google Shape;373;p17"/>
          <p:cNvSpPr/>
          <p:nvPr/>
        </p:nvSpPr>
        <p:spPr>
          <a:xfrm>
            <a:off x="1238250" y="333375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7"/>
          <p:cNvSpPr/>
          <p:nvPr/>
        </p:nvSpPr>
        <p:spPr>
          <a:xfrm>
            <a:off x="1333500" y="342900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7"/>
          <p:cNvSpPr/>
          <p:nvPr/>
        </p:nvSpPr>
        <p:spPr>
          <a:xfrm>
            <a:off x="2400300" y="342900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7"/>
          <p:cNvSpPr/>
          <p:nvPr/>
        </p:nvSpPr>
        <p:spPr>
          <a:xfrm>
            <a:off x="1447800" y="361950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377" name="Google Shape;377;p17"/>
          <p:cNvSpPr/>
          <p:nvPr/>
        </p:nvSpPr>
        <p:spPr>
          <a:xfrm>
            <a:off x="2495550" y="360045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sig.</a:t>
            </a:r>
            <a:endParaRPr/>
          </a:p>
        </p:txBody>
      </p:sp>
      <p:sp>
        <p:nvSpPr>
          <p:cNvPr id="378" name="Google Shape;378;p17"/>
          <p:cNvSpPr/>
          <p:nvPr/>
        </p:nvSpPr>
        <p:spPr>
          <a:xfrm>
            <a:off x="4476750" y="485775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7"/>
          <p:cNvSpPr/>
          <p:nvPr/>
        </p:nvSpPr>
        <p:spPr>
          <a:xfrm>
            <a:off x="4572000" y="495300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7"/>
          <p:cNvSpPr/>
          <p:nvPr/>
        </p:nvSpPr>
        <p:spPr>
          <a:xfrm>
            <a:off x="5638800" y="495300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7"/>
          <p:cNvSpPr/>
          <p:nvPr/>
        </p:nvSpPr>
        <p:spPr>
          <a:xfrm>
            <a:off x="4686300" y="514350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382" name="Google Shape;382;p17"/>
          <p:cNvSpPr/>
          <p:nvPr/>
        </p:nvSpPr>
        <p:spPr>
          <a:xfrm>
            <a:off x="5734050" y="512445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83" name="Google Shape;383;p17"/>
          <p:cNvSpPr/>
          <p:nvPr/>
        </p:nvSpPr>
        <p:spPr>
          <a:xfrm>
            <a:off x="7810500" y="333375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7"/>
          <p:cNvSpPr/>
          <p:nvPr/>
        </p:nvSpPr>
        <p:spPr>
          <a:xfrm>
            <a:off x="7905750" y="342900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7"/>
          <p:cNvSpPr/>
          <p:nvPr/>
        </p:nvSpPr>
        <p:spPr>
          <a:xfrm>
            <a:off x="8972550" y="342900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7"/>
          <p:cNvSpPr/>
          <p:nvPr/>
        </p:nvSpPr>
        <p:spPr>
          <a:xfrm>
            <a:off x="8020050" y="361950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387" name="Google Shape;387;p17"/>
          <p:cNvSpPr/>
          <p:nvPr/>
        </p:nvSpPr>
        <p:spPr>
          <a:xfrm>
            <a:off x="9067800" y="360045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∅</a:t>
            </a:r>
            <a:endParaRPr/>
          </a:p>
        </p:txBody>
      </p:sp>
      <p:cxnSp>
        <p:nvCxnSpPr>
          <p:cNvPr id="388" name="Google Shape;388;p17"/>
          <p:cNvCxnSpPr/>
          <p:nvPr/>
        </p:nvCxnSpPr>
        <p:spPr>
          <a:xfrm>
            <a:off x="3238500" y="3800475"/>
            <a:ext cx="3905250" cy="0"/>
          </a:xfrm>
          <a:prstGeom prst="straightConnector1">
            <a:avLst/>
          </a:prstGeom>
          <a:noFill/>
          <a:ln cap="flat" cmpd="sng" w="3810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17"/>
          <p:cNvSpPr/>
          <p:nvPr/>
        </p:nvSpPr>
        <p:spPr>
          <a:xfrm>
            <a:off x="3905250" y="3524250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1A6B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todavía apunta a C</a:t>
            </a:r>
            <a:endParaRPr/>
          </a:p>
        </p:txBody>
      </p:sp>
      <p:sp>
        <p:nvSpPr>
          <p:cNvPr id="390" name="Google Shape;390;p17"/>
          <p:cNvSpPr/>
          <p:nvPr/>
        </p:nvSpPr>
        <p:spPr>
          <a:xfrm>
            <a:off x="1143000" y="5867400"/>
            <a:ext cx="9906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Ahora C tiene dos referencias entrantes. Aún no hemos cambiado el enlace de A.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8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8"/>
          <p:cNvSpPr/>
          <p:nvPr/>
        </p:nvSpPr>
        <p:spPr>
          <a:xfrm>
            <a:off x="666750" y="400050"/>
            <a:ext cx="952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Paso 2: conectar el nodo anterior con el nuevo</a:t>
            </a:r>
            <a:endParaRPr/>
          </a:p>
        </p:txBody>
      </p:sp>
      <p:sp>
        <p:nvSpPr>
          <p:cNvPr id="399" name="Google Shape;399;p18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8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18</a:t>
            </a:r>
            <a:endParaRPr/>
          </a:p>
        </p:txBody>
      </p:sp>
      <p:sp>
        <p:nvSpPr>
          <p:cNvPr id="401" name="Google Shape;401;p18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402" name="Google Shape;402;p18"/>
          <p:cNvSpPr/>
          <p:nvPr/>
        </p:nvSpPr>
        <p:spPr>
          <a:xfrm>
            <a:off x="666750" y="1352550"/>
            <a:ext cx="10572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Ahora cambiamos la referencia de A para que llegue a B.</a:t>
            </a:r>
            <a:endParaRPr/>
          </a:p>
        </p:txBody>
      </p:sp>
      <p:sp>
        <p:nvSpPr>
          <p:cNvPr id="403" name="Google Shape;403;p18"/>
          <p:cNvSpPr/>
          <p:nvPr/>
        </p:nvSpPr>
        <p:spPr>
          <a:xfrm>
            <a:off x="666750" y="2095500"/>
            <a:ext cx="2524125" cy="400050"/>
          </a:xfrm>
          <a:prstGeom prst="roundRect">
            <a:avLst>
              <a:gd fmla="val 28571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8"/>
          <p:cNvSpPr/>
          <p:nvPr/>
        </p:nvSpPr>
        <p:spPr>
          <a:xfrm>
            <a:off x="762000" y="2162175"/>
            <a:ext cx="23336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A.siguiente = B</a:t>
            </a:r>
            <a:endParaRPr/>
          </a:p>
        </p:txBody>
      </p:sp>
      <p:sp>
        <p:nvSpPr>
          <p:cNvPr id="405" name="Google Shape;405;p18"/>
          <p:cNvSpPr/>
          <p:nvPr/>
        </p:nvSpPr>
        <p:spPr>
          <a:xfrm>
            <a:off x="1428750" y="333375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8"/>
          <p:cNvSpPr/>
          <p:nvPr/>
        </p:nvSpPr>
        <p:spPr>
          <a:xfrm>
            <a:off x="1524000" y="342900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8"/>
          <p:cNvSpPr/>
          <p:nvPr/>
        </p:nvSpPr>
        <p:spPr>
          <a:xfrm>
            <a:off x="2590800" y="342900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8"/>
          <p:cNvSpPr/>
          <p:nvPr/>
        </p:nvSpPr>
        <p:spPr>
          <a:xfrm>
            <a:off x="1638300" y="361950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409" name="Google Shape;409;p18"/>
          <p:cNvSpPr/>
          <p:nvPr/>
        </p:nvSpPr>
        <p:spPr>
          <a:xfrm>
            <a:off x="2686050" y="360045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sig.</a:t>
            </a:r>
            <a:endParaRPr/>
          </a:p>
        </p:txBody>
      </p:sp>
      <p:sp>
        <p:nvSpPr>
          <p:cNvPr id="410" name="Google Shape;410;p18"/>
          <p:cNvSpPr/>
          <p:nvPr/>
        </p:nvSpPr>
        <p:spPr>
          <a:xfrm>
            <a:off x="4857750" y="333375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8"/>
          <p:cNvSpPr/>
          <p:nvPr/>
        </p:nvSpPr>
        <p:spPr>
          <a:xfrm>
            <a:off x="4953000" y="342900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8"/>
          <p:cNvSpPr/>
          <p:nvPr/>
        </p:nvSpPr>
        <p:spPr>
          <a:xfrm>
            <a:off x="6019800" y="342900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"/>
          <p:cNvSpPr/>
          <p:nvPr/>
        </p:nvSpPr>
        <p:spPr>
          <a:xfrm>
            <a:off x="5067300" y="361950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14" name="Google Shape;414;p18"/>
          <p:cNvSpPr/>
          <p:nvPr/>
        </p:nvSpPr>
        <p:spPr>
          <a:xfrm>
            <a:off x="6115050" y="360045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sig.</a:t>
            </a:r>
            <a:endParaRPr/>
          </a:p>
        </p:txBody>
      </p:sp>
      <p:sp>
        <p:nvSpPr>
          <p:cNvPr id="415" name="Google Shape;415;p18"/>
          <p:cNvSpPr/>
          <p:nvPr/>
        </p:nvSpPr>
        <p:spPr>
          <a:xfrm>
            <a:off x="8286750" y="333375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8"/>
          <p:cNvSpPr/>
          <p:nvPr/>
        </p:nvSpPr>
        <p:spPr>
          <a:xfrm>
            <a:off x="8382000" y="342900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8"/>
          <p:cNvSpPr/>
          <p:nvPr/>
        </p:nvSpPr>
        <p:spPr>
          <a:xfrm>
            <a:off x="9448800" y="342900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8"/>
          <p:cNvSpPr/>
          <p:nvPr/>
        </p:nvSpPr>
        <p:spPr>
          <a:xfrm>
            <a:off x="8496300" y="361950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419" name="Google Shape;419;p18"/>
          <p:cNvSpPr/>
          <p:nvPr/>
        </p:nvSpPr>
        <p:spPr>
          <a:xfrm>
            <a:off x="9544050" y="360045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∅</a:t>
            </a:r>
            <a:endParaRPr/>
          </a:p>
        </p:txBody>
      </p:sp>
      <p:cxnSp>
        <p:nvCxnSpPr>
          <p:cNvPr id="420" name="Google Shape;420;p18"/>
          <p:cNvCxnSpPr/>
          <p:nvPr/>
        </p:nvCxnSpPr>
        <p:spPr>
          <a:xfrm>
            <a:off x="3429000" y="3800475"/>
            <a:ext cx="1143000" cy="0"/>
          </a:xfrm>
          <a:prstGeom prst="straightConnector1">
            <a:avLst/>
          </a:prstGeom>
          <a:noFill/>
          <a:ln cap="flat" cmpd="sng" w="4762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18"/>
          <p:cNvCxnSpPr/>
          <p:nvPr/>
        </p:nvCxnSpPr>
        <p:spPr>
          <a:xfrm>
            <a:off x="6858000" y="3800475"/>
            <a:ext cx="1143000" cy="0"/>
          </a:xfrm>
          <a:prstGeom prst="straightConnector1">
            <a:avLst/>
          </a:prstGeom>
          <a:noFill/>
          <a:ln cap="flat" cmpd="sng" w="4762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18"/>
          <p:cNvSpPr/>
          <p:nvPr/>
        </p:nvSpPr>
        <p:spPr>
          <a:xfrm>
            <a:off x="1428750" y="4648200"/>
            <a:ext cx="88106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Lista final:  A  →  B  →  C</a:t>
            </a:r>
            <a:endParaRPr/>
          </a:p>
        </p:txBody>
      </p:sp>
      <p:sp>
        <p:nvSpPr>
          <p:cNvPr id="423" name="Google Shape;423;p18"/>
          <p:cNvSpPr/>
          <p:nvPr/>
        </p:nvSpPr>
        <p:spPr>
          <a:xfrm>
            <a:off x="1619250" y="5448300"/>
            <a:ext cx="8953500" cy="533400"/>
          </a:xfrm>
          <a:prstGeom prst="roundRect">
            <a:avLst>
              <a:gd fmla="val 2857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8"/>
          <p:cNvSpPr/>
          <p:nvPr/>
        </p:nvSpPr>
        <p:spPr>
          <a:xfrm>
            <a:off x="1905000" y="5562600"/>
            <a:ext cx="8382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Regla útil: primero protege la referencia al siguiente; después redirige el enlace anterior.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9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9"/>
          <p:cNvSpPr/>
          <p:nvPr/>
        </p:nvSpPr>
        <p:spPr>
          <a:xfrm>
            <a:off x="666750" y="400050"/>
            <a:ext cx="95250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Reto: eliminar el nodo B</a:t>
            </a:r>
            <a:endParaRPr/>
          </a:p>
        </p:txBody>
      </p:sp>
      <p:sp>
        <p:nvSpPr>
          <p:cNvPr id="433" name="Google Shape;433;p19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9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19</a:t>
            </a:r>
            <a:endParaRPr/>
          </a:p>
        </p:txBody>
      </p:sp>
      <p:sp>
        <p:nvSpPr>
          <p:cNvPr id="435" name="Google Shape;435;p19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436" name="Google Shape;436;p19"/>
          <p:cNvSpPr/>
          <p:nvPr/>
        </p:nvSpPr>
        <p:spPr>
          <a:xfrm>
            <a:off x="666750" y="1352550"/>
            <a:ext cx="105727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Usa el mismo razonamiento para quitar B de la lista A → B → C.</a:t>
            </a:r>
            <a:endParaRPr/>
          </a:p>
        </p:txBody>
      </p:sp>
      <p:sp>
        <p:nvSpPr>
          <p:cNvPr id="437" name="Google Shape;437;p19"/>
          <p:cNvSpPr/>
          <p:nvPr/>
        </p:nvSpPr>
        <p:spPr>
          <a:xfrm>
            <a:off x="1428750" y="285750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1524000" y="295275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9"/>
          <p:cNvSpPr/>
          <p:nvPr/>
        </p:nvSpPr>
        <p:spPr>
          <a:xfrm>
            <a:off x="2590800" y="295275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9"/>
          <p:cNvSpPr/>
          <p:nvPr/>
        </p:nvSpPr>
        <p:spPr>
          <a:xfrm>
            <a:off x="1638300" y="314325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2686050" y="312420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sig.</a:t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4857750" y="285750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9"/>
          <p:cNvSpPr/>
          <p:nvPr/>
        </p:nvSpPr>
        <p:spPr>
          <a:xfrm>
            <a:off x="4953000" y="295275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6019800" y="295275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9"/>
          <p:cNvSpPr/>
          <p:nvPr/>
        </p:nvSpPr>
        <p:spPr>
          <a:xfrm>
            <a:off x="5067300" y="314325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</a:t>
            </a:r>
            <a:endParaRPr/>
          </a:p>
        </p:txBody>
      </p:sp>
      <p:sp>
        <p:nvSpPr>
          <p:cNvPr id="446" name="Google Shape;446;p19"/>
          <p:cNvSpPr/>
          <p:nvPr/>
        </p:nvSpPr>
        <p:spPr>
          <a:xfrm>
            <a:off x="6115050" y="312420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sig.</a:t>
            </a:r>
            <a:endParaRPr/>
          </a:p>
        </p:txBody>
      </p:sp>
      <p:sp>
        <p:nvSpPr>
          <p:cNvPr id="447" name="Google Shape;447;p19"/>
          <p:cNvSpPr/>
          <p:nvPr/>
        </p:nvSpPr>
        <p:spPr>
          <a:xfrm>
            <a:off x="8286750" y="2857500"/>
            <a:ext cx="1952625" cy="933450"/>
          </a:xfrm>
          <a:prstGeom prst="roundRect">
            <a:avLst>
              <a:gd fmla="val 16327" name="adj"/>
            </a:avLst>
          </a:prstGeom>
          <a:solidFill>
            <a:srgbClr val="FFFFFF"/>
          </a:solidFill>
          <a:ln cap="flat" cmpd="sng" w="19050">
            <a:solidFill>
              <a:srgbClr val="1A6B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8382000" y="2952750"/>
            <a:ext cx="1009650" cy="742950"/>
          </a:xfrm>
          <a:prstGeom prst="roundRect">
            <a:avLst>
              <a:gd fmla="val 12821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9"/>
          <p:cNvSpPr/>
          <p:nvPr/>
        </p:nvSpPr>
        <p:spPr>
          <a:xfrm>
            <a:off x="9448800" y="2952750"/>
            <a:ext cx="695325" cy="742950"/>
          </a:xfrm>
          <a:prstGeom prst="roundRect">
            <a:avLst>
              <a:gd fmla="val 13699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9"/>
          <p:cNvSpPr/>
          <p:nvPr/>
        </p:nvSpPr>
        <p:spPr>
          <a:xfrm>
            <a:off x="8496300" y="3143250"/>
            <a:ext cx="7810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9544050" y="3124200"/>
            <a:ext cx="495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∅</a:t>
            </a:r>
            <a:endParaRPr/>
          </a:p>
        </p:txBody>
      </p:sp>
      <p:cxnSp>
        <p:nvCxnSpPr>
          <p:cNvPr id="452" name="Google Shape;452;p19"/>
          <p:cNvCxnSpPr/>
          <p:nvPr/>
        </p:nvCxnSpPr>
        <p:spPr>
          <a:xfrm>
            <a:off x="3429000" y="3324225"/>
            <a:ext cx="1143000" cy="0"/>
          </a:xfrm>
          <a:prstGeom prst="straightConnector1">
            <a:avLst/>
          </a:prstGeom>
          <a:noFill/>
          <a:ln cap="flat" cmpd="sng" w="4762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19"/>
          <p:cNvCxnSpPr/>
          <p:nvPr/>
        </p:nvCxnSpPr>
        <p:spPr>
          <a:xfrm>
            <a:off x="6858000" y="3324225"/>
            <a:ext cx="1143000" cy="0"/>
          </a:xfrm>
          <a:prstGeom prst="straightConnector1">
            <a:avLst/>
          </a:prstGeom>
          <a:noFill/>
          <a:ln cap="flat" cmpd="sng" w="4762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19"/>
          <p:cNvSpPr/>
          <p:nvPr/>
        </p:nvSpPr>
        <p:spPr>
          <a:xfrm>
            <a:off x="666750" y="4457700"/>
            <a:ext cx="10668000" cy="1162050"/>
          </a:xfrm>
          <a:prstGeom prst="roundRect">
            <a:avLst>
              <a:gd fmla="val 18033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9"/>
          <p:cNvSpPr/>
          <p:nvPr/>
        </p:nvSpPr>
        <p:spPr>
          <a:xfrm>
            <a:off x="1000125" y="4667250"/>
            <a:ext cx="97155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parejas: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Dibujen la nueva referencia que debe salir de 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25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Muestren el estado final de la lista después de retirar B.</a:t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666750" y="59055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Pista: A debe apuntar directamente al nodo que sigue después de B.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Ruta de la Unidad 2</a:t>
            </a: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14</a:t>
            </a: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468" name="Google Shape;468;p14"/>
          <p:cNvSpPr/>
          <p:nvPr/>
        </p:nvSpPr>
        <p:spPr>
          <a:xfrm>
            <a:off x="619125" y="2476500"/>
            <a:ext cx="1809750" cy="1524000"/>
          </a:xfrm>
          <a:prstGeom prst="roundRect">
            <a:avLst>
              <a:gd fmla="val 125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790575" y="2743200"/>
            <a:ext cx="1466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150"/>
              <a:buFont typeface="Helvetica Neue"/>
              <a:buNone/>
            </a:pPr>
            <a:r>
              <a:rPr b="1" lang="en-US" sz="11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Semana 6</a:t>
            </a:r>
            <a:endParaRPr/>
          </a:p>
        </p:txBody>
      </p:sp>
      <p:sp>
        <p:nvSpPr>
          <p:cNvPr id="470" name="Google Shape;470;p14"/>
          <p:cNvSpPr/>
          <p:nvPr/>
        </p:nvSpPr>
        <p:spPr>
          <a:xfrm>
            <a:off x="809625" y="3238500"/>
            <a:ext cx="1428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187"/>
              <a:buFont typeface="Helvetica Neue"/>
              <a:buNone/>
            </a:pPr>
            <a:r>
              <a:rPr b="0" lang="en-US" sz="1187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Memoria dinámica y listas simples</a:t>
            </a:r>
            <a:endParaRPr/>
          </a:p>
        </p:txBody>
      </p:sp>
      <p:cxnSp>
        <p:nvCxnSpPr>
          <p:cNvPr id="471" name="Google Shape;471;p14"/>
          <p:cNvCxnSpPr/>
          <p:nvPr/>
        </p:nvCxnSpPr>
        <p:spPr>
          <a:xfrm>
            <a:off x="2447925" y="3238500"/>
            <a:ext cx="304800" cy="0"/>
          </a:xfrm>
          <a:prstGeom prst="straightConnector1">
            <a:avLst/>
          </a:prstGeom>
          <a:noFill/>
          <a:ln cap="flat" cmpd="sng" w="2857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14"/>
          <p:cNvSpPr/>
          <p:nvPr/>
        </p:nvSpPr>
        <p:spPr>
          <a:xfrm>
            <a:off x="2857500" y="2476500"/>
            <a:ext cx="1809750" cy="1524000"/>
          </a:xfrm>
          <a:prstGeom prst="roundRect">
            <a:avLst>
              <a:gd fmla="val 125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3028950" y="2743200"/>
            <a:ext cx="1466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150"/>
              <a:buFont typeface="Helvetica Neue"/>
              <a:buNone/>
            </a:pPr>
            <a:r>
              <a:rPr b="1" lang="en-US" sz="11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Semana 7</a:t>
            </a:r>
            <a:endParaRPr/>
          </a:p>
        </p:txBody>
      </p:sp>
      <p:sp>
        <p:nvSpPr>
          <p:cNvPr id="474" name="Google Shape;474;p14"/>
          <p:cNvSpPr/>
          <p:nvPr/>
        </p:nvSpPr>
        <p:spPr>
          <a:xfrm>
            <a:off x="3048000" y="3238500"/>
            <a:ext cx="1428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275"/>
              <a:buFont typeface="Helvetica Neue"/>
              <a:buNone/>
            </a:pPr>
            <a:r>
              <a:rPr b="0" lang="en-US" sz="1275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Listas dobles y circulares</a:t>
            </a:r>
            <a:endParaRPr/>
          </a:p>
        </p:txBody>
      </p:sp>
      <p:cxnSp>
        <p:nvCxnSpPr>
          <p:cNvPr id="475" name="Google Shape;475;p14"/>
          <p:cNvCxnSpPr/>
          <p:nvPr/>
        </p:nvCxnSpPr>
        <p:spPr>
          <a:xfrm>
            <a:off x="4686300" y="3238500"/>
            <a:ext cx="304800" cy="0"/>
          </a:xfrm>
          <a:prstGeom prst="straightConnector1">
            <a:avLst/>
          </a:prstGeom>
          <a:noFill/>
          <a:ln cap="flat" cmpd="sng" w="2857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6" name="Google Shape;476;p14"/>
          <p:cNvSpPr/>
          <p:nvPr/>
        </p:nvSpPr>
        <p:spPr>
          <a:xfrm>
            <a:off x="5095875" y="2476500"/>
            <a:ext cx="1809750" cy="1524000"/>
          </a:xfrm>
          <a:prstGeom prst="roundRect">
            <a:avLst>
              <a:gd fmla="val 125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5267325" y="2743200"/>
            <a:ext cx="1466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150"/>
              <a:buFont typeface="Helvetica Neue"/>
              <a:buNone/>
            </a:pPr>
            <a:r>
              <a:rPr b="1" lang="en-US" sz="11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Semana 8</a:t>
            </a:r>
            <a:endParaRPr/>
          </a:p>
        </p:txBody>
      </p:sp>
      <p:sp>
        <p:nvSpPr>
          <p:cNvPr id="478" name="Google Shape;478;p14"/>
          <p:cNvSpPr/>
          <p:nvPr/>
        </p:nvSpPr>
        <p:spPr>
          <a:xfrm>
            <a:off x="5286375" y="3238500"/>
            <a:ext cx="1428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275"/>
              <a:buFont typeface="Helvetica Neue"/>
              <a:buNone/>
            </a:pPr>
            <a:r>
              <a:rPr b="0" lang="en-US" sz="1275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Pilas y aplicaciones</a:t>
            </a:r>
            <a:endParaRPr/>
          </a:p>
        </p:txBody>
      </p:sp>
      <p:cxnSp>
        <p:nvCxnSpPr>
          <p:cNvPr id="479" name="Google Shape;479;p14"/>
          <p:cNvCxnSpPr/>
          <p:nvPr/>
        </p:nvCxnSpPr>
        <p:spPr>
          <a:xfrm>
            <a:off x="6924675" y="3238500"/>
            <a:ext cx="304800" cy="0"/>
          </a:xfrm>
          <a:prstGeom prst="straightConnector1">
            <a:avLst/>
          </a:prstGeom>
          <a:noFill/>
          <a:ln cap="flat" cmpd="sng" w="2857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14"/>
          <p:cNvSpPr/>
          <p:nvPr/>
        </p:nvSpPr>
        <p:spPr>
          <a:xfrm>
            <a:off x="7334250" y="2476500"/>
            <a:ext cx="1809750" cy="1524000"/>
          </a:xfrm>
          <a:prstGeom prst="roundRect">
            <a:avLst>
              <a:gd fmla="val 12500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7505700" y="2743200"/>
            <a:ext cx="1466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150"/>
              <a:buFont typeface="Helvetica Neue"/>
              <a:buNone/>
            </a:pPr>
            <a:r>
              <a:rPr b="1" lang="en-US" sz="11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Semana 9</a:t>
            </a:r>
            <a:endParaRPr/>
          </a:p>
        </p:txBody>
      </p:sp>
      <p:sp>
        <p:nvSpPr>
          <p:cNvPr id="482" name="Google Shape;482;p14"/>
          <p:cNvSpPr/>
          <p:nvPr/>
        </p:nvSpPr>
        <p:spPr>
          <a:xfrm>
            <a:off x="7524750" y="3238500"/>
            <a:ext cx="1428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275"/>
              <a:buFont typeface="Helvetica Neue"/>
              <a:buNone/>
            </a:pPr>
            <a:r>
              <a:rPr b="0" lang="en-US" sz="1275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Colas y colas de prioridad</a:t>
            </a:r>
            <a:endParaRPr/>
          </a:p>
        </p:txBody>
      </p:sp>
      <p:cxnSp>
        <p:nvCxnSpPr>
          <p:cNvPr id="483" name="Google Shape;483;p14"/>
          <p:cNvCxnSpPr/>
          <p:nvPr/>
        </p:nvCxnSpPr>
        <p:spPr>
          <a:xfrm>
            <a:off x="9163050" y="3238500"/>
            <a:ext cx="304800" cy="0"/>
          </a:xfrm>
          <a:prstGeom prst="straightConnector1">
            <a:avLst/>
          </a:prstGeom>
          <a:noFill/>
          <a:ln cap="flat" cmpd="sng" w="28575">
            <a:solidFill>
              <a:srgbClr val="E8A0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4" name="Google Shape;484;p14"/>
          <p:cNvSpPr/>
          <p:nvPr/>
        </p:nvSpPr>
        <p:spPr>
          <a:xfrm>
            <a:off x="9572625" y="2476500"/>
            <a:ext cx="1809750" cy="1524000"/>
          </a:xfrm>
          <a:prstGeom prst="roundRect">
            <a:avLst>
              <a:gd fmla="val 12500" name="adj"/>
            </a:avLst>
          </a:prstGeom>
          <a:solidFill>
            <a:srgbClr val="FFF8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9744075" y="2743200"/>
            <a:ext cx="1466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150"/>
              <a:buFont typeface="Helvetica Neue"/>
              <a:buNone/>
            </a:pPr>
            <a:r>
              <a:rPr b="1" lang="en-US" sz="11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Semana 10</a:t>
            </a:r>
            <a:endParaRPr/>
          </a:p>
        </p:txBody>
      </p:sp>
      <p:sp>
        <p:nvSpPr>
          <p:cNvPr id="486" name="Google Shape;486;p14"/>
          <p:cNvSpPr/>
          <p:nvPr/>
        </p:nvSpPr>
        <p:spPr>
          <a:xfrm>
            <a:off x="9763125" y="3238500"/>
            <a:ext cx="14287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945"/>
              <a:buFont typeface="Helvetica Neue"/>
              <a:buNone/>
            </a:pPr>
            <a:r>
              <a:rPr b="0" lang="en-US" sz="946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Integración y evaluación de la unidad</a:t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1524000" y="485775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325"/>
              <a:buFont typeface="Helvetica Neue"/>
              <a:buNone/>
            </a:pPr>
            <a:r>
              <a:rPr b="1" lang="en-US" sz="1326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Cada tema retoma la misma pregunta: ¿cómo organizar datos para operar sobre ellos con claridad y eficiencia?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45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666750" y="400050"/>
            <a:ext cx="9429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550"/>
              <a:buFont typeface="Helvetica Neue"/>
              <a:buNone/>
            </a:pPr>
            <a:r>
              <a:rPr b="1" lang="en-US" sz="255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Actividad de cierre</a:t>
            </a: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666750" y="1057275"/>
            <a:ext cx="952500" cy="47625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10763250" y="466725"/>
            <a:ext cx="809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824"/>
              <a:buFont typeface="Helvetica Neue"/>
              <a:buNone/>
            </a:pPr>
            <a:r>
              <a:rPr b="1" lang="en-US" sz="825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SD1004  ·  15</a:t>
            </a: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666750" y="6477000"/>
            <a:ext cx="7143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650"/>
              <a:buFont typeface="Helvetica Neue"/>
              <a:buNone/>
            </a:pPr>
            <a:r>
              <a:rPr b="0" lang="en-US" sz="650">
                <a:solidFill>
                  <a:srgbClr val="4A5568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Estructura de Datos · Institución Universitaria Pascual Bravo</a:t>
            </a: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666750" y="1381125"/>
            <a:ext cx="88582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1599"/>
              <a:buFont typeface="Helvetica Neue"/>
              <a:buNone/>
            </a:pPr>
            <a:r>
              <a:rPr b="1" lang="en-US" sz="1600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Situación: una cafetería recibe pedidos. Cada pedido llega, se prepara y luego se entrega.</a:t>
            </a: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666750" y="2428875"/>
            <a:ext cx="10572750" cy="2095500"/>
          </a:xfrm>
          <a:prstGeom prst="roundRect">
            <a:avLst>
              <a:gd fmla="val 10909" name="adj"/>
            </a:avLst>
          </a:prstGeom>
          <a:solidFill>
            <a:srgbClr val="E8F5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1000125" y="2781300"/>
            <a:ext cx="9620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025"/>
              <a:buFont typeface="Helvetica Neue"/>
              <a:buNone/>
            </a:pPr>
            <a:r>
              <a:rPr b="1" lang="en-US" sz="2025">
                <a:solidFill>
                  <a:srgbClr val="0E452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En parejas, respondan:</a:t>
            </a: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1190625" y="3429000"/>
            <a:ext cx="92392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08"/>
              <a:buFont typeface="Helvetica Neue"/>
              <a:buNone/>
            </a:pPr>
            <a:r>
              <a:rPr b="0" lang="en-US" sz="1508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¿Qué estructura representa mejor el orden de preparación?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08"/>
              <a:buFont typeface="Helvetica Neue"/>
              <a:buNone/>
            </a:pPr>
            <a:r>
              <a:rPr b="0" lang="en-US" sz="1508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¿Qué regla cambiaría si hubiera pedidos prioritarios?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723"/>
              </a:buClr>
              <a:buSzPts val="1508"/>
              <a:buFont typeface="Helvetica Neue"/>
              <a:buNone/>
            </a:pPr>
            <a:r>
              <a:rPr b="0" lang="en-US" sz="1508">
                <a:solidFill>
                  <a:srgbClr val="1A272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¿Qué operación ocurre cuando entra un nuevo pedido?</a:t>
            </a: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666750" y="5286375"/>
            <a:ext cx="105727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4525"/>
              </a:buClr>
              <a:buSzPts val="2025"/>
              <a:buFont typeface="Helvetica Neue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